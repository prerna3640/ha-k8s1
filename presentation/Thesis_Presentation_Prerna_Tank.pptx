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61" r:id="rId1"/>
  </p:sldMasterIdLst>
  <p:notesMasterIdLst>
    <p:notesMasterId r:id="rId25"/>
  </p:notesMasterIdLst>
  <p:handoutMasterIdLst>
    <p:handoutMasterId r:id="rId26"/>
  </p:handoutMasterIdLst>
  <p:sldIdLst>
    <p:sldId id="256" r:id="rId2"/>
    <p:sldId id="257" r:id="rId3"/>
    <p:sldId id="280" r:id="rId4"/>
    <p:sldId id="258" r:id="rId5"/>
    <p:sldId id="259" r:id="rId6"/>
    <p:sldId id="260" r:id="rId7"/>
    <p:sldId id="261" r:id="rId8"/>
    <p:sldId id="262" r:id="rId9"/>
    <p:sldId id="263" r:id="rId10"/>
    <p:sldId id="265" r:id="rId11"/>
    <p:sldId id="266" r:id="rId12"/>
    <p:sldId id="267" r:id="rId13"/>
    <p:sldId id="268" r:id="rId14"/>
    <p:sldId id="278" r:id="rId15"/>
    <p:sldId id="279" r:id="rId16"/>
    <p:sldId id="271" r:id="rId17"/>
    <p:sldId id="272" r:id="rId18"/>
    <p:sldId id="273" r:id="rId19"/>
    <p:sldId id="277" r:id="rId20"/>
    <p:sldId id="274" r:id="rId21"/>
    <p:sldId id="281" r:id="rId22"/>
    <p:sldId id="275" r:id="rId23"/>
    <p:sldId id="276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114" y="4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1A66B98-CAC4-5859-DF2B-0CBE8586D0E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53CF96C-E25B-4DA9-C705-9AFC6EDF62A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EC35B4-04CC-4DDC-AC56-D52DBF0BADDD}" type="datetimeFigureOut">
              <a:rPr lang="en-IN" smtClean="0"/>
              <a:t>15-05-2026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D4AE6F-275A-1B42-B130-5368E0983F9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3E4AC8-FD26-959A-050B-DCEAEFDA15D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719D3D-376C-49A3-B555-A6C42B0C62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097045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B426CB-482C-47E8-A90C-1A4DB5C06BE3}" type="datetimeFigureOut">
              <a:rPr lang="en-IN" smtClean="0"/>
              <a:t>15-05-2026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784F89-3989-42DE-97A1-41CBB5A028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744860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C47C8-D743-4614-96A8-2E08B890DC33}" type="datetime1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31420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14E53-91EB-4382-93FE-0D299227C900}" type="datetime1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13872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F591DAA4-BF08-432E-A097-78FACDABB665}" type="datetime1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96945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D826D4-F9F7-4776-8467-CA4FBD4663A2}" type="datetime1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2393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690DDC-F306-45A2-B4C5-52015C6F4D8D}" type="datetime1">
              <a:rPr lang="en-US" smtClean="0"/>
              <a:t>5/15/2026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99313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D3EDAE-8920-43A6-867C-5A158C998032}" type="datetime1">
              <a:rPr lang="en-US" smtClean="0"/>
              <a:t>5/15/2026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40674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24F8D5-C521-4228-A9E6-D607F375DC14}" type="datetime1">
              <a:rPr lang="en-US" smtClean="0"/>
              <a:t>5/15/2026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42246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A7581C-1D25-4646-89D6-E5106F9524A3}" type="datetime1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31101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A76AC5-0578-47F0-8B65-611A321C5499}" type="datetime1">
              <a:rPr lang="en-US" smtClean="0"/>
              <a:t>5/15/2026</a:t>
            </a:fld>
            <a:endParaRPr lang="en-US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02160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3A741C-3084-472C-94AF-71A958B643E2}" type="datetime1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18631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F9EF34-36DB-4569-A9B9-23CE15847B71}" type="datetime1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52424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BE110B75-A95C-4831-A83C-62595F014691}" type="datetime1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02054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2" r:id="rId1"/>
    <p:sldLayoutId id="2147483763" r:id="rId2"/>
    <p:sldLayoutId id="2147483764" r:id="rId3"/>
    <p:sldLayoutId id="2147483765" r:id="rId4"/>
    <p:sldLayoutId id="2147483766" r:id="rId5"/>
    <p:sldLayoutId id="2147483767" r:id="rId6"/>
    <p:sldLayoutId id="2147483768" r:id="rId7"/>
    <p:sldLayoutId id="2147483769" r:id="rId8"/>
    <p:sldLayoutId id="2147483770" r:id="rId9"/>
    <p:sldLayoutId id="2147483771" r:id="rId10"/>
    <p:sldLayoutId id="2147483772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52336" y="1113556"/>
            <a:ext cx="1127729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School of Computer Science and Information Technology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52336" y="2237940"/>
            <a:ext cx="1127729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Devi Ahilya Vishwavidyalaya, Indore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7024" y="3270939"/>
            <a:ext cx="1127729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INTELLIGENT AUTO-SCALING IN KUBERNETES: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2112" y="3801291"/>
            <a:ext cx="1127729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Machine Learning Based Predictive Approach</a:t>
            </a:r>
          </a:p>
        </p:txBody>
      </p:sp>
      <p:sp>
        <p:nvSpPr>
          <p:cNvPr id="7" name="Rectangle 6"/>
          <p:cNvSpPr/>
          <p:nvPr/>
        </p:nvSpPr>
        <p:spPr>
          <a:xfrm>
            <a:off x="5392443" y="4565868"/>
            <a:ext cx="868680" cy="457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58536" y="5230568"/>
            <a:ext cx="32004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 Name: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536" y="5569589"/>
            <a:ext cx="349232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Shraddha Masih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73055" y="5234774"/>
            <a:ext cx="34747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1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88184" y="5538812"/>
            <a:ext cx="34747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800" b="1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Prerna Tank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41858" y="5956240"/>
            <a:ext cx="34747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0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M.Tech</a:t>
            </a:r>
            <a:r>
              <a:rPr sz="2000"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(CS)  |  2410512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" y="6537960"/>
            <a:ext cx="11825935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Intelligent Auto-Scaling in Kubernetes: A Machine Learning Based Predictive Approach  |  Prerna Tank (2410512)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819244B-9C37-30EF-3BDB-DF15FD3394B3}"/>
              </a:ext>
            </a:extLst>
          </p:cNvPr>
          <p:cNvSpPr/>
          <p:nvPr/>
        </p:nvSpPr>
        <p:spPr>
          <a:xfrm flipV="1">
            <a:off x="4840448" y="2794266"/>
            <a:ext cx="1994062" cy="10145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BE3BFF8A-F5AF-A5CB-24CD-2CEE191721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fld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9385" y="415041"/>
            <a:ext cx="1109441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" y="6537960"/>
            <a:ext cx="11825935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latin typeface="Times New Roman" panose="02020603050405020304" pitchFamily="18" charset="0"/>
                <a:cs typeface="Times New Roman" panose="02020603050405020304" pitchFamily="18" charset="0"/>
              </a:rPr>
              <a:t>Intelligent Auto-Scaling in Kubernetes: A Machine Learning Based Predictive Approach  |  Prerna Tank (2410512)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600200"/>
            <a:ext cx="5394960" cy="132588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04672" y="1691640"/>
            <a:ext cx="6400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1984248"/>
            <a:ext cx="506577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&amp; Solution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2276856"/>
            <a:ext cx="506577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Reactive HPA limitations and our predictive ML approach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1600200"/>
            <a:ext cx="5394960" cy="132588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473952" y="1691640"/>
            <a:ext cx="6400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73952" y="1984248"/>
            <a:ext cx="506577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 Research Contributions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73952" y="2276856"/>
            <a:ext cx="506577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latin typeface="Times New Roman" panose="02020603050405020304" pitchFamily="18" charset="0"/>
                <a:cs typeface="Times New Roman" panose="02020603050405020304" pitchFamily="18" charset="0"/>
              </a:rPr>
              <a:t>Multi-Metric LSTM, Drift Detection, Cost-Aware Scaling, Confidence Gate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090672"/>
            <a:ext cx="5394960" cy="132588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04672" y="3182112"/>
            <a:ext cx="6400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latin typeface="Times New Roman" panose="02020603050405020304" pitchFamily="18" charset="0"/>
                <a:cs typeface="Times New Roman" panose="02020603050405020304" pitchFamily="18" charset="0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3474720"/>
            <a:ext cx="506577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 &amp; DevOps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" y="3767328"/>
            <a:ext cx="506577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latin typeface="Times New Roman" panose="02020603050405020304" pitchFamily="18" charset="0"/>
                <a:cs typeface="Times New Roman" panose="02020603050405020304" pitchFamily="18" charset="0"/>
              </a:rPr>
              <a:t>CI/CD pipeline, GitOps with ArgoCD, 3-node Kubernetes cluster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3090672"/>
            <a:ext cx="5394960" cy="132588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473952" y="3182112"/>
            <a:ext cx="6400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latin typeface="Times New Roman" panose="02020603050405020304" pitchFamily="18" charset="0"/>
                <a:cs typeface="Times New Roman" panose="02020603050405020304" pitchFamily="18" charset="0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73952" y="3474720"/>
            <a:ext cx="506577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latin typeface="Times New Roman" panose="02020603050405020304" pitchFamily="18" charset="0"/>
                <a:cs typeface="Times New Roman" panose="02020603050405020304" pitchFamily="18" charset="0"/>
              </a:rPr>
              <a:t>Technical Deep Dives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73952" y="3767328"/>
            <a:ext cx="506577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latin typeface="Times New Roman" panose="02020603050405020304" pitchFamily="18" charset="0"/>
                <a:cs typeface="Times New Roman" panose="02020603050405020304" pitchFamily="18" charset="0"/>
              </a:rPr>
              <a:t>LSTM model, drift detection, cost tracking, confidence gating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4581144"/>
            <a:ext cx="5394960" cy="132588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04672" y="4672584"/>
            <a:ext cx="6400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latin typeface="Times New Roman" panose="02020603050405020304" pitchFamily="18" charset="0"/>
                <a:cs typeface="Times New Roman" panose="02020603050405020304" pitchFamily="18" charset="0"/>
              </a:rP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2" y="4965192"/>
            <a:ext cx="506577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latin typeface="Times New Roman" panose="02020603050405020304" pitchFamily="18" charset="0"/>
                <a:cs typeface="Times New Roman" panose="02020603050405020304" pitchFamily="18" charset="0"/>
              </a:rPr>
              <a:t>Testing &amp; Results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" y="5257800"/>
            <a:ext cx="506577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latin typeface="Times New Roman" panose="02020603050405020304" pitchFamily="18" charset="0"/>
                <a:cs typeface="Times New Roman" panose="02020603050405020304" pitchFamily="18" charset="0"/>
              </a:rPr>
              <a:t>21 unit tests, experimental comparison, related work gap analysis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09360" y="4581144"/>
            <a:ext cx="5394960" cy="132588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473952" y="4672584"/>
            <a:ext cx="6400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latin typeface="Times New Roman" panose="02020603050405020304" pitchFamily="18" charset="0"/>
                <a:cs typeface="Times New Roman" panose="02020603050405020304" pitchFamily="18" charset="0"/>
              </a:rPr>
              <a:t>06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73952" y="4965192"/>
            <a:ext cx="506577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&amp; Future Work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73952" y="5257800"/>
            <a:ext cx="506577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latin typeface="Times New Roman" panose="02020603050405020304" pitchFamily="18" charset="0"/>
                <a:cs typeface="Times New Roman" panose="02020603050405020304" pitchFamily="18" charset="0"/>
              </a:rPr>
              <a:t>Key findings, live demo, and future research directions</a:t>
            </a:r>
          </a:p>
        </p:txBody>
      </p:sp>
      <p:sp>
        <p:nvSpPr>
          <p:cNvPr id="28" name="Slide Number Placeholder 27">
            <a:extLst>
              <a:ext uri="{FF2B5EF4-FFF2-40B4-BE49-F238E27FC236}">
                <a16:creationId xmlns:a16="http://schemas.microsoft.com/office/drawing/2014/main" id="{867A74FB-02AC-8EFB-F19C-2761F6F852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fld>
            <a:endParaRPr lang="en-US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7A5DCF8-59FE-AFEF-C8AF-8EDAB0DD51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</a:t>
            </a:fld>
            <a:endParaRPr lang="en-US"/>
          </a:p>
        </p:txBody>
      </p:sp>
      <p:sp>
        <p:nvSpPr>
          <p:cNvPr id="3" name="Google Shape;103;p15">
            <a:extLst>
              <a:ext uri="{FF2B5EF4-FFF2-40B4-BE49-F238E27FC236}">
                <a16:creationId xmlns:a16="http://schemas.microsoft.com/office/drawing/2014/main" id="{DDB26E49-7368-6891-9BC7-CD9D97D697A3}"/>
              </a:ext>
            </a:extLst>
          </p:cNvPr>
          <p:cNvSpPr txBox="1">
            <a:spLocks/>
          </p:cNvSpPr>
          <p:nvPr/>
        </p:nvSpPr>
        <p:spPr>
          <a:xfrm>
            <a:off x="553299" y="462675"/>
            <a:ext cx="8756955" cy="79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spcBef>
                <a:spcPts val="0"/>
              </a:spcBef>
              <a:buSzPts val="990"/>
            </a:pPr>
            <a:r>
              <a:rPr lang="en-GB" sz="3600" b="1" dirty="0">
                <a:latin typeface="Times New Roman"/>
                <a:ea typeface="Times New Roman"/>
                <a:cs typeface="Times New Roman"/>
                <a:sym typeface="Times New Roman"/>
              </a:rPr>
              <a:t>     </a:t>
            </a:r>
            <a:r>
              <a:rPr lang="en-GB" sz="4000" b="1" dirty="0"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r>
              <a:rPr lang="en-GB" sz="3600" b="1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</a:p>
        </p:txBody>
      </p:sp>
      <p:sp>
        <p:nvSpPr>
          <p:cNvPr id="4" name="Google Shape;104;p15">
            <a:extLst>
              <a:ext uri="{FF2B5EF4-FFF2-40B4-BE49-F238E27FC236}">
                <a16:creationId xmlns:a16="http://schemas.microsoft.com/office/drawing/2014/main" id="{9EF83A7C-3EC8-FB94-0CD9-9549C7D7DA9C}"/>
              </a:ext>
            </a:extLst>
          </p:cNvPr>
          <p:cNvSpPr txBox="1">
            <a:spLocks/>
          </p:cNvSpPr>
          <p:nvPr/>
        </p:nvSpPr>
        <p:spPr>
          <a:xfrm>
            <a:off x="553299" y="1143775"/>
            <a:ext cx="9431209" cy="537709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br>
              <a:rPr lang="en-GB" sz="2000" dirty="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GB" sz="1800" b="1" dirty="0">
                <a:latin typeface="Times New Roman"/>
                <a:ea typeface="Times New Roman"/>
                <a:cs typeface="Times New Roman"/>
                <a:sym typeface="Times New Roman"/>
              </a:rPr>
              <a:t>WHAT IS KUBERNETES AUTO-SCALING?</a:t>
            </a:r>
            <a:br>
              <a:rPr lang="en-GB" sz="2000" dirty="0"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GB" sz="2000" dirty="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GB" sz="2000" dirty="0">
                <a:latin typeface="Times New Roman"/>
                <a:ea typeface="Times New Roman"/>
                <a:cs typeface="Times New Roman"/>
                <a:sym typeface="Times New Roman"/>
              </a:rPr>
              <a:t>- </a:t>
            </a:r>
            <a:r>
              <a:rPr lang="en-GB" sz="1800" dirty="0">
                <a:latin typeface="Times New Roman"/>
                <a:ea typeface="Times New Roman"/>
                <a:cs typeface="Times New Roman"/>
                <a:sym typeface="Times New Roman"/>
              </a:rPr>
              <a:t>Automatically adjusts application replicas based on load </a:t>
            </a:r>
          </a:p>
          <a:p>
            <a:pPr marL="0" indent="0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GB" sz="1800" dirty="0">
                <a:latin typeface="Times New Roman"/>
                <a:ea typeface="Times New Roman"/>
                <a:cs typeface="Times New Roman"/>
                <a:sym typeface="Times New Roman"/>
              </a:rPr>
              <a:t>- Ensures high availability during traffic spikes </a:t>
            </a:r>
          </a:p>
          <a:p>
            <a:pPr marL="0" indent="0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GB" sz="1800" dirty="0">
                <a:latin typeface="Times New Roman"/>
                <a:ea typeface="Times New Roman"/>
                <a:cs typeface="Times New Roman"/>
                <a:sym typeface="Times New Roman"/>
              </a:rPr>
              <a:t>- Optimizes resource utilization and cost</a:t>
            </a:r>
            <a:br>
              <a:rPr lang="en-GB" sz="2000" dirty="0"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GB" sz="2000" dirty="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GB" sz="1800" b="1" dirty="0">
                <a:latin typeface="Times New Roman"/>
                <a:ea typeface="Times New Roman"/>
                <a:cs typeface="Times New Roman"/>
                <a:sym typeface="Times New Roman"/>
              </a:rPr>
              <a:t>CURRENT LIMITATIONS:  </a:t>
            </a:r>
            <a:br>
              <a:rPr lang="en-GB" sz="2000" dirty="0"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GB" sz="2000" dirty="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GB" sz="1800" b="1" dirty="0">
                <a:latin typeface="Times New Roman"/>
                <a:ea typeface="Times New Roman"/>
                <a:cs typeface="Times New Roman"/>
                <a:sym typeface="Times New Roman"/>
              </a:rPr>
              <a:t>REACTIVE</a:t>
            </a:r>
            <a:r>
              <a:rPr lang="en-GB" sz="2000" dirty="0">
                <a:latin typeface="Times New Roman"/>
                <a:ea typeface="Times New Roman"/>
                <a:cs typeface="Times New Roman"/>
                <a:sym typeface="Times New Roman"/>
              </a:rPr>
              <a:t> Scaling </a:t>
            </a:r>
            <a:br>
              <a:rPr lang="en-GB" sz="2000" dirty="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GB" sz="1800" dirty="0">
                <a:latin typeface="Times New Roman"/>
                <a:ea typeface="Times New Roman"/>
                <a:cs typeface="Times New Roman"/>
                <a:sym typeface="Times New Roman"/>
              </a:rPr>
              <a:t>→ Waits for metrics to cross threshold </a:t>
            </a:r>
            <a:br>
              <a:rPr lang="en-GB" sz="1800" dirty="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GB" sz="1800" dirty="0">
                <a:latin typeface="Times New Roman"/>
                <a:ea typeface="Times New Roman"/>
                <a:cs typeface="Times New Roman"/>
                <a:sym typeface="Times New Roman"/>
              </a:rPr>
              <a:t>→ Scaling happens AFTER load increases  </a:t>
            </a:r>
            <a:br>
              <a:rPr lang="en-GB" sz="1800" dirty="0"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GB" sz="2000" dirty="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GB" sz="2000" dirty="0">
                <a:latin typeface="Times New Roman"/>
                <a:ea typeface="Times New Roman"/>
                <a:cs typeface="Times New Roman"/>
                <a:sym typeface="Times New Roman"/>
              </a:rPr>
              <a:t>Performance Degradation </a:t>
            </a:r>
            <a:br>
              <a:rPr lang="en-GB" sz="2000" dirty="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GB" sz="1800" dirty="0">
                <a:latin typeface="Times New Roman"/>
                <a:ea typeface="Times New Roman"/>
                <a:cs typeface="Times New Roman"/>
                <a:sym typeface="Times New Roman"/>
              </a:rPr>
              <a:t>→ Users experience latency during scale-up</a:t>
            </a:r>
            <a:br>
              <a:rPr lang="en-GB" sz="2000" dirty="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GB" sz="20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br>
              <a:rPr lang="en-GB" sz="2000" dirty="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GB" sz="2000" dirty="0">
                <a:latin typeface="Times New Roman"/>
                <a:ea typeface="Times New Roman"/>
                <a:cs typeface="Times New Roman"/>
                <a:sym typeface="Times New Roman"/>
              </a:rPr>
              <a:t>Resource Wastage </a:t>
            </a:r>
            <a:br>
              <a:rPr lang="en-GB" sz="2000" dirty="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GB" sz="1800" dirty="0">
                <a:latin typeface="Times New Roman"/>
                <a:ea typeface="Times New Roman"/>
                <a:cs typeface="Times New Roman"/>
                <a:sym typeface="Times New Roman"/>
              </a:rPr>
              <a:t>→ Over-provisioning to compensate for lag </a:t>
            </a:r>
            <a:br>
              <a:rPr lang="en-GB" sz="1800" dirty="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GB" sz="1800" dirty="0">
                <a:latin typeface="Times New Roman"/>
                <a:ea typeface="Times New Roman"/>
                <a:cs typeface="Times New Roman"/>
                <a:sym typeface="Times New Roman"/>
              </a:rPr>
              <a:t>→ 20-30% cost inefficiency</a:t>
            </a:r>
            <a:endParaRPr lang="en-GB" sz="20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" name="Google Shape;105;p15">
            <a:extLst>
              <a:ext uri="{FF2B5EF4-FFF2-40B4-BE49-F238E27FC236}">
                <a16:creationId xmlns:a16="http://schemas.microsoft.com/office/drawing/2014/main" id="{912D9965-083C-EBCF-9E53-5C128A8A20F8}"/>
              </a:ext>
            </a:extLst>
          </p:cNvPr>
          <p:cNvSpPr txBox="1"/>
          <p:nvPr/>
        </p:nvSpPr>
        <p:spPr>
          <a:xfrm>
            <a:off x="8703668" y="4183663"/>
            <a:ext cx="3141000" cy="1908600"/>
          </a:xfrm>
          <a:prstGeom prst="rect">
            <a:avLst/>
          </a:prstGeom>
          <a:solidFill>
            <a:schemeClr val="bg2"/>
          </a:solidFill>
          <a:ln w="9525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Times New Roman"/>
                <a:ea typeface="Times New Roman"/>
                <a:cs typeface="Times New Roman"/>
                <a:sym typeface="Times New Roman"/>
              </a:rPr>
              <a:t>OUR GOAL:</a:t>
            </a:r>
            <a:br>
              <a:rPr lang="en-GB" sz="16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GB" sz="1600">
                <a:latin typeface="Times New Roman"/>
                <a:ea typeface="Times New Roman"/>
                <a:cs typeface="Times New Roman"/>
                <a:sym typeface="Times New Roman"/>
              </a:rPr>
              <a:t>PROACTIVE Scaling using 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Times New Roman"/>
                <a:ea typeface="Times New Roman"/>
                <a:cs typeface="Times New Roman"/>
                <a:sym typeface="Times New Roman"/>
              </a:rPr>
              <a:t>Machine Learning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GB" sz="1600">
                <a:latin typeface="Times New Roman"/>
                <a:ea typeface="Times New Roman"/>
                <a:cs typeface="Times New Roman"/>
                <a:sym typeface="Times New Roman"/>
              </a:rPr>
              <a:t>Predict load BEFORE it happens Scale up in advance</a:t>
            </a:r>
            <a:br>
              <a:rPr lang="en-GB" sz="16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" name="Google Shape;107;p15">
            <a:extLst>
              <a:ext uri="{FF2B5EF4-FFF2-40B4-BE49-F238E27FC236}">
                <a16:creationId xmlns:a16="http://schemas.microsoft.com/office/drawing/2014/main" id="{8562D21B-217B-984E-48FD-3A7C78A1FEB0}"/>
              </a:ext>
            </a:extLst>
          </p:cNvPr>
          <p:cNvSpPr txBox="1">
            <a:spLocks/>
          </p:cNvSpPr>
          <p:nvPr/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ctr" anchorCtr="0">
            <a:normAutofit/>
          </a:bodyPr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C0DBC64-5B13-18AA-745F-438153777BEF}"/>
              </a:ext>
            </a:extLst>
          </p:cNvPr>
          <p:cNvSpPr txBox="1"/>
          <p:nvPr/>
        </p:nvSpPr>
        <p:spPr>
          <a:xfrm>
            <a:off x="260765" y="6395325"/>
            <a:ext cx="801541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200" b="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Intelligent Auto-Scaling in Kubernetes: A Machine Learning Based Predictive Approach  |  Prerna Tank (2410512</a:t>
            </a:r>
            <a:r>
              <a:rPr lang="en-US" sz="2000" b="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8489163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502920"/>
            <a:ext cx="1109441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39" y="1625177"/>
            <a:ext cx="1109441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Kubernetes Horizontal Pod </a:t>
            </a:r>
            <a:r>
              <a:rPr sz="2800" b="0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Autoscaler</a:t>
            </a:r>
            <a:r>
              <a:rPr sz="2800"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fundamentally reactive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6537960"/>
            <a:ext cx="1182593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latin typeface="Times New Roman" panose="02020603050405020304" pitchFamily="18" charset="0"/>
                <a:cs typeface="Times New Roman" panose="02020603050405020304" pitchFamily="18" charset="0"/>
              </a:rPr>
              <a:t>Intelligent Auto-Scaling in Kubernetes: A Machine Learning Based Predictive Approach  |  Prerna Tank (2410512)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2873164"/>
            <a:ext cx="2560320" cy="9144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02920" y="2894151"/>
            <a:ext cx="256032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~120s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5864" y="3478926"/>
            <a:ext cx="25603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latin typeface="Times New Roman" panose="02020603050405020304" pitchFamily="18" charset="0"/>
                <a:cs typeface="Times New Roman" panose="02020603050405020304" pitchFamily="18" charset="0"/>
              </a:rPr>
              <a:t>Scaling Delay</a:t>
            </a:r>
          </a:p>
        </p:txBody>
      </p:sp>
      <p:sp>
        <p:nvSpPr>
          <p:cNvPr id="8" name="Rectangle 7"/>
          <p:cNvSpPr/>
          <p:nvPr/>
        </p:nvSpPr>
        <p:spPr>
          <a:xfrm>
            <a:off x="3227832" y="2873164"/>
            <a:ext cx="2560320" cy="9144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325368" y="2861988"/>
            <a:ext cx="246278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27832" y="3468703"/>
            <a:ext cx="25603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latin typeface="Times New Roman" panose="02020603050405020304" pitchFamily="18" charset="0"/>
                <a:cs typeface="Times New Roman" panose="02020603050405020304" pitchFamily="18" charset="0"/>
              </a:rPr>
              <a:t>Violations During Spikes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52744" y="2873164"/>
            <a:ext cx="2560320" cy="9144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050280" y="2839542"/>
            <a:ext cx="256032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$$$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52744" y="3468703"/>
            <a:ext cx="25603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latin typeface="Times New Roman" panose="02020603050405020304" pitchFamily="18" charset="0"/>
                <a:cs typeface="Times New Roman" panose="02020603050405020304" pitchFamily="18" charset="0"/>
              </a:rPr>
              <a:t>Wasted Resources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677656" y="2873164"/>
            <a:ext cx="2560320" cy="9144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756072" y="2871023"/>
            <a:ext cx="247885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min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77656" y="3468703"/>
            <a:ext cx="25603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latin typeface="Times New Roman" panose="02020603050405020304" pitchFamily="18" charset="0"/>
                <a:cs typeface="Times New Roman" panose="02020603050405020304" pitchFamily="18" charset="0"/>
              </a:rPr>
              <a:t>User Impact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24256" y="4293108"/>
            <a:ext cx="3474720" cy="178308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48640" y="4313661"/>
            <a:ext cx="32004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Reactive, Not Proactive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775326"/>
            <a:ext cx="32004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HPA only acts AFTER CPU exceeds threshold. By then, users are already experiencing degraded performance.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70832" y="4313661"/>
            <a:ext cx="3474720" cy="178308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507992" y="4322964"/>
            <a:ext cx="32004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Cold Start Penalty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07992" y="4697709"/>
            <a:ext cx="32004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latin typeface="Times New Roman" panose="02020603050405020304" pitchFamily="18" charset="0"/>
                <a:cs typeface="Times New Roman" panose="02020603050405020304" pitchFamily="18" charset="0"/>
              </a:rPr>
              <a:t>New pods need time to pull images, start containers, and warm up. This adds 60-120 seconds of delay.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17408" y="4318275"/>
            <a:ext cx="3474720" cy="178308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8217408" y="4344438"/>
            <a:ext cx="32004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Over-Provisioning Waste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54568" y="4702323"/>
            <a:ext cx="32004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compensate, teams over-provision resources, leading to 30-50% wasted compute capacity.</a:t>
            </a:r>
          </a:p>
        </p:txBody>
      </p:sp>
      <p:sp>
        <p:nvSpPr>
          <p:cNvPr id="26" name="Slide Number Placeholder 25">
            <a:extLst>
              <a:ext uri="{FF2B5EF4-FFF2-40B4-BE49-F238E27FC236}">
                <a16:creationId xmlns:a16="http://schemas.microsoft.com/office/drawing/2014/main" id="{0A585024-4858-A049-252C-1E5911FEB9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fld>
            <a:endParaRPr lang="en-US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50672" y="366855"/>
            <a:ext cx="1109441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1336" y="1450330"/>
            <a:ext cx="1109441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Predictive Auto-Scaling using LSTM Neural Networks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6537960"/>
            <a:ext cx="1182593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Intelligent Auto-Scaling in Kubernetes: A Machine Learning Based Predictive Approach  |  Prerna Tank (2410512)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180544"/>
            <a:ext cx="53492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HPA (Reactive)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6361" y="3033573"/>
            <a:ext cx="534924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Monitors current CPU utilization only
• Scales AFTER threshold is breached
• ~120 second delay before new pods are ready
• Single metric (CPU) decision making
• No awareness of cost implications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46520" y="2184878"/>
            <a:ext cx="53492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Approach (Predictive)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86401" y="3031994"/>
            <a:ext cx="5554351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Forecasts CPU load 30 minutes ahead using LSTM
• Scales BEFORE load arrives (proactive)
• Zero scaling delay for predicted traffic spikes
• Multi-metric input (CPU + Memory + Network)
• Cost tracking for every scaling decision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746914" y="5720075"/>
            <a:ext cx="10410444" cy="64008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0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41336" y="5793039"/>
            <a:ext cx="101787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Predicted CPU(t+30min) = LSTM( CPU(t), Memory(t), Network(t) ) → Scale proactively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34C02260-0929-9E16-A9E6-9B2FE56A46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fld>
            <a:endParaRPr lang="en-US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36576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latin typeface="Times New Roman" panose="02020603050405020304" pitchFamily="18" charset="0"/>
                <a:cs typeface="Times New Roman" panose="02020603050405020304" pitchFamily="18" charset="0"/>
              </a:rPr>
              <a:t>Most Important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109441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 Unique Research Contributions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7311" y="1522268"/>
            <a:ext cx="1109441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 found together in any single prior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6537960"/>
            <a:ext cx="1182593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Intelligent Auto-Scaling in Kubernetes: A Machine Learning Based Predictive Approach  |  Prerna Tank (2410512)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594363"/>
            <a:ext cx="54864" cy="169164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03504" y="2594363"/>
            <a:ext cx="5248656" cy="169164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31520" y="2685803"/>
            <a:ext cx="49834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Contribution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886971"/>
            <a:ext cx="49834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Multi-Metric LSTM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4542" y="3351774"/>
            <a:ext cx="498348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CPU + Memory + Network I/O as input features instead of CPU alone. Network spikes precede CPU spikes by 1-2 intervals, enabling earlier prediction.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2594363"/>
            <a:ext cx="54864" cy="1691640"/>
          </a:xfrm>
          <a:prstGeom prst="rect">
            <a:avLst/>
          </a:prstGeom>
          <a:solidFill>
            <a:srgbClr val="FF9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6272784" y="2594363"/>
            <a:ext cx="5248656" cy="169164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400800" y="2685803"/>
            <a:ext cx="49834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latin typeface="Times New Roman" panose="02020603050405020304" pitchFamily="18" charset="0"/>
                <a:cs typeface="Times New Roman" panose="02020603050405020304" pitchFamily="18" charset="0"/>
              </a:rPr>
              <a:t>Contribution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886971"/>
            <a:ext cx="49834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latin typeface="Times New Roman" panose="02020603050405020304" pitchFamily="18" charset="0"/>
                <a:cs typeface="Times New Roman" panose="02020603050405020304" pitchFamily="18" charset="0"/>
              </a:rPr>
              <a:t>Drift Detection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258756"/>
            <a:ext cx="498348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Monitors prediction accuracy using sliding window MAPE. Triggers automatic model retraining when accuracy drops below threshold, preventing stale predictions.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468883"/>
            <a:ext cx="54864" cy="1691640"/>
          </a:xfrm>
          <a:prstGeom prst="rect">
            <a:avLst/>
          </a:prstGeom>
          <a:solidFill>
            <a:srgbClr val="69F0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603504" y="4468883"/>
            <a:ext cx="5248656" cy="169164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31520" y="4560323"/>
            <a:ext cx="49834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latin typeface="Times New Roman" panose="02020603050405020304" pitchFamily="18" charset="0"/>
                <a:cs typeface="Times New Roman" panose="02020603050405020304" pitchFamily="18" charset="0"/>
              </a:rPr>
              <a:t>Contribution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761491"/>
            <a:ext cx="49834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latin typeface="Times New Roman" panose="02020603050405020304" pitchFamily="18" charset="0"/>
                <a:cs typeface="Times New Roman" panose="02020603050405020304" pitchFamily="18" charset="0"/>
              </a:rPr>
              <a:t>Cost-Aware Scaling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221059"/>
            <a:ext cx="498348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Tracks dollar cost per scaling decision ($0.05/pod/hour). Records every scale event and calculates ROI, enabling cost-benefit analysis of ML predictions.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4468883"/>
            <a:ext cx="54864" cy="1691640"/>
          </a:xfrm>
          <a:prstGeom prst="rect">
            <a:avLst/>
          </a:prstGeom>
          <a:solidFill>
            <a:srgbClr val="F06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6272784" y="4468883"/>
            <a:ext cx="5248656" cy="169164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400800" y="4560323"/>
            <a:ext cx="49834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latin typeface="Times New Roman" panose="02020603050405020304" pitchFamily="18" charset="0"/>
                <a:cs typeface="Times New Roman" panose="02020603050405020304" pitchFamily="18" charset="0"/>
              </a:rPr>
              <a:t>Contribution 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4761491"/>
            <a:ext cx="49834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latin typeface="Times New Roman" panose="02020603050405020304" pitchFamily="18" charset="0"/>
                <a:cs typeface="Times New Roman" panose="02020603050405020304" pitchFamily="18" charset="0"/>
              </a:rPr>
              <a:t>Confidence-Gated Self-Healing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5221059"/>
            <a:ext cx="498348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prediction confidence drops below 70%, system falls back to traditional HPA. Safety net ensures uncertain ML predictions never cause wrong scaling.</a:t>
            </a:r>
          </a:p>
        </p:txBody>
      </p:sp>
      <p:sp>
        <p:nvSpPr>
          <p:cNvPr id="26" name="Slide Number Placeholder 25">
            <a:extLst>
              <a:ext uri="{FF2B5EF4-FFF2-40B4-BE49-F238E27FC236}">
                <a16:creationId xmlns:a16="http://schemas.microsoft.com/office/drawing/2014/main" id="{F95175DC-E7DF-D5FE-412B-65205610FC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fld>
            <a:endParaRPr lang="en-US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502920"/>
            <a:ext cx="1109441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" y="6537960"/>
            <a:ext cx="1182593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Intelligent Auto-Scaling in Kubernetes: A Machine Learning Based Predictive Approach  |  Prerna Tank (2410512)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2331720"/>
            <a:ext cx="1109441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latin typeface="Times New Roman" panose="02020603050405020304" pitchFamily="18" charset="0"/>
                <a:cs typeface="Times New Roman" panose="02020603050405020304" pitchFamily="18" charset="0"/>
              </a:rPr>
              <a:t>Predictive Scaling Loop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22095" y="2651760"/>
            <a:ext cx="228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Prometheus
Metrics Collection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08095" y="2816352"/>
            <a:ext cx="2011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709263" y="2651760"/>
            <a:ext cx="2286000" cy="594360"/>
          </a:xfrm>
          <a:prstGeom prst="rect">
            <a:avLst/>
          </a:prstGeom>
          <a:solidFill>
            <a:srgbClr val="1A1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3709263" y="2651760"/>
            <a:ext cx="228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latin typeface="Times New Roman" panose="02020603050405020304" pitchFamily="18" charset="0"/>
                <a:cs typeface="Times New Roman" panose="02020603050405020304" pitchFamily="18" charset="0"/>
              </a:rPr>
              <a:t>ML Predictor
LSTM Model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95263" y="2816352"/>
            <a:ext cx="2011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96431" y="2651760"/>
            <a:ext cx="2286000" cy="594360"/>
          </a:xfrm>
          <a:prstGeom prst="rect">
            <a:avLst/>
          </a:prstGeom>
          <a:solidFill>
            <a:srgbClr val="1A1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196431" y="2651760"/>
            <a:ext cx="228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latin typeface="Times New Roman" panose="02020603050405020304" pitchFamily="18" charset="0"/>
                <a:cs typeface="Times New Roman" panose="02020603050405020304" pitchFamily="18" charset="0"/>
              </a:rPr>
              <a:t>Predictive Scaler
Decision Engine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82431" y="2816352"/>
            <a:ext cx="2011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83599" y="2651760"/>
            <a:ext cx="228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K8s AI
Scale Replicas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407408" y="3611880"/>
            <a:ext cx="3474720" cy="1143000"/>
          </a:xfrm>
          <a:prstGeom prst="rect">
            <a:avLst/>
          </a:prstGeom>
          <a:solidFill>
            <a:srgbClr val="161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4544568" y="3703320"/>
            <a:ext cx="32004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latin typeface="Times New Roman" panose="02020603050405020304" pitchFamily="18" charset="0"/>
                <a:cs typeface="Times New Roman" panose="02020603050405020304" pitchFamily="18" charset="0"/>
              </a:rPr>
              <a:t>Prediction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44568" y="3995928"/>
            <a:ext cx="32004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latin typeface="Times New Roman" panose="02020603050405020304" pitchFamily="18" charset="0"/>
                <a:cs typeface="Times New Roman" panose="02020603050405020304" pitchFamily="18" charset="0"/>
              </a:rPr>
              <a:t>30-minute forecast with confidence scoring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03336" y="3703320"/>
            <a:ext cx="32004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latin typeface="Times New Roman" panose="02020603050405020304" pitchFamily="18" charset="0"/>
                <a:cs typeface="Times New Roman" panose="02020603050405020304" pitchFamily="18" charset="0"/>
              </a:rPr>
              <a:t>Action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03336" y="3995928"/>
            <a:ext cx="32004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latin typeface="Times New Roman" panose="02020603050405020304" pitchFamily="18" charset="0"/>
                <a:cs typeface="Times New Roman" panose="02020603050405020304" pitchFamily="18" charset="0"/>
              </a:rPr>
              <a:t>Proactive scaling with cost tracking &amp; drift check</a:t>
            </a:r>
          </a:p>
        </p:txBody>
      </p:sp>
      <p:sp>
        <p:nvSpPr>
          <p:cNvPr id="60" name="Slide Number Placeholder 59">
            <a:extLst>
              <a:ext uri="{FF2B5EF4-FFF2-40B4-BE49-F238E27FC236}">
                <a16:creationId xmlns:a16="http://schemas.microsoft.com/office/drawing/2014/main" id="{7E743159-E1F2-0D10-CE5E-D977825BC2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fld>
            <a:endParaRPr lang="en-US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E965C1C-B1E8-1302-7533-7F780B8923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0873" y="1276349"/>
            <a:ext cx="9528726" cy="507873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502920"/>
            <a:ext cx="1109441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Multi-Metric LSTM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" y="6537960"/>
            <a:ext cx="11825935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latin typeface="Times New Roman" panose="02020603050405020304" pitchFamily="18" charset="0"/>
                <a:cs typeface="Times New Roman" panose="02020603050405020304" pitchFamily="18" charset="0"/>
              </a:rPr>
              <a:t>Intelligent Auto-Scaling in Kubernetes: A Machine Learning Based Predictive Approach  |  Prerna Tank (2410512)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856232"/>
            <a:ext cx="5303520" cy="254203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85800" y="1947672"/>
            <a:ext cx="50292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Input: (batch, </a:t>
            </a:r>
            <a:r>
              <a:rPr sz="1600" b="0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seq_len</a:t>
            </a:r>
            <a:r>
              <a:rPr sz="1600"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3)
     ↓
LSTM Layer 1: 64 hidden units
     ↓
LSTM Layer 2: 64 hidden units
     ↓
Fully Connected: 64 → 1
     ↓
Output: Predicted CPU (t+30min)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5197079"/>
            <a:ext cx="5303520" cy="57462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44369" y="5185336"/>
            <a:ext cx="5303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 Features: CPU + Memory + Network I/O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434702"/>
            <a:ext cx="5303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Multi-Metric?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92240" y="1856232"/>
            <a:ext cx="5303520" cy="10058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629400" y="2203704"/>
            <a:ext cx="50292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latin typeface="Times New Roman" panose="02020603050405020304" pitchFamily="18" charset="0"/>
                <a:cs typeface="Times New Roman" panose="02020603050405020304" pitchFamily="18" charset="0"/>
              </a:rPr>
              <a:t>Network I/O spikes 1-2 intervals BEFORE CPU spikes. By including network data, the model gains early warning signals.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629400" y="2953512"/>
            <a:ext cx="5166360" cy="10058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507480" y="3110720"/>
            <a:ext cx="50292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 Correlation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3300984"/>
            <a:ext cx="50292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latin typeface="Times New Roman" panose="02020603050405020304" pitchFamily="18" charset="0"/>
                <a:cs typeface="Times New Roman" panose="02020603050405020304" pitchFamily="18" charset="0"/>
              </a:rPr>
              <a:t>Memory usage patterns add context that helps distinguish between different types of workload increases.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07480" y="4068616"/>
            <a:ext cx="5303520" cy="10058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629400" y="4123944"/>
            <a:ext cx="50292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Configuration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400" y="4398264"/>
            <a:ext cx="50292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latin typeface="Times New Roman" panose="02020603050405020304" pitchFamily="18" charset="0"/>
                <a:cs typeface="Times New Roman" panose="02020603050405020304" pitchFamily="18" charset="0"/>
              </a:rPr>
              <a:t>50 Epochs  |  Adam Optimizer  |  MSE Loss  |  2 LSTM Layers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9FC2030-3D32-6494-0FBD-19986E608B20}"/>
              </a:ext>
            </a:extLst>
          </p:cNvPr>
          <p:cNvSpPr txBox="1"/>
          <p:nvPr/>
        </p:nvSpPr>
        <p:spPr>
          <a:xfrm>
            <a:off x="548640" y="1373415"/>
            <a:ext cx="5303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7150080-C449-0075-9579-2150468B5417}"/>
              </a:ext>
            </a:extLst>
          </p:cNvPr>
          <p:cNvSpPr/>
          <p:nvPr/>
        </p:nvSpPr>
        <p:spPr>
          <a:xfrm>
            <a:off x="548640" y="2019038"/>
            <a:ext cx="5303520" cy="242316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8FC671F-4D93-1135-8FB1-07FAAECA6096}"/>
              </a:ext>
            </a:extLst>
          </p:cNvPr>
          <p:cNvSpPr txBox="1"/>
          <p:nvPr/>
        </p:nvSpPr>
        <p:spPr>
          <a:xfrm>
            <a:off x="685800" y="2027593"/>
            <a:ext cx="50292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Input: (batch, </a:t>
            </a:r>
            <a:r>
              <a:rPr sz="1600" b="0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seq_len</a:t>
            </a:r>
            <a:r>
              <a:rPr sz="1600"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3)
     ↓
LSTM Layer 1: 64 hidden units
     ↓
LSTM Layer 2: 64 hidden units
     ↓
Fully Connected: 64 → 1
     ↓
Output: Predicted CPU (t+30min)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40AA093-32B8-DB0D-2FB4-00A7D3FC2713}"/>
              </a:ext>
            </a:extLst>
          </p:cNvPr>
          <p:cNvSpPr/>
          <p:nvPr/>
        </p:nvSpPr>
        <p:spPr>
          <a:xfrm>
            <a:off x="6233160" y="2140921"/>
            <a:ext cx="5303520" cy="10058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474BE9A-B3A7-3E6E-48D2-B4FA2BE4FB02}"/>
              </a:ext>
            </a:extLst>
          </p:cNvPr>
          <p:cNvSpPr txBox="1"/>
          <p:nvPr/>
        </p:nvSpPr>
        <p:spPr>
          <a:xfrm>
            <a:off x="6629400" y="2092190"/>
            <a:ext cx="5029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 Precedes CPU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CF666BD-6F3E-0CC1-47B2-A245216F1390}"/>
              </a:ext>
            </a:extLst>
          </p:cNvPr>
          <p:cNvSpPr txBox="1"/>
          <p:nvPr/>
        </p:nvSpPr>
        <p:spPr>
          <a:xfrm>
            <a:off x="6629400" y="2366510"/>
            <a:ext cx="50292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 I/O spikes 1-2 intervals BEFORE CPU spikes. By including network data, the model gains early warning signals.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A8EE494-26CB-CB90-70C6-BFE86368687A}"/>
              </a:ext>
            </a:extLst>
          </p:cNvPr>
          <p:cNvSpPr/>
          <p:nvPr/>
        </p:nvSpPr>
        <p:spPr>
          <a:xfrm>
            <a:off x="6512560" y="3106813"/>
            <a:ext cx="5303520" cy="10058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ABCC6A2-CCE4-CFD2-FCFC-702A1E588085}"/>
              </a:ext>
            </a:extLst>
          </p:cNvPr>
          <p:cNvSpPr txBox="1"/>
          <p:nvPr/>
        </p:nvSpPr>
        <p:spPr>
          <a:xfrm>
            <a:off x="6629400" y="3189470"/>
            <a:ext cx="5029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>
                <a:latin typeface="Times New Roman" panose="02020603050405020304" pitchFamily="18" charset="0"/>
                <a:cs typeface="Times New Roman" panose="02020603050405020304" pitchFamily="18" charset="0"/>
              </a:rPr>
              <a:t>Memory Correlation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2636939-7E26-D617-FBA0-B23522A15DD8}"/>
              </a:ext>
            </a:extLst>
          </p:cNvPr>
          <p:cNvSpPr txBox="1"/>
          <p:nvPr/>
        </p:nvSpPr>
        <p:spPr>
          <a:xfrm>
            <a:off x="6629400" y="3463790"/>
            <a:ext cx="50292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 usage patterns add context that helps distinguish between different types of workload increases.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0CDBBEF-330D-C864-C200-BA6B758B0696}"/>
              </a:ext>
            </a:extLst>
          </p:cNvPr>
          <p:cNvSpPr/>
          <p:nvPr/>
        </p:nvSpPr>
        <p:spPr>
          <a:xfrm>
            <a:off x="6507480" y="4231422"/>
            <a:ext cx="5303520" cy="10058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2071E4B-C356-F338-3813-BAF271E1B773}"/>
              </a:ext>
            </a:extLst>
          </p:cNvPr>
          <p:cNvSpPr txBox="1"/>
          <p:nvPr/>
        </p:nvSpPr>
        <p:spPr>
          <a:xfrm>
            <a:off x="6629400" y="4228332"/>
            <a:ext cx="5029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Configuration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28DFC20-AC50-0B63-3B37-16589E53C473}"/>
              </a:ext>
            </a:extLst>
          </p:cNvPr>
          <p:cNvSpPr txBox="1"/>
          <p:nvPr/>
        </p:nvSpPr>
        <p:spPr>
          <a:xfrm>
            <a:off x="6629400" y="4561070"/>
            <a:ext cx="50292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latin typeface="Times New Roman" panose="02020603050405020304" pitchFamily="18" charset="0"/>
                <a:cs typeface="Times New Roman" panose="02020603050405020304" pitchFamily="18" charset="0"/>
              </a:rPr>
              <a:t>50 Epochs  |  Adam Optimizer  |  MSE Loss  |  2 LSTM Layers</a:t>
            </a:r>
          </a:p>
        </p:txBody>
      </p:sp>
      <p:sp>
        <p:nvSpPr>
          <p:cNvPr id="31" name="Slide Number Placeholder 30">
            <a:extLst>
              <a:ext uri="{FF2B5EF4-FFF2-40B4-BE49-F238E27FC236}">
                <a16:creationId xmlns:a16="http://schemas.microsoft.com/office/drawing/2014/main" id="{0041DFA6-6262-AD58-85E0-57FF1055AF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fld>
            <a:endParaRPr lang="en-US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3400" y="431989"/>
            <a:ext cx="1109441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Drift Detection Mechanism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3139" y="1219932"/>
            <a:ext cx="1109441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Auto-retrain when prediction accuracy degrades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6537960"/>
            <a:ext cx="1182593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latin typeface="Times New Roman" panose="02020603050405020304" pitchFamily="18" charset="0"/>
                <a:cs typeface="Times New Roman" panose="02020603050405020304" pitchFamily="18" charset="0"/>
              </a:rPr>
              <a:t>Intelligent Auto-Scaling in Kubernetes: A Machine Learning Based Predictive Approach  |  Prerna Tank (2410512)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400" y="2019717"/>
            <a:ext cx="53035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It Works</a:t>
            </a:r>
          </a:p>
        </p:txBody>
      </p:sp>
      <p:sp>
        <p:nvSpPr>
          <p:cNvPr id="6" name="Rectangle 5"/>
          <p:cNvSpPr/>
          <p:nvPr/>
        </p:nvSpPr>
        <p:spPr>
          <a:xfrm>
            <a:off x="533400" y="2561439"/>
            <a:ext cx="5303520" cy="251237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70560" y="2652879"/>
            <a:ext cx="50292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Maintain sliding window of last 20 prediction errors
2. Calculate MAPE (Mean Absolute Percentage Error)
3. Compare against threshold: 50%
4. If MAPE &gt; 50% → Drift Detected!
5. Trigger emergency retrain</a:t>
            </a:r>
          </a:p>
        </p:txBody>
      </p:sp>
      <p:sp>
        <p:nvSpPr>
          <p:cNvPr id="8" name="Rectangle 7"/>
          <p:cNvSpPr/>
          <p:nvPr/>
        </p:nvSpPr>
        <p:spPr>
          <a:xfrm>
            <a:off x="607363" y="5257800"/>
            <a:ext cx="5303520" cy="54864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07363" y="5208954"/>
            <a:ext cx="509239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MAPE = (1/n) × Σ |actual - predicted| / actual × 100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76695" y="1891409"/>
            <a:ext cx="53035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Drift Detection?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76695" y="2561439"/>
            <a:ext cx="5303520" cy="93268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613855" y="2546991"/>
            <a:ext cx="50292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latin typeface="Times New Roman" panose="02020603050405020304" pitchFamily="18" charset="0"/>
                <a:cs typeface="Times New Roman" panose="02020603050405020304" pitchFamily="18" charset="0"/>
              </a:rPr>
              <a:t>Traffic Patterns Change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13855" y="2891730"/>
            <a:ext cx="50292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behavior evolves over time. A model trained on old patterns becomes inaccurate on new data.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76695" y="3595818"/>
            <a:ext cx="5303520" cy="93268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613855" y="3607748"/>
            <a:ext cx="50292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Prevents Bad Decisions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13855" y="3915858"/>
            <a:ext cx="50292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latin typeface="Times New Roman" panose="02020603050405020304" pitchFamily="18" charset="0"/>
                <a:cs typeface="Times New Roman" panose="02020603050405020304" pitchFamily="18" charset="0"/>
              </a:rPr>
              <a:t>A stale model making wrong predictions is worse than no model. Drift detection catches this early.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76695" y="4619946"/>
            <a:ext cx="5303520" cy="93268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613855" y="4608688"/>
            <a:ext cx="50292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Recovery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13855" y="4939986"/>
            <a:ext cx="50292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latin typeface="Times New Roman" panose="02020603050405020304" pitchFamily="18" charset="0"/>
                <a:cs typeface="Times New Roman" panose="02020603050405020304" pitchFamily="18" charset="0"/>
              </a:rPr>
              <a:t>No manual intervention needed. System detects degradation and retrains autonomously.</a:t>
            </a:r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75B52ABE-EE49-5632-4302-6F3D21A306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fld>
            <a:endParaRPr lang="en-US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502920"/>
            <a:ext cx="1109441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Confidence-Gated Self-Healing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6072" y="1578351"/>
            <a:ext cx="1109441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Safety net: fall back to HPA when ML is uncertain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6537960"/>
            <a:ext cx="11825935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latin typeface="Times New Roman" panose="02020603050405020304" pitchFamily="18" charset="0"/>
                <a:cs typeface="Times New Roman" panose="02020603050405020304" pitchFamily="18" charset="0"/>
              </a:rPr>
              <a:t>Intelligent Auto-Scaling in Kubernetes: A Machine Learning Based Predictive Approach  |  Prerna Tank (2410512)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792" y="2016820"/>
            <a:ext cx="11094415" cy="54864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792" y="2016820"/>
            <a:ext cx="1109441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>
                <a:latin typeface="Times New Roman" panose="02020603050405020304" pitchFamily="18" charset="0"/>
                <a:cs typeface="Times New Roman" panose="02020603050405020304" pitchFamily="18" charset="0"/>
              </a:rPr>
              <a:t>Confidence = 1.0 - (training_loss × 100)   |   Threshold: 70%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775772"/>
            <a:ext cx="5303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>
                <a:latin typeface="Times New Roman" panose="02020603050405020304" pitchFamily="18" charset="0"/>
                <a:cs typeface="Times New Roman" panose="02020603050405020304" pitchFamily="18" charset="0"/>
              </a:rPr>
              <a:t>Confidence ≥ 70%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" y="3145104"/>
            <a:ext cx="5303520" cy="21031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48640" y="3123244"/>
            <a:ext cx="54864" cy="2103120"/>
          </a:xfrm>
          <a:prstGeom prst="rect">
            <a:avLst/>
          </a:prstGeom>
          <a:solidFill>
            <a:srgbClr val="69F0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31520" y="3214684"/>
            <a:ext cx="50292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latin typeface="Times New Roman" panose="02020603050405020304" pitchFamily="18" charset="0"/>
                <a:cs typeface="Times New Roman" panose="02020603050405020304" pitchFamily="18" charset="0"/>
              </a:rPr>
              <a:t>ML Prediction Active
• Use LSTM predicted CPU value
• Scale proactively before load
• Track cost of scaling decision
• Monitor for drift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775772"/>
            <a:ext cx="5303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>
                <a:latin typeface="Times New Roman" panose="02020603050405020304" pitchFamily="18" charset="0"/>
                <a:cs typeface="Times New Roman" panose="02020603050405020304" pitchFamily="18" charset="0"/>
              </a:rPr>
              <a:t>Confidence &lt; 70%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92240" y="3123244"/>
            <a:ext cx="5303520" cy="21031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492240" y="3123244"/>
            <a:ext cx="54864" cy="2103120"/>
          </a:xfrm>
          <a:prstGeom prst="rect">
            <a:avLst/>
          </a:prstGeom>
          <a:solidFill>
            <a:srgbClr val="FF5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675120" y="3214684"/>
            <a:ext cx="50292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latin typeface="Times New Roman" panose="02020603050405020304" pitchFamily="18" charset="0"/>
                <a:cs typeface="Times New Roman" panose="02020603050405020304" pitchFamily="18" charset="0"/>
              </a:rPr>
              <a:t>Fallback to HPA
• Disable ML-based scaling
• Let Kubernetes HPA handle scaling
• Log confidence failure event
• Continue monitoring for recovery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87680" y="5733729"/>
            <a:ext cx="11094415" cy="6858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487680" y="5733729"/>
            <a:ext cx="11094415" cy="36576"/>
          </a:xfrm>
          <a:prstGeom prst="rect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24840" y="5770305"/>
            <a:ext cx="1082009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Insight: An uncertain ML prediction causing wrong scaling is worse than reactive HPA. The confidence gate ensures the system never makes overconfident mistakes.</a:t>
            </a:r>
          </a:p>
        </p:txBody>
      </p:sp>
      <p:sp>
        <p:nvSpPr>
          <p:cNvPr id="24" name="Slide Number Placeholder 23">
            <a:extLst>
              <a:ext uri="{FF2B5EF4-FFF2-40B4-BE49-F238E27FC236}">
                <a16:creationId xmlns:a16="http://schemas.microsoft.com/office/drawing/2014/main" id="{97BEBF3A-A7C2-255F-A32B-BA48D3CA3C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fld>
            <a:endParaRPr lang="en-US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Box 38">
            <a:extLst>
              <a:ext uri="{FF2B5EF4-FFF2-40B4-BE49-F238E27FC236}">
                <a16:creationId xmlns:a16="http://schemas.microsoft.com/office/drawing/2014/main" id="{B32A4738-6BFE-C33C-72F2-5D4AE032C827}"/>
              </a:ext>
            </a:extLst>
          </p:cNvPr>
          <p:cNvSpPr txBox="1"/>
          <p:nvPr/>
        </p:nvSpPr>
        <p:spPr>
          <a:xfrm>
            <a:off x="388619" y="411480"/>
            <a:ext cx="1109441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CI/CD Pipeline</a:t>
            </a:r>
          </a:p>
        </p:txBody>
      </p:sp>
      <p:sp>
        <p:nvSpPr>
          <p:cNvPr id="43" name="Slide Number Placeholder 42">
            <a:extLst>
              <a:ext uri="{FF2B5EF4-FFF2-40B4-BE49-F238E27FC236}">
                <a16:creationId xmlns:a16="http://schemas.microsoft.com/office/drawing/2014/main" id="{FE53B509-3628-5DC2-F181-B783521A14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fld>
            <a:endParaRPr lang="en-US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20CCBB6-5A38-DAB1-C905-750A2429BBA4}"/>
              </a:ext>
            </a:extLst>
          </p:cNvPr>
          <p:cNvSpPr txBox="1"/>
          <p:nvPr/>
        </p:nvSpPr>
        <p:spPr>
          <a:xfrm>
            <a:off x="182880" y="6537960"/>
            <a:ext cx="11825935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latin typeface="Times New Roman" panose="02020603050405020304" pitchFamily="18" charset="0"/>
                <a:cs typeface="Times New Roman" panose="02020603050405020304" pitchFamily="18" charset="0"/>
              </a:rPr>
              <a:t>Intelligent Auto-Scaling in Kubernetes: A Machine Learning Based Predictive Approach  |  Prerna Tank (2410512)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D374B67-DB2D-A5CA-CE5E-3F9C876927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545" y="1119366"/>
            <a:ext cx="11009746" cy="515341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6753" y="400086"/>
            <a:ext cx="1109441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GitOps</a:t>
            </a:r>
            <a:r>
              <a:rPr sz="4000" b="1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</a:t>
            </a:r>
            <a:r>
              <a:rPr sz="4000" b="1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ArgoCD</a:t>
            </a:r>
            <a:endParaRPr sz="4000" b="1" i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39" y="1384523"/>
            <a:ext cx="1109441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Declarative, version-controlled deployments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6537960"/>
            <a:ext cx="1182593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latin typeface="Times New Roman" panose="02020603050405020304" pitchFamily="18" charset="0"/>
                <a:cs typeface="Times New Roman" panose="02020603050405020304" pitchFamily="18" charset="0"/>
              </a:rPr>
              <a:t>Intelligent Auto-Scaling in Kubernetes: A Machine Learning Based Predictive Approach  |  Prerna Tank (2410512)</a:t>
            </a:r>
          </a:p>
        </p:txBody>
      </p:sp>
      <p:sp>
        <p:nvSpPr>
          <p:cNvPr id="5" name="Rectangle 4"/>
          <p:cNvSpPr/>
          <p:nvPr/>
        </p:nvSpPr>
        <p:spPr>
          <a:xfrm>
            <a:off x="746607" y="2063627"/>
            <a:ext cx="1920240" cy="59436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400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46607" y="2145027"/>
            <a:ext cx="19202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66847" y="2228219"/>
            <a:ext cx="2743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2941167" y="2063627"/>
            <a:ext cx="1920240" cy="59436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400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941167" y="2164650"/>
            <a:ext cx="19202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 Push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61407" y="2228219"/>
            <a:ext cx="2743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135727" y="2063627"/>
            <a:ext cx="1920240" cy="59436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400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249949" y="2063627"/>
            <a:ext cx="180601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>
                <a:latin typeface="Times New Roman" panose="02020603050405020304" pitchFamily="18" charset="0"/>
                <a:cs typeface="Times New Roman" panose="02020603050405020304" pitchFamily="18" charset="0"/>
              </a:rPr>
              <a:t>GitHub Repo
Source of Truth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55967" y="2228219"/>
            <a:ext cx="2743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30287" y="2063627"/>
            <a:ext cx="1920240" cy="59436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400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444509" y="2063627"/>
            <a:ext cx="180601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>
                <a:latin typeface="Times New Roman" panose="02020603050405020304" pitchFamily="18" charset="0"/>
                <a:cs typeface="Times New Roman" panose="02020603050405020304" pitchFamily="18" charset="0"/>
              </a:rPr>
              <a:t>ArgoCD
Watches Repo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50527" y="2228219"/>
            <a:ext cx="2743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524847" y="2063627"/>
            <a:ext cx="1920240" cy="59436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400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9639069" y="2063627"/>
            <a:ext cx="180601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>
                <a:latin typeface="Times New Roman" panose="02020603050405020304" pitchFamily="18" charset="0"/>
                <a:cs typeface="Times New Roman" panose="02020603050405020304" pitchFamily="18" charset="0"/>
              </a:rPr>
              <a:t>K8s Cluster
Auto-Synced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307636"/>
            <a:ext cx="5303520" cy="14173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70560" y="3307636"/>
            <a:ext cx="50292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latin typeface="Times New Roman" panose="02020603050405020304" pitchFamily="18" charset="0"/>
                <a:cs typeface="Times New Roman" panose="02020603050405020304" pitchFamily="18" charset="0"/>
              </a:rPr>
              <a:t>Auto-Sync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3691684"/>
            <a:ext cx="50292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latin typeface="Times New Roman" panose="02020603050405020304" pitchFamily="18" charset="0"/>
                <a:cs typeface="Times New Roman" panose="02020603050405020304" pitchFamily="18" charset="0"/>
              </a:rPr>
              <a:t>ArgoCD watches the GitHub repo. When Jenkins pushes new manifests, ArgoCD automatically syncs the cluster state.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0" y="3307636"/>
            <a:ext cx="5303520" cy="14173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339840" y="3307636"/>
            <a:ext cx="50292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Self-Healing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3691684"/>
            <a:ext cx="50292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latin typeface="Times New Roman" panose="02020603050405020304" pitchFamily="18" charset="0"/>
                <a:cs typeface="Times New Roman" panose="02020603050405020304" pitchFamily="18" charset="0"/>
              </a:rPr>
              <a:t>If someone manually changes K8s resources, ArgoCD detects drift and reverts to the desired state in Git.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4889548"/>
            <a:ext cx="5303520" cy="14173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70560" y="4889548"/>
            <a:ext cx="50292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latin typeface="Times New Roman" panose="02020603050405020304" pitchFamily="18" charset="0"/>
                <a:cs typeface="Times New Roman" panose="02020603050405020304" pitchFamily="18" charset="0"/>
              </a:rPr>
              <a:t>Declarative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5273596"/>
            <a:ext cx="50292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Desired state is defined in Git manifests. Actual state in Kubernetes is continuously reconciled to match.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17920" y="4889548"/>
            <a:ext cx="5303520" cy="14173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339840" y="4889548"/>
            <a:ext cx="50292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latin typeface="Times New Roman" panose="02020603050405020304" pitchFamily="18" charset="0"/>
                <a:cs typeface="Times New Roman" panose="02020603050405020304" pitchFamily="18" charset="0"/>
              </a:rPr>
              <a:t>Rollback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55080" y="5273596"/>
            <a:ext cx="50292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latin typeface="Times New Roman" panose="02020603050405020304" pitchFamily="18" charset="0"/>
                <a:cs typeface="Times New Roman" panose="02020603050405020304" pitchFamily="18" charset="0"/>
              </a:rPr>
              <a:t>Every deployment is a Git commit. Rolling back is as simple as reverting the commit. Full audit trail.</a:t>
            </a:r>
          </a:p>
        </p:txBody>
      </p:sp>
      <p:sp>
        <p:nvSpPr>
          <p:cNvPr id="54" name="Slide Number Placeholder 53">
            <a:extLst>
              <a:ext uri="{FF2B5EF4-FFF2-40B4-BE49-F238E27FC236}">
                <a16:creationId xmlns:a16="http://schemas.microsoft.com/office/drawing/2014/main" id="{87ECCC73-C921-6720-FC11-E733928A0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fld>
            <a:endParaRPr lang="en-US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39" y="289689"/>
            <a:ext cx="1109441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3-Node Kubernetes Cluster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9917" y="966710"/>
            <a:ext cx="1109441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Production infrastructure on private cloud</a:t>
            </a:r>
            <a:r>
              <a:rPr lang="en-US" sz="2400"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(VPC)</a:t>
            </a:r>
            <a:endParaRPr sz="2400" b="0" i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82880" y="6537960"/>
            <a:ext cx="1182593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Intelligent Auto-Scaling in Kubernetes: A Machine Learning Based Predictive Approach  |  Prerna Tank (2410512)</a:t>
            </a:r>
          </a:p>
        </p:txBody>
      </p:sp>
      <p:sp>
        <p:nvSpPr>
          <p:cNvPr id="5" name="Rectangle 4"/>
          <p:cNvSpPr/>
          <p:nvPr/>
        </p:nvSpPr>
        <p:spPr>
          <a:xfrm>
            <a:off x="911199" y="1554480"/>
            <a:ext cx="3200400" cy="219456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911199" y="1554480"/>
            <a:ext cx="3200400" cy="54864"/>
          </a:xfrm>
          <a:prstGeom prst="rect">
            <a:avLst/>
          </a:prstGeom>
          <a:solidFill>
            <a:srgbClr val="FF9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11199" y="1664208"/>
            <a:ext cx="32004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latin typeface="Times New Roman" panose="02020603050405020304" pitchFamily="18" charset="0"/>
                <a:cs typeface="Times New Roman" panose="02020603050405020304" pitchFamily="18" charset="0"/>
              </a:rPr>
              <a:t>Master Node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1199" y="2011680"/>
            <a:ext cx="32004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latin typeface="Times New Roman" panose="02020603050405020304" pitchFamily="18" charset="0"/>
                <a:cs typeface="Times New Roman" panose="02020603050405020304" pitchFamily="18" charset="0"/>
              </a:rPr>
              <a:t>master-node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1199" y="2598003"/>
            <a:ext cx="32004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Control Plane
Jenkins CI/CD
</a:t>
            </a:r>
            <a:r>
              <a:rPr sz="1600" b="0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ArgoCD</a:t>
            </a:r>
            <a:endParaRPr sz="1600" b="0" i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495647" y="1554480"/>
            <a:ext cx="3200400" cy="219456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495647" y="1554480"/>
            <a:ext cx="3200400" cy="54864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495647" y="1664208"/>
            <a:ext cx="32004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latin typeface="Times New Roman" panose="02020603050405020304" pitchFamily="18" charset="0"/>
                <a:cs typeface="Times New Roman" panose="02020603050405020304" pitchFamily="18" charset="0"/>
              </a:rPr>
              <a:t>Worker-App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95647" y="2011680"/>
            <a:ext cx="32004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latin typeface="Times New Roman" panose="02020603050405020304" pitchFamily="18" charset="0"/>
                <a:cs typeface="Times New Roman" panose="02020603050405020304" pitchFamily="18" charset="0"/>
              </a:rPr>
              <a:t>worker-app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6315" y="2655357"/>
            <a:ext cx="32004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 Application
Predictive Scaler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80095" y="1554480"/>
            <a:ext cx="3200400" cy="219456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8080095" y="1554480"/>
            <a:ext cx="3200400" cy="54864"/>
          </a:xfrm>
          <a:prstGeom prst="rect">
            <a:avLst/>
          </a:prstGeom>
          <a:solidFill>
            <a:srgbClr val="69F0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080095" y="1664208"/>
            <a:ext cx="32004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latin typeface="Times New Roman" panose="02020603050405020304" pitchFamily="18" charset="0"/>
                <a:cs typeface="Times New Roman" panose="02020603050405020304" pitchFamily="18" charset="0"/>
              </a:rPr>
              <a:t>Worker-Data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80095" y="2011680"/>
            <a:ext cx="32004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latin typeface="Times New Roman" panose="02020603050405020304" pitchFamily="18" charset="0"/>
                <a:cs typeface="Times New Roman" panose="02020603050405020304" pitchFamily="18" charset="0"/>
              </a:rPr>
              <a:t>worker-data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80095" y="2686593"/>
            <a:ext cx="32004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ML Predictor
Prometheus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38" y="4653248"/>
            <a:ext cx="1109441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K8s 1.30.14   |   </a:t>
            </a:r>
            <a:r>
              <a:rPr b="0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containerd</a:t>
            </a:r>
            <a:r>
              <a:rPr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|   </a:t>
            </a:r>
            <a:r>
              <a:rPr b="0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Traefik</a:t>
            </a:r>
            <a:r>
              <a:rPr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Ingress   |   Prometheus   |   </a:t>
            </a:r>
            <a:r>
              <a:rPr b="0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ArgoCD</a:t>
            </a:r>
            <a:endParaRPr b="0" i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489917" y="5597944"/>
            <a:ext cx="11094415" cy="59436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27077" y="5574083"/>
            <a:ext cx="1082009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Dedicated node separation ensures ML workloads don't compete with application traffic, while the master node handles orchestration and CI/CD tooling.</a:t>
            </a:r>
          </a:p>
        </p:txBody>
      </p:sp>
      <p:sp>
        <p:nvSpPr>
          <p:cNvPr id="25" name="Slide Number Placeholder 24">
            <a:extLst>
              <a:ext uri="{FF2B5EF4-FFF2-40B4-BE49-F238E27FC236}">
                <a16:creationId xmlns:a16="http://schemas.microsoft.com/office/drawing/2014/main" id="{3F6CC24C-4788-530D-4893-A4F02B2EDF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13</a:t>
            </a:fld>
            <a:endParaRPr lang="en-US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4ACF206-B3FC-AD0C-1B0A-B49C3C5E3E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5FB0D78-B8E8-66D7-A30D-A485DA08F1C3}"/>
              </a:ext>
            </a:extLst>
          </p:cNvPr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69496AE-3DA4-3CFA-C638-0611F11D00D3}"/>
              </a:ext>
            </a:extLst>
          </p:cNvPr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F105A20-156A-AA6A-19FE-4EB0DBA684DD}"/>
              </a:ext>
            </a:extLst>
          </p:cNvPr>
          <p:cNvSpPr txBox="1"/>
          <p:nvPr/>
        </p:nvSpPr>
        <p:spPr>
          <a:xfrm>
            <a:off x="320040" y="73152"/>
            <a:ext cx="11430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Experimental Setup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A6F21EB-8FD8-EB6C-4240-6A4B9EA0208C}"/>
              </a:ext>
            </a:extLst>
          </p:cNvPr>
          <p:cNvSpPr txBox="1"/>
          <p:nvPr/>
        </p:nvSpPr>
        <p:spPr>
          <a:xfrm>
            <a:off x="320040" y="742366"/>
            <a:ext cx="11430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 3-node cluster — 6 ablation configurations — 412,341 requests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B598E55-6273-5756-46E5-A83B889F6FDA}"/>
              </a:ext>
            </a:extLst>
          </p:cNvPr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2DD58A9-E1DE-59A8-291B-D6CDFC53E41C}"/>
              </a:ext>
            </a:extLst>
          </p:cNvPr>
          <p:cNvSpPr txBox="1"/>
          <p:nvPr/>
        </p:nvSpPr>
        <p:spPr>
          <a:xfrm>
            <a:off x="11795760" y="6647688"/>
            <a:ext cx="32004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29670BC-D3FA-1058-0AB9-6956391204BE}"/>
              </a:ext>
            </a:extLst>
          </p:cNvPr>
          <p:cNvSpPr/>
          <p:nvPr/>
        </p:nvSpPr>
        <p:spPr>
          <a:xfrm>
            <a:off x="228600" y="1051560"/>
            <a:ext cx="5623560" cy="54864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3D32F03-9703-CE4C-74CD-DB72312BDA3D}"/>
              </a:ext>
            </a:extLst>
          </p:cNvPr>
          <p:cNvSpPr/>
          <p:nvPr/>
        </p:nvSpPr>
        <p:spPr>
          <a:xfrm>
            <a:off x="228600" y="1051560"/>
            <a:ext cx="5623560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CC26A6A-E120-528D-9689-54E6A7129222}"/>
              </a:ext>
            </a:extLst>
          </p:cNvPr>
          <p:cNvSpPr txBox="1"/>
          <p:nvPr/>
        </p:nvSpPr>
        <p:spPr>
          <a:xfrm>
            <a:off x="411480" y="1143000"/>
            <a:ext cx="5303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>
                <a:latin typeface="Times New Roman" panose="02020603050405020304" pitchFamily="18" charset="0"/>
                <a:cs typeface="Times New Roman" panose="02020603050405020304" pitchFamily="18" charset="0"/>
              </a:rPr>
              <a:t>Hardware &amp; Workload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7D2BDB1-F712-B02C-B63D-650F59CEB2E7}"/>
              </a:ext>
            </a:extLst>
          </p:cNvPr>
          <p:cNvSpPr txBox="1"/>
          <p:nvPr/>
        </p:nvSpPr>
        <p:spPr>
          <a:xfrm>
            <a:off x="365760" y="1554480"/>
            <a:ext cx="13716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Cluster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530A493-8519-266B-8CE7-880BE6D26CF3}"/>
              </a:ext>
            </a:extLst>
          </p:cNvPr>
          <p:cNvSpPr txBox="1"/>
          <p:nvPr/>
        </p:nvSpPr>
        <p:spPr>
          <a:xfrm>
            <a:off x="1783080" y="1554480"/>
            <a:ext cx="39319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latin typeface="Times New Roman" panose="02020603050405020304" pitchFamily="18" charset="0"/>
                <a:cs typeface="Times New Roman" panose="02020603050405020304" pitchFamily="18" charset="0"/>
              </a:rPr>
              <a:t>3-node Kubernetes v1.30.14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63072FF-E676-1801-4BF8-9EC8498EA516}"/>
              </a:ext>
            </a:extLst>
          </p:cNvPr>
          <p:cNvSpPr txBox="1"/>
          <p:nvPr/>
        </p:nvSpPr>
        <p:spPr>
          <a:xfrm>
            <a:off x="365760" y="1883664"/>
            <a:ext cx="13716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Each node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0417E1B-F2DB-3556-5781-25D1E1E48003}"/>
              </a:ext>
            </a:extLst>
          </p:cNvPr>
          <p:cNvSpPr txBox="1"/>
          <p:nvPr/>
        </p:nvSpPr>
        <p:spPr>
          <a:xfrm>
            <a:off x="1783080" y="1883664"/>
            <a:ext cx="39319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latin typeface="Times New Roman" panose="02020603050405020304" pitchFamily="18" charset="0"/>
                <a:cs typeface="Times New Roman" panose="02020603050405020304" pitchFamily="18" charset="0"/>
              </a:rPr>
              <a:t>4 vCPU  |  8 GB RAM  |  50–60 GB disk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6D3E74D-A5F9-999C-0DCE-3D115B19E733}"/>
              </a:ext>
            </a:extLst>
          </p:cNvPr>
          <p:cNvSpPr txBox="1"/>
          <p:nvPr/>
        </p:nvSpPr>
        <p:spPr>
          <a:xfrm>
            <a:off x="365760" y="2212848"/>
            <a:ext cx="13716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Cloud VMs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EC0B36E-9B21-B5E0-303E-B402E579968C}"/>
              </a:ext>
            </a:extLst>
          </p:cNvPr>
          <p:cNvSpPr txBox="1"/>
          <p:nvPr/>
        </p:nvSpPr>
        <p:spPr>
          <a:xfrm>
            <a:off x="1783080" y="2212848"/>
            <a:ext cx="39319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latin typeface="Times New Roman" panose="02020603050405020304" pitchFamily="18" charset="0"/>
                <a:cs typeface="Times New Roman" panose="02020603050405020304" pitchFamily="18" charset="0"/>
              </a:rPr>
              <a:t>Ubuntu 22.04 LTS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084B386-0BA4-1D45-7C11-B001ED5E8326}"/>
              </a:ext>
            </a:extLst>
          </p:cNvPr>
          <p:cNvSpPr txBox="1"/>
          <p:nvPr/>
        </p:nvSpPr>
        <p:spPr>
          <a:xfrm>
            <a:off x="365760" y="2542032"/>
            <a:ext cx="13716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Uptime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A62A5BB-4502-E798-97D1-96E2D26B6E35}"/>
              </a:ext>
            </a:extLst>
          </p:cNvPr>
          <p:cNvSpPr txBox="1"/>
          <p:nvPr/>
        </p:nvSpPr>
        <p:spPr>
          <a:xfrm>
            <a:off x="1783080" y="2542032"/>
            <a:ext cx="39319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latin typeface="Times New Roman" panose="02020603050405020304" pitchFamily="18" charset="0"/>
                <a:cs typeface="Times New Roman" panose="02020603050405020304" pitchFamily="18" charset="0"/>
              </a:rPr>
              <a:t>49 days continuous at evaluation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0B85140-E20E-92FC-03FC-F57A49951B4B}"/>
              </a:ext>
            </a:extLst>
          </p:cNvPr>
          <p:cNvSpPr txBox="1"/>
          <p:nvPr/>
        </p:nvSpPr>
        <p:spPr>
          <a:xfrm>
            <a:off x="1783080" y="2871215"/>
            <a:ext cx="39319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7E2F98F-620F-9FD1-45AC-F78763956357}"/>
              </a:ext>
            </a:extLst>
          </p:cNvPr>
          <p:cNvSpPr txBox="1"/>
          <p:nvPr/>
        </p:nvSpPr>
        <p:spPr>
          <a:xfrm>
            <a:off x="365760" y="3200399"/>
            <a:ext cx="13716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Load tool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4B425A9-1E9C-70A0-0C9E-3B01E3DAA7BB}"/>
              </a:ext>
            </a:extLst>
          </p:cNvPr>
          <p:cNvSpPr txBox="1"/>
          <p:nvPr/>
        </p:nvSpPr>
        <p:spPr>
          <a:xfrm>
            <a:off x="1783080" y="3200399"/>
            <a:ext cx="39319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latin typeface="Times New Roman" panose="02020603050405020304" pitchFamily="18" charset="0"/>
                <a:cs typeface="Times New Roman" panose="02020603050405020304" pitchFamily="18" charset="0"/>
              </a:rPr>
              <a:t>Custom Python requests client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2DAE8D4-1493-F77C-AADD-AAB652AA6200}"/>
              </a:ext>
            </a:extLst>
          </p:cNvPr>
          <p:cNvSpPr txBox="1"/>
          <p:nvPr/>
        </p:nvSpPr>
        <p:spPr>
          <a:xfrm>
            <a:off x="365760" y="3529583"/>
            <a:ext cx="13716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Target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72E3B7F-0CA7-A1FD-D8BF-9717DC26DB10}"/>
              </a:ext>
            </a:extLst>
          </p:cNvPr>
          <p:cNvSpPr txBox="1"/>
          <p:nvPr/>
        </p:nvSpPr>
        <p:spPr>
          <a:xfrm>
            <a:off x="1783080" y="3529583"/>
            <a:ext cx="39319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latin typeface="Times New Roman" panose="02020603050405020304" pitchFamily="18" charset="0"/>
                <a:cs typeface="Times New Roman" panose="02020603050405020304" pitchFamily="18" charset="0"/>
              </a:rPr>
              <a:t>Traefik Ingress  NodePort 30080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06E18A2-1CA2-80CC-ABB6-7E365B8E1148}"/>
              </a:ext>
            </a:extLst>
          </p:cNvPr>
          <p:cNvSpPr txBox="1"/>
          <p:nvPr/>
        </p:nvSpPr>
        <p:spPr>
          <a:xfrm>
            <a:off x="365760" y="3858768"/>
            <a:ext cx="13716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Rate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BC1B794-27C5-467F-58EE-5DC3821BCDE2}"/>
              </a:ext>
            </a:extLst>
          </p:cNvPr>
          <p:cNvSpPr txBox="1"/>
          <p:nvPr/>
        </p:nvSpPr>
        <p:spPr>
          <a:xfrm>
            <a:off x="1783080" y="3858768"/>
            <a:ext cx="39319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latin typeface="Times New Roman" panose="02020603050405020304" pitchFamily="18" charset="0"/>
                <a:cs typeface="Times New Roman" panose="02020603050405020304" pitchFamily="18" charset="0"/>
              </a:rPr>
              <a:t>50 req/s  per experiment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E95469D-40EF-44A5-6ADA-2B70C22AFDFA}"/>
              </a:ext>
            </a:extLst>
          </p:cNvPr>
          <p:cNvSpPr txBox="1"/>
          <p:nvPr/>
        </p:nvSpPr>
        <p:spPr>
          <a:xfrm>
            <a:off x="365760" y="4187952"/>
            <a:ext cx="13716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Duration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BD35686-E5A7-878F-504F-C2F2E24BEFF8}"/>
              </a:ext>
            </a:extLst>
          </p:cNvPr>
          <p:cNvSpPr txBox="1"/>
          <p:nvPr/>
        </p:nvSpPr>
        <p:spPr>
          <a:xfrm>
            <a:off x="1783080" y="4187952"/>
            <a:ext cx="39319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latin typeface="Times New Roman" panose="02020603050405020304" pitchFamily="18" charset="0"/>
                <a:cs typeface="Times New Roman" panose="02020603050405020304" pitchFamily="18" charset="0"/>
              </a:rPr>
              <a:t>1800 seconds  (30 minutes) per run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436B072-1C41-B43C-C7F9-1EF992224F27}"/>
              </a:ext>
            </a:extLst>
          </p:cNvPr>
          <p:cNvSpPr txBox="1"/>
          <p:nvPr/>
        </p:nvSpPr>
        <p:spPr>
          <a:xfrm>
            <a:off x="365760" y="4517136"/>
            <a:ext cx="13716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Runs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4CE5F26-6809-4559-44D8-4FE878F0DBD8}"/>
              </a:ext>
            </a:extLst>
          </p:cNvPr>
          <p:cNvSpPr txBox="1"/>
          <p:nvPr/>
        </p:nvSpPr>
        <p:spPr>
          <a:xfrm>
            <a:off x="1783080" y="4517136"/>
            <a:ext cx="39319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latin typeface="Times New Roman" panose="02020603050405020304" pitchFamily="18" charset="0"/>
                <a:cs typeface="Times New Roman" panose="02020603050405020304" pitchFamily="18" charset="0"/>
              </a:rPr>
              <a:t>6 experiments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3E05490-7248-0EC7-37B8-43803C57DB2F}"/>
              </a:ext>
            </a:extLst>
          </p:cNvPr>
          <p:cNvSpPr txBox="1"/>
          <p:nvPr/>
        </p:nvSpPr>
        <p:spPr>
          <a:xfrm>
            <a:off x="365760" y="4846320"/>
            <a:ext cx="13716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Total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A8BF3BF-611C-3AC5-8010-838298D71312}"/>
              </a:ext>
            </a:extLst>
          </p:cNvPr>
          <p:cNvSpPr txBox="1"/>
          <p:nvPr/>
        </p:nvSpPr>
        <p:spPr>
          <a:xfrm>
            <a:off x="1783080" y="4846320"/>
            <a:ext cx="39319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latin typeface="Times New Roman" panose="02020603050405020304" pitchFamily="18" charset="0"/>
                <a:cs typeface="Times New Roman" panose="02020603050405020304" pitchFamily="18" charset="0"/>
              </a:rPr>
              <a:t>412,341 HTTP requests  (~3 hours)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DDD9FB3-DD8E-59F4-5405-6918EDDBE728}"/>
              </a:ext>
            </a:extLst>
          </p:cNvPr>
          <p:cNvSpPr txBox="1"/>
          <p:nvPr/>
        </p:nvSpPr>
        <p:spPr>
          <a:xfrm>
            <a:off x="365760" y="5175504"/>
            <a:ext cx="13716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Failures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AF7DAEE-C87B-BBC2-5BA5-916067FB20AD}"/>
              </a:ext>
            </a:extLst>
          </p:cNvPr>
          <p:cNvSpPr txBox="1"/>
          <p:nvPr/>
        </p:nvSpPr>
        <p:spPr>
          <a:xfrm>
            <a:off x="1783080" y="5175504"/>
            <a:ext cx="39319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latin typeface="Times New Roman" panose="02020603050405020304" pitchFamily="18" charset="0"/>
                <a:cs typeface="Times New Roman" panose="02020603050405020304" pitchFamily="18" charset="0"/>
              </a:rPr>
              <a:t>Zero connection failures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DE8A2C4-6382-980C-E2D2-C57CB1AE2871}"/>
              </a:ext>
            </a:extLst>
          </p:cNvPr>
          <p:cNvSpPr txBox="1"/>
          <p:nvPr/>
        </p:nvSpPr>
        <p:spPr>
          <a:xfrm>
            <a:off x="1783080" y="5504688"/>
            <a:ext cx="39319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FC78AE6-CE9B-5FD1-E34E-8B1880ED8C6F}"/>
              </a:ext>
            </a:extLst>
          </p:cNvPr>
          <p:cNvSpPr txBox="1"/>
          <p:nvPr/>
        </p:nvSpPr>
        <p:spPr>
          <a:xfrm>
            <a:off x="365760" y="5833872"/>
            <a:ext cx="13716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Metrics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BCF8904-13B5-A8C7-2F47-C616A9C2B1CA}"/>
              </a:ext>
            </a:extLst>
          </p:cNvPr>
          <p:cNvSpPr txBox="1"/>
          <p:nvPr/>
        </p:nvSpPr>
        <p:spPr>
          <a:xfrm>
            <a:off x="1783080" y="5833872"/>
            <a:ext cx="39319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latin typeface="Times New Roman" panose="02020603050405020304" pitchFamily="18" charset="0"/>
                <a:cs typeface="Times New Roman" panose="02020603050405020304" pitchFamily="18" charset="0"/>
              </a:rPr>
              <a:t>SLA violations  |  Latency P95/P99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F4F858B-465D-8E09-3E91-8430711EC4B0}"/>
              </a:ext>
            </a:extLst>
          </p:cNvPr>
          <p:cNvSpPr txBox="1"/>
          <p:nvPr/>
        </p:nvSpPr>
        <p:spPr>
          <a:xfrm>
            <a:off x="1783080" y="6163056"/>
            <a:ext cx="39319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latin typeface="Times New Roman" panose="02020603050405020304" pitchFamily="18" charset="0"/>
                <a:cs typeface="Times New Roman" panose="02020603050405020304" pitchFamily="18" charset="0"/>
              </a:rPr>
              <a:t>Prediction MAPE  |  Cost USD/day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2868AD63-2A32-345A-AFD0-E63FB8FFA486}"/>
              </a:ext>
            </a:extLst>
          </p:cNvPr>
          <p:cNvSpPr/>
          <p:nvPr/>
        </p:nvSpPr>
        <p:spPr>
          <a:xfrm>
            <a:off x="6035040" y="1051560"/>
            <a:ext cx="5925312" cy="54864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CC7F300C-FEF7-D5C9-AC7D-6FF4C14B6E59}"/>
              </a:ext>
            </a:extLst>
          </p:cNvPr>
          <p:cNvSpPr/>
          <p:nvPr/>
        </p:nvSpPr>
        <p:spPr>
          <a:xfrm>
            <a:off x="6035040" y="1051560"/>
            <a:ext cx="5925312" cy="64008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0E47D08-CF35-9DAC-479A-69C4875C81BE}"/>
              </a:ext>
            </a:extLst>
          </p:cNvPr>
          <p:cNvSpPr txBox="1"/>
          <p:nvPr/>
        </p:nvSpPr>
        <p:spPr>
          <a:xfrm>
            <a:off x="6217920" y="1143000"/>
            <a:ext cx="55778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>
                <a:latin typeface="Times New Roman" panose="02020603050405020304" pitchFamily="18" charset="0"/>
                <a:cs typeface="Times New Roman" panose="02020603050405020304" pitchFamily="18" charset="0"/>
              </a:rPr>
              <a:t>Ablation Variants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65011E8B-85FC-D1CE-D28D-F0301C8F1683}"/>
              </a:ext>
            </a:extLst>
          </p:cNvPr>
          <p:cNvSpPr/>
          <p:nvPr/>
        </p:nvSpPr>
        <p:spPr>
          <a:xfrm>
            <a:off x="6080760" y="1554480"/>
            <a:ext cx="548640" cy="713232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1DB0864-F0E9-2858-28EF-C50ED0C825B4}"/>
              </a:ext>
            </a:extLst>
          </p:cNvPr>
          <p:cNvSpPr txBox="1"/>
          <p:nvPr/>
        </p:nvSpPr>
        <p:spPr>
          <a:xfrm>
            <a:off x="6080760" y="1554480"/>
            <a:ext cx="5486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E1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03F9078-BF91-5321-A269-68E21C0E93F9}"/>
              </a:ext>
            </a:extLst>
          </p:cNvPr>
          <p:cNvSpPr txBox="1"/>
          <p:nvPr/>
        </p:nvSpPr>
        <p:spPr>
          <a:xfrm>
            <a:off x="6720840" y="1591056"/>
            <a:ext cx="51206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Full System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EA8F80F-72D0-AF4D-37A0-2A3445ADA12D}"/>
              </a:ext>
            </a:extLst>
          </p:cNvPr>
          <p:cNvSpPr txBox="1"/>
          <p:nvPr/>
        </p:nvSpPr>
        <p:spPr>
          <a:xfrm>
            <a:off x="6720840" y="1920240"/>
            <a:ext cx="51206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latin typeface="Times New Roman" panose="02020603050405020304" pitchFamily="18" charset="0"/>
                <a:cs typeface="Times New Roman" panose="02020603050405020304" pitchFamily="18" charset="0"/>
              </a:rPr>
              <a:t>All 4 contributions active simultaneously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97976EF5-DD0A-EF72-B49B-C06304785951}"/>
              </a:ext>
            </a:extLst>
          </p:cNvPr>
          <p:cNvSpPr/>
          <p:nvPr/>
        </p:nvSpPr>
        <p:spPr>
          <a:xfrm>
            <a:off x="6080760" y="2404872"/>
            <a:ext cx="548640" cy="713232"/>
          </a:xfrm>
          <a:prstGeom prst="rect">
            <a:avLst/>
          </a:prstGeom>
          <a:solidFill>
            <a:srgbClr val="8AA8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DC432C3-F517-2DF2-8A28-D43AA952F1AB}"/>
              </a:ext>
            </a:extLst>
          </p:cNvPr>
          <p:cNvSpPr txBox="1"/>
          <p:nvPr/>
        </p:nvSpPr>
        <p:spPr>
          <a:xfrm>
            <a:off x="6080760" y="2404872"/>
            <a:ext cx="5486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1AE0315-4B48-9FAE-76F0-3EAB0F88D5AC}"/>
              </a:ext>
            </a:extLst>
          </p:cNvPr>
          <p:cNvSpPr txBox="1"/>
          <p:nvPr/>
        </p:nvSpPr>
        <p:spPr>
          <a:xfrm>
            <a:off x="6720840" y="2441448"/>
            <a:ext cx="51206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Baseline HPA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37D872F-854F-FEBD-8BFB-BDDD23933C37}"/>
              </a:ext>
            </a:extLst>
          </p:cNvPr>
          <p:cNvSpPr txBox="1"/>
          <p:nvPr/>
        </p:nvSpPr>
        <p:spPr>
          <a:xfrm>
            <a:off x="6720840" y="2770632"/>
            <a:ext cx="51206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Default Kubernetes CPU-threshold scaling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E68EE4DF-6021-838A-0B5C-C989BA25F6FB}"/>
              </a:ext>
            </a:extLst>
          </p:cNvPr>
          <p:cNvSpPr/>
          <p:nvPr/>
        </p:nvSpPr>
        <p:spPr>
          <a:xfrm>
            <a:off x="6080760" y="3255264"/>
            <a:ext cx="548640" cy="71323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83BD937-207B-3CED-CE01-20C04D2A8D3B}"/>
              </a:ext>
            </a:extLst>
          </p:cNvPr>
          <p:cNvSpPr txBox="1"/>
          <p:nvPr/>
        </p:nvSpPr>
        <p:spPr>
          <a:xfrm>
            <a:off x="6080760" y="3255264"/>
            <a:ext cx="5486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E2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99F8A50-FE4A-5F7A-9142-3215E6C77CD2}"/>
              </a:ext>
            </a:extLst>
          </p:cNvPr>
          <p:cNvSpPr txBox="1"/>
          <p:nvPr/>
        </p:nvSpPr>
        <p:spPr>
          <a:xfrm>
            <a:off x="6720840" y="3291840"/>
            <a:ext cx="51206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No Drift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4E6C7D2-9093-C0CD-3411-C3EDFC28BC67}"/>
              </a:ext>
            </a:extLst>
          </p:cNvPr>
          <p:cNvSpPr txBox="1"/>
          <p:nvPr/>
        </p:nvSpPr>
        <p:spPr>
          <a:xfrm>
            <a:off x="6720840" y="3621024"/>
            <a:ext cx="51206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Static model — no automatic retraining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EF65AD6C-C8F6-F388-4D3A-00080500907E}"/>
              </a:ext>
            </a:extLst>
          </p:cNvPr>
          <p:cNvSpPr/>
          <p:nvPr/>
        </p:nvSpPr>
        <p:spPr>
          <a:xfrm>
            <a:off x="6080760" y="4105656"/>
            <a:ext cx="548640" cy="71323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6298CD61-2394-9742-1B46-CFC4861DEBF3}"/>
              </a:ext>
            </a:extLst>
          </p:cNvPr>
          <p:cNvSpPr txBox="1"/>
          <p:nvPr/>
        </p:nvSpPr>
        <p:spPr>
          <a:xfrm>
            <a:off x="6080760" y="4105656"/>
            <a:ext cx="5486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E3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8096D8D-F375-12BB-34C3-3C0E1A34485B}"/>
              </a:ext>
            </a:extLst>
          </p:cNvPr>
          <p:cNvSpPr txBox="1"/>
          <p:nvPr/>
        </p:nvSpPr>
        <p:spPr>
          <a:xfrm>
            <a:off x="6720840" y="4142232"/>
            <a:ext cx="51206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No Confidence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352BB93-276E-0C3E-A4CA-7485C21F5E5F}"/>
              </a:ext>
            </a:extLst>
          </p:cNvPr>
          <p:cNvSpPr txBox="1"/>
          <p:nvPr/>
        </p:nvSpPr>
        <p:spPr>
          <a:xfrm>
            <a:off x="6720840" y="4471416"/>
            <a:ext cx="51206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latin typeface="Times New Roman" panose="02020603050405020304" pitchFamily="18" charset="0"/>
                <a:cs typeface="Times New Roman" panose="02020603050405020304" pitchFamily="18" charset="0"/>
              </a:rPr>
              <a:t>LSTM always applied unconditionally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58A95304-3647-06F6-3635-63633415036A}"/>
              </a:ext>
            </a:extLst>
          </p:cNvPr>
          <p:cNvSpPr/>
          <p:nvPr/>
        </p:nvSpPr>
        <p:spPr>
          <a:xfrm>
            <a:off x="6080760" y="4956048"/>
            <a:ext cx="548640" cy="71323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BF4D8BF2-9157-FF07-4188-E9A6AB231F9C}"/>
              </a:ext>
            </a:extLst>
          </p:cNvPr>
          <p:cNvSpPr txBox="1"/>
          <p:nvPr/>
        </p:nvSpPr>
        <p:spPr>
          <a:xfrm>
            <a:off x="6080760" y="4956048"/>
            <a:ext cx="5486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E4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49666186-B2E4-62F5-22E2-F8C5B7F29C35}"/>
              </a:ext>
            </a:extLst>
          </p:cNvPr>
          <p:cNvSpPr txBox="1"/>
          <p:nvPr/>
        </p:nvSpPr>
        <p:spPr>
          <a:xfrm>
            <a:off x="6720840" y="4992624"/>
            <a:ext cx="51206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No Multi-Metric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005EA2F7-6C99-4CC7-F349-58ADB5C27773}"/>
              </a:ext>
            </a:extLst>
          </p:cNvPr>
          <p:cNvSpPr txBox="1"/>
          <p:nvPr/>
        </p:nvSpPr>
        <p:spPr>
          <a:xfrm>
            <a:off x="6720840" y="5321808"/>
            <a:ext cx="51206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latin typeface="Times New Roman" panose="02020603050405020304" pitchFamily="18" charset="0"/>
                <a:cs typeface="Times New Roman" panose="02020603050405020304" pitchFamily="18" charset="0"/>
              </a:rPr>
              <a:t>CPU-only prediction — no memory/network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817EA7A4-7DF0-6468-DF80-BDF232FDF208}"/>
              </a:ext>
            </a:extLst>
          </p:cNvPr>
          <p:cNvSpPr/>
          <p:nvPr/>
        </p:nvSpPr>
        <p:spPr>
          <a:xfrm>
            <a:off x="6080760" y="5806440"/>
            <a:ext cx="548640" cy="713232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5C10C940-8257-AC6A-B595-276699E6B85F}"/>
              </a:ext>
            </a:extLst>
          </p:cNvPr>
          <p:cNvSpPr txBox="1"/>
          <p:nvPr/>
        </p:nvSpPr>
        <p:spPr>
          <a:xfrm>
            <a:off x="6080760" y="5806440"/>
            <a:ext cx="5486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E5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DA33C6C7-A873-358E-39B9-79630BDD0CFE}"/>
              </a:ext>
            </a:extLst>
          </p:cNvPr>
          <p:cNvSpPr txBox="1"/>
          <p:nvPr/>
        </p:nvSpPr>
        <p:spPr>
          <a:xfrm>
            <a:off x="6720840" y="5843016"/>
            <a:ext cx="51206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Cost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E782E131-9F77-1303-6C9F-54F1A41BD75F}"/>
              </a:ext>
            </a:extLst>
          </p:cNvPr>
          <p:cNvSpPr txBox="1"/>
          <p:nvPr/>
        </p:nvSpPr>
        <p:spPr>
          <a:xfrm>
            <a:off x="6720840" y="6172200"/>
            <a:ext cx="51206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$ logging — scaling logic unchanged</a:t>
            </a:r>
          </a:p>
        </p:txBody>
      </p:sp>
      <p:sp>
        <p:nvSpPr>
          <p:cNvPr id="212" name="TextBox 211">
            <a:extLst>
              <a:ext uri="{FF2B5EF4-FFF2-40B4-BE49-F238E27FC236}">
                <a16:creationId xmlns:a16="http://schemas.microsoft.com/office/drawing/2014/main" id="{BA7DB574-5943-8052-2835-325F5A59956A}"/>
              </a:ext>
            </a:extLst>
          </p:cNvPr>
          <p:cNvSpPr txBox="1"/>
          <p:nvPr/>
        </p:nvSpPr>
        <p:spPr>
          <a:xfrm>
            <a:off x="258665" y="6587246"/>
            <a:ext cx="815570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050" b="0" i="1" dirty="0">
                <a:latin typeface="Calibri"/>
              </a:rPr>
              <a:t>Intelligent Auto-Scaling in Kubernetes: A Machine Learning Based Predictive Approach  |  Prerna Tank (2410512)</a:t>
            </a:r>
          </a:p>
        </p:txBody>
      </p:sp>
    </p:spTree>
    <p:extLst>
      <p:ext uri="{BB962C8B-B14F-4D97-AF65-F5344CB8AC3E}">
        <p14:creationId xmlns:p14="http://schemas.microsoft.com/office/powerpoint/2010/main" val="23157649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A62FF2B-16C8-2499-DF48-B8692E8912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15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163D1A5-2137-9C02-C487-F366BD1542B0}"/>
              </a:ext>
            </a:extLst>
          </p:cNvPr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EE8F4C1-87E0-5ED6-86BA-67C1AEEA8989}"/>
              </a:ext>
            </a:extLst>
          </p:cNvPr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5BCE854-DFB7-6FE0-EEA9-7AC5E18E3BE3}"/>
              </a:ext>
            </a:extLst>
          </p:cNvPr>
          <p:cNvSpPr txBox="1"/>
          <p:nvPr/>
        </p:nvSpPr>
        <p:spPr>
          <a:xfrm>
            <a:off x="320040" y="73152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— SLA Violation Rate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EA318B6-7EF8-3D7C-A8C5-2CC3AF2DAFF9}"/>
              </a:ext>
            </a:extLst>
          </p:cNvPr>
          <p:cNvSpPr txBox="1"/>
          <p:nvPr/>
        </p:nvSpPr>
        <p:spPr>
          <a:xfrm>
            <a:off x="320040" y="566928"/>
            <a:ext cx="114300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E1 Full System achieves 50% reduction vs HPA baseline (0.0029% vs 0.0058%)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11598F6-8385-CAD1-5FB5-B664E3B159C0}"/>
              </a:ext>
            </a:extLst>
          </p:cNvPr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25C6D19-530D-DFAC-C5D6-7A88AC1E2B1D}"/>
              </a:ext>
            </a:extLst>
          </p:cNvPr>
          <p:cNvSpPr txBox="1"/>
          <p:nvPr/>
        </p:nvSpPr>
        <p:spPr>
          <a:xfrm>
            <a:off x="11795760" y="6647688"/>
            <a:ext cx="32004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</a:p>
        </p:txBody>
      </p:sp>
      <p:pic>
        <p:nvPicPr>
          <p:cNvPr id="10" name="Picture 9" descr="fig1_sla_violations.png">
            <a:extLst>
              <a:ext uri="{FF2B5EF4-FFF2-40B4-BE49-F238E27FC236}">
                <a16:creationId xmlns:a16="http://schemas.microsoft.com/office/drawing/2014/main" id="{EDB36707-D5AC-1644-8732-A664FF449E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51560"/>
            <a:ext cx="7772400" cy="548640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374FBFCA-CC16-A37B-F08F-5C62B29E227E}"/>
              </a:ext>
            </a:extLst>
          </p:cNvPr>
          <p:cNvSpPr/>
          <p:nvPr/>
        </p:nvSpPr>
        <p:spPr>
          <a:xfrm>
            <a:off x="8229600" y="1051560"/>
            <a:ext cx="3730752" cy="557784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5A765BC-2B2E-D2E8-74DE-950D7BEBBD94}"/>
              </a:ext>
            </a:extLst>
          </p:cNvPr>
          <p:cNvSpPr/>
          <p:nvPr/>
        </p:nvSpPr>
        <p:spPr>
          <a:xfrm>
            <a:off x="8229600" y="1051560"/>
            <a:ext cx="3730752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973AD5E-971E-4213-DBA3-7FD98AA86CAD}"/>
              </a:ext>
            </a:extLst>
          </p:cNvPr>
          <p:cNvSpPr txBox="1"/>
          <p:nvPr/>
        </p:nvSpPr>
        <p:spPr>
          <a:xfrm>
            <a:off x="8412480" y="1143000"/>
            <a:ext cx="34747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Findings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DD9FBB6-3A1C-CDA1-E24E-05915929EAA4}"/>
              </a:ext>
            </a:extLst>
          </p:cNvPr>
          <p:cNvSpPr/>
          <p:nvPr/>
        </p:nvSpPr>
        <p:spPr>
          <a:xfrm>
            <a:off x="8275320" y="1600200"/>
            <a:ext cx="3520440" cy="74980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E7A530F-1A64-898A-3E90-18FEC8D5518E}"/>
              </a:ext>
            </a:extLst>
          </p:cNvPr>
          <p:cNvSpPr txBox="1"/>
          <p:nvPr/>
        </p:nvSpPr>
        <p:spPr>
          <a:xfrm>
            <a:off x="8412480" y="1645920"/>
            <a:ext cx="32918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E1 Full System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7FC0187-0CBF-9F49-0163-BFF7C6B76F94}"/>
              </a:ext>
            </a:extLst>
          </p:cNvPr>
          <p:cNvSpPr txBox="1"/>
          <p:nvPr/>
        </p:nvSpPr>
        <p:spPr>
          <a:xfrm>
            <a:off x="8412480" y="1984248"/>
            <a:ext cx="32918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0.0029%  violations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F73C458-AAEB-DB3D-456E-D93C1944E339}"/>
              </a:ext>
            </a:extLst>
          </p:cNvPr>
          <p:cNvSpPr/>
          <p:nvPr/>
        </p:nvSpPr>
        <p:spPr>
          <a:xfrm>
            <a:off x="8275320" y="2441448"/>
            <a:ext cx="3520440" cy="74980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00DB3FF-3EF0-3C05-BB94-8E93D828A4D6}"/>
              </a:ext>
            </a:extLst>
          </p:cNvPr>
          <p:cNvSpPr txBox="1"/>
          <p:nvPr/>
        </p:nvSpPr>
        <p:spPr>
          <a:xfrm>
            <a:off x="8412480" y="2487168"/>
            <a:ext cx="32918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50% reduction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84EDD32-9F99-45B0-BF6A-46989A233180}"/>
              </a:ext>
            </a:extLst>
          </p:cNvPr>
          <p:cNvSpPr txBox="1"/>
          <p:nvPr/>
        </p:nvSpPr>
        <p:spPr>
          <a:xfrm>
            <a:off x="8412480" y="2825496"/>
            <a:ext cx="32918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latin typeface="Times New Roman" panose="02020603050405020304" pitchFamily="18" charset="0"/>
                <a:cs typeface="Times New Roman" panose="02020603050405020304" pitchFamily="18" charset="0"/>
              </a:rPr>
              <a:t>vs HPA baseline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9376FBA-5E24-2115-9882-98CBA213CF0B}"/>
              </a:ext>
            </a:extLst>
          </p:cNvPr>
          <p:cNvSpPr/>
          <p:nvPr/>
        </p:nvSpPr>
        <p:spPr>
          <a:xfrm>
            <a:off x="8275320" y="3282696"/>
            <a:ext cx="3520440" cy="74980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A32673C-B66C-8743-AAC9-BF88873D67E2}"/>
              </a:ext>
            </a:extLst>
          </p:cNvPr>
          <p:cNvSpPr txBox="1"/>
          <p:nvPr/>
        </p:nvSpPr>
        <p:spPr>
          <a:xfrm>
            <a:off x="8412480" y="3328415"/>
            <a:ext cx="32918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E2 No Drift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42E7513-6596-A0DA-33B6-9FF92C4A0D1B}"/>
              </a:ext>
            </a:extLst>
          </p:cNvPr>
          <p:cNvSpPr txBox="1"/>
          <p:nvPr/>
        </p:nvSpPr>
        <p:spPr>
          <a:xfrm>
            <a:off x="8412480" y="3666744"/>
            <a:ext cx="32918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latin typeface="Times New Roman" panose="02020603050405020304" pitchFamily="18" charset="0"/>
                <a:cs typeface="Times New Roman" panose="02020603050405020304" pitchFamily="18" charset="0"/>
              </a:rPr>
              <a:t>0.0058%  — same as HPA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AD0E187-CE89-5B99-5987-E3463E574FD0}"/>
              </a:ext>
            </a:extLst>
          </p:cNvPr>
          <p:cNvSpPr/>
          <p:nvPr/>
        </p:nvSpPr>
        <p:spPr>
          <a:xfrm>
            <a:off x="8275320" y="4123944"/>
            <a:ext cx="3520440" cy="74980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68F3F32-24D0-DB7C-C531-9A2B12B89A46}"/>
              </a:ext>
            </a:extLst>
          </p:cNvPr>
          <p:cNvSpPr/>
          <p:nvPr/>
        </p:nvSpPr>
        <p:spPr>
          <a:xfrm>
            <a:off x="8275320" y="4123944"/>
            <a:ext cx="64008" cy="74980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55DDEEC-2757-1D23-BAF3-8567A2FDBF1A}"/>
              </a:ext>
            </a:extLst>
          </p:cNvPr>
          <p:cNvSpPr txBox="1"/>
          <p:nvPr/>
        </p:nvSpPr>
        <p:spPr>
          <a:xfrm>
            <a:off x="8412480" y="4169663"/>
            <a:ext cx="32918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E4 CPU-only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078900C-661C-545F-AAF1-56DE63EA1B66}"/>
              </a:ext>
            </a:extLst>
          </p:cNvPr>
          <p:cNvSpPr txBox="1"/>
          <p:nvPr/>
        </p:nvSpPr>
        <p:spPr>
          <a:xfrm>
            <a:off x="8412480" y="4507992"/>
            <a:ext cx="32918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latin typeface="Times New Roman" panose="02020603050405020304" pitchFamily="18" charset="0"/>
                <a:cs typeface="Times New Roman" panose="02020603050405020304" pitchFamily="18" charset="0"/>
              </a:rPr>
              <a:t>0.0058%  — same as HPA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508888B-3790-9F2A-A03E-30C2683E7E6F}"/>
              </a:ext>
            </a:extLst>
          </p:cNvPr>
          <p:cNvSpPr/>
          <p:nvPr/>
        </p:nvSpPr>
        <p:spPr>
          <a:xfrm>
            <a:off x="8275320" y="4965192"/>
            <a:ext cx="3520440" cy="74980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08E8E27-CF0D-2FCF-F0F4-C27C35AAC573}"/>
              </a:ext>
            </a:extLst>
          </p:cNvPr>
          <p:cNvSpPr txBox="1"/>
          <p:nvPr/>
        </p:nvSpPr>
        <p:spPr>
          <a:xfrm>
            <a:off x="8412480" y="5010912"/>
            <a:ext cx="32918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E3 No Confidence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A57F9E7-8763-64F6-3D53-201C3B311B25}"/>
              </a:ext>
            </a:extLst>
          </p:cNvPr>
          <p:cNvSpPr txBox="1"/>
          <p:nvPr/>
        </p:nvSpPr>
        <p:spPr>
          <a:xfrm>
            <a:off x="8412480" y="5349240"/>
            <a:ext cx="32918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latin typeface="Times New Roman" panose="02020603050405020304" pitchFamily="18" charset="0"/>
                <a:cs typeface="Times New Roman" panose="02020603050405020304" pitchFamily="18" charset="0"/>
              </a:rPr>
              <a:t>0.0043%  — intermediate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FD12739B-A89E-B053-284D-F0FBF6251673}"/>
              </a:ext>
            </a:extLst>
          </p:cNvPr>
          <p:cNvSpPr/>
          <p:nvPr/>
        </p:nvSpPr>
        <p:spPr>
          <a:xfrm>
            <a:off x="8275320" y="5806440"/>
            <a:ext cx="3520440" cy="74980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2A0C76D-3719-5642-3C0B-D98B3D61F1C8}"/>
              </a:ext>
            </a:extLst>
          </p:cNvPr>
          <p:cNvSpPr txBox="1"/>
          <p:nvPr/>
        </p:nvSpPr>
        <p:spPr>
          <a:xfrm>
            <a:off x="8412480" y="5852159"/>
            <a:ext cx="32918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E5 No Cost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D9FAD16-CC5A-37F8-A9CF-8ABB078A74CA}"/>
              </a:ext>
            </a:extLst>
          </p:cNvPr>
          <p:cNvSpPr txBox="1"/>
          <p:nvPr/>
        </p:nvSpPr>
        <p:spPr>
          <a:xfrm>
            <a:off x="8412480" y="6190488"/>
            <a:ext cx="32918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latin typeface="Times New Roman" panose="02020603050405020304" pitchFamily="18" charset="0"/>
                <a:cs typeface="Times New Roman" panose="02020603050405020304" pitchFamily="18" charset="0"/>
              </a:rPr>
              <a:t>0.0029%  — equals E1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F7CF818-8A90-8BC4-1B28-F43EC62C54CE}"/>
              </a:ext>
            </a:extLst>
          </p:cNvPr>
          <p:cNvSpPr txBox="1"/>
          <p:nvPr/>
        </p:nvSpPr>
        <p:spPr>
          <a:xfrm>
            <a:off x="182880" y="6537960"/>
            <a:ext cx="11825935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latin typeface="Times New Roman" panose="02020603050405020304" pitchFamily="18" charset="0"/>
                <a:cs typeface="Times New Roman" panose="02020603050405020304" pitchFamily="18" charset="0"/>
              </a:rPr>
              <a:t>Intelligent Auto-Scaling in Kubernetes: A Machine Learning Based Predictive Approach  |  Prerna Tank (2410512)</a:t>
            </a:r>
          </a:p>
        </p:txBody>
      </p:sp>
    </p:spTree>
    <p:extLst>
      <p:ext uri="{BB962C8B-B14F-4D97-AF65-F5344CB8AC3E}">
        <p14:creationId xmlns:p14="http://schemas.microsoft.com/office/powerpoint/2010/main" val="39499798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39" y="264051"/>
            <a:ext cx="1109441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Related Work — Gap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89688"/>
            <a:ext cx="1109441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 recent papers (2021–2026) reviewed from IEEE, ACM, Springer, Elsevier, </a:t>
            </a:r>
            <a:r>
              <a:rPr sz="2000" b="0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arXiv</a:t>
            </a:r>
            <a:endParaRPr sz="2000" b="0" i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82880" y="6537960"/>
            <a:ext cx="11825935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latin typeface="Times New Roman" panose="02020603050405020304" pitchFamily="18" charset="0"/>
                <a:cs typeface="Times New Roman" panose="02020603050405020304" pitchFamily="18" charset="0"/>
              </a:rPr>
              <a:t>Intelligent Auto-Scaling in Kubernetes: A Machine Learning Based Predictive Approach  |  Prerna Tank (2410512)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508760"/>
            <a:ext cx="3108960" cy="365760"/>
          </a:xfrm>
          <a:prstGeom prst="rect">
            <a:avLst/>
          </a:prstGeom>
          <a:solidFill>
            <a:srgbClr val="161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410712" y="4556886"/>
            <a:ext cx="3054096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latin typeface="Times New Roman" panose="02020603050405020304" pitchFamily="18" charset="0"/>
                <a:cs typeface="Times New Roman" panose="02020603050405020304" pitchFamily="18" charset="0"/>
              </a:rPr>
              <a:t>Paper</a:t>
            </a:r>
          </a:p>
        </p:txBody>
      </p:sp>
      <p:sp>
        <p:nvSpPr>
          <p:cNvPr id="7" name="Rectangle 6"/>
          <p:cNvSpPr/>
          <p:nvPr/>
        </p:nvSpPr>
        <p:spPr>
          <a:xfrm>
            <a:off x="3383280" y="1508760"/>
            <a:ext cx="640080" cy="365760"/>
          </a:xfrm>
          <a:prstGeom prst="rect">
            <a:avLst/>
          </a:prstGeom>
          <a:solidFill>
            <a:srgbClr val="161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410712" y="1508760"/>
            <a:ext cx="585216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latin typeface="Times New Roman" panose="02020603050405020304" pitchFamily="18" charset="0"/>
                <a:cs typeface="Times New Roman" panose="02020603050405020304" pitchFamily="18" charset="0"/>
              </a:rPr>
              <a:t>Year</a:t>
            </a:r>
          </a:p>
        </p:txBody>
      </p:sp>
      <p:sp>
        <p:nvSpPr>
          <p:cNvPr id="9" name="Rectangle 8"/>
          <p:cNvSpPr/>
          <p:nvPr/>
        </p:nvSpPr>
        <p:spPr>
          <a:xfrm>
            <a:off x="4023360" y="1508760"/>
            <a:ext cx="1097280" cy="365760"/>
          </a:xfrm>
          <a:prstGeom prst="rect">
            <a:avLst/>
          </a:prstGeom>
          <a:solidFill>
            <a:srgbClr val="161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050792" y="1508760"/>
            <a:ext cx="1042416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latin typeface="Times New Roman" panose="02020603050405020304" pitchFamily="18" charset="0"/>
                <a:cs typeface="Times New Roman" panose="02020603050405020304" pitchFamily="18" charset="0"/>
              </a:rPr>
              <a:t>ML Model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120640" y="1508760"/>
            <a:ext cx="1097280" cy="365760"/>
          </a:xfrm>
          <a:prstGeom prst="rect">
            <a:avLst/>
          </a:prstGeom>
          <a:solidFill>
            <a:srgbClr val="161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148072" y="1508760"/>
            <a:ext cx="1042416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latin typeface="Times New Roman" panose="02020603050405020304" pitchFamily="18" charset="0"/>
                <a:cs typeface="Times New Roman" panose="02020603050405020304" pitchFamily="18" charset="0"/>
              </a:rPr>
              <a:t>Multi-Metric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508760"/>
            <a:ext cx="1097280" cy="365760"/>
          </a:xfrm>
          <a:prstGeom prst="rect">
            <a:avLst/>
          </a:prstGeom>
          <a:solidFill>
            <a:srgbClr val="161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245352" y="1508760"/>
            <a:ext cx="1042416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latin typeface="Times New Roman" panose="02020603050405020304" pitchFamily="18" charset="0"/>
                <a:cs typeface="Times New Roman" panose="02020603050405020304" pitchFamily="18" charset="0"/>
              </a:rPr>
              <a:t>Drift Detect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0" y="1508760"/>
            <a:ext cx="1097280" cy="365760"/>
          </a:xfrm>
          <a:prstGeom prst="rect">
            <a:avLst/>
          </a:prstGeom>
          <a:solidFill>
            <a:srgbClr val="161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342632" y="1508760"/>
            <a:ext cx="1042416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latin typeface="Times New Roman" panose="02020603050405020304" pitchFamily="18" charset="0"/>
                <a:cs typeface="Times New Roman" panose="02020603050405020304" pitchFamily="18" charset="0"/>
              </a:rPr>
              <a:t>Cost-Aware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412480" y="1508760"/>
            <a:ext cx="1371600" cy="365760"/>
          </a:xfrm>
          <a:prstGeom prst="rect">
            <a:avLst/>
          </a:prstGeom>
          <a:solidFill>
            <a:srgbClr val="161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439912" y="1508760"/>
            <a:ext cx="1316736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latin typeface="Times New Roman" panose="02020603050405020304" pitchFamily="18" charset="0"/>
                <a:cs typeface="Times New Roman" panose="02020603050405020304" pitchFamily="18" charset="0"/>
              </a:rPr>
              <a:t>Confidence Gate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1874520"/>
            <a:ext cx="3108960" cy="365760"/>
          </a:xfrm>
          <a:prstGeom prst="rect">
            <a:avLst/>
          </a:prstGeom>
          <a:solidFill>
            <a:srgbClr val="0D13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301752" y="1874520"/>
            <a:ext cx="3054096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latin typeface="Times New Roman" panose="02020603050405020304" pitchFamily="18" charset="0"/>
                <a:cs typeface="Times New Roman" panose="02020603050405020304" pitchFamily="18" charset="0"/>
              </a:rPr>
              <a:t>Toka et al. (IEEE TNSM)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383280" y="1874520"/>
            <a:ext cx="640080" cy="365760"/>
          </a:xfrm>
          <a:prstGeom prst="rect">
            <a:avLst/>
          </a:prstGeom>
          <a:solidFill>
            <a:srgbClr val="0D13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410712" y="1874520"/>
            <a:ext cx="585216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latin typeface="Times New Roman" panose="02020603050405020304" pitchFamily="18" charset="0"/>
                <a:cs typeface="Times New Roman" panose="02020603050405020304" pitchFamily="18" charset="0"/>
              </a:rPr>
              <a:t>2021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23360" y="1874520"/>
            <a:ext cx="1097280" cy="365760"/>
          </a:xfrm>
          <a:prstGeom prst="rect">
            <a:avLst/>
          </a:prstGeom>
          <a:solidFill>
            <a:srgbClr val="0D13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050792" y="1874520"/>
            <a:ext cx="1042416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latin typeface="Times New Roman" panose="02020603050405020304" pitchFamily="18" charset="0"/>
                <a:cs typeface="Times New Roman" panose="02020603050405020304" pitchFamily="18" charset="0"/>
              </a:rPr>
              <a:t>AR/HTM/LSTM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120640" y="1874520"/>
            <a:ext cx="1097280" cy="365760"/>
          </a:xfrm>
          <a:prstGeom prst="rect">
            <a:avLst/>
          </a:prstGeom>
          <a:solidFill>
            <a:srgbClr val="0D13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148072" y="1874520"/>
            <a:ext cx="1042416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latin typeface="Times New Roman" panose="02020603050405020304" pitchFamily="18" charset="0"/>
                <a:cs typeface="Times New Roman" panose="02020603050405020304" pitchFamily="18" charset="0"/>
              </a:rPr>
              <a:t>✗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17920" y="1874520"/>
            <a:ext cx="1097280" cy="365760"/>
          </a:xfrm>
          <a:prstGeom prst="rect">
            <a:avLst/>
          </a:prstGeom>
          <a:solidFill>
            <a:srgbClr val="0D13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245352" y="1874520"/>
            <a:ext cx="1042416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latin typeface="Times New Roman" panose="02020603050405020304" pitchFamily="18" charset="0"/>
                <a:cs typeface="Times New Roman" panose="02020603050405020304" pitchFamily="18" charset="0"/>
              </a:rPr>
              <a:t>✗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15200" y="1874520"/>
            <a:ext cx="1097280" cy="365760"/>
          </a:xfrm>
          <a:prstGeom prst="rect">
            <a:avLst/>
          </a:prstGeom>
          <a:solidFill>
            <a:srgbClr val="0D13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7342632" y="1874520"/>
            <a:ext cx="1042416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latin typeface="Times New Roman" panose="02020603050405020304" pitchFamily="18" charset="0"/>
                <a:cs typeface="Times New Roman" panose="02020603050405020304" pitchFamily="18" charset="0"/>
              </a:rPr>
              <a:t>Partial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412480" y="1874520"/>
            <a:ext cx="1371600" cy="365760"/>
          </a:xfrm>
          <a:prstGeom prst="rect">
            <a:avLst/>
          </a:prstGeom>
          <a:solidFill>
            <a:srgbClr val="0D13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8439912" y="1874520"/>
            <a:ext cx="1316736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latin typeface="Times New Roman" panose="02020603050405020304" pitchFamily="18" charset="0"/>
                <a:cs typeface="Times New Roman" panose="02020603050405020304" pitchFamily="18" charset="0"/>
              </a:rPr>
              <a:t>✗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" y="2240280"/>
            <a:ext cx="3108960" cy="365760"/>
          </a:xfrm>
          <a:prstGeom prst="rect">
            <a:avLst/>
          </a:prstGeom>
          <a:solidFill>
            <a:srgbClr val="0A0E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301752" y="2240280"/>
            <a:ext cx="3054096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latin typeface="Times New Roman" panose="02020603050405020304" pitchFamily="18" charset="0"/>
                <a:cs typeface="Times New Roman" panose="02020603050405020304" pitchFamily="18" charset="0"/>
              </a:rPr>
              <a:t>Dang-Quang &amp; Yoo (MDPI)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383280" y="2240280"/>
            <a:ext cx="640080" cy="365760"/>
          </a:xfrm>
          <a:prstGeom prst="rect">
            <a:avLst/>
          </a:prstGeom>
          <a:solidFill>
            <a:srgbClr val="0A0E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3410712" y="2240280"/>
            <a:ext cx="585216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latin typeface="Times New Roman" panose="02020603050405020304" pitchFamily="18" charset="0"/>
                <a:cs typeface="Times New Roman" panose="02020603050405020304" pitchFamily="18" charset="0"/>
              </a:rPr>
              <a:t>2021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023360" y="2240280"/>
            <a:ext cx="1097280" cy="365760"/>
          </a:xfrm>
          <a:prstGeom prst="rect">
            <a:avLst/>
          </a:prstGeom>
          <a:solidFill>
            <a:srgbClr val="0A0E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4050792" y="2240280"/>
            <a:ext cx="1042416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latin typeface="Times New Roman" panose="02020603050405020304" pitchFamily="18" charset="0"/>
                <a:cs typeface="Times New Roman" panose="02020603050405020304" pitchFamily="18" charset="0"/>
              </a:rPr>
              <a:t>Bi-LSTM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120640" y="2240280"/>
            <a:ext cx="1097280" cy="365760"/>
          </a:xfrm>
          <a:prstGeom prst="rect">
            <a:avLst/>
          </a:prstGeom>
          <a:solidFill>
            <a:srgbClr val="0A0E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5148072" y="2240280"/>
            <a:ext cx="1042416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latin typeface="Times New Roman" panose="02020603050405020304" pitchFamily="18" charset="0"/>
                <a:cs typeface="Times New Roman" panose="02020603050405020304" pitchFamily="18" charset="0"/>
              </a:rPr>
              <a:t>✗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217920" y="2240280"/>
            <a:ext cx="1097280" cy="365760"/>
          </a:xfrm>
          <a:prstGeom prst="rect">
            <a:avLst/>
          </a:prstGeom>
          <a:solidFill>
            <a:srgbClr val="0A0E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6245352" y="2240280"/>
            <a:ext cx="1042416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latin typeface="Times New Roman" panose="02020603050405020304" pitchFamily="18" charset="0"/>
                <a:cs typeface="Times New Roman" panose="02020603050405020304" pitchFamily="18" charset="0"/>
              </a:rPr>
              <a:t>✗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315200" y="2240280"/>
            <a:ext cx="1097280" cy="365760"/>
          </a:xfrm>
          <a:prstGeom prst="rect">
            <a:avLst/>
          </a:prstGeom>
          <a:solidFill>
            <a:srgbClr val="0A0E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7342632" y="2240280"/>
            <a:ext cx="1042416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latin typeface="Times New Roman" panose="02020603050405020304" pitchFamily="18" charset="0"/>
                <a:cs typeface="Times New Roman" panose="02020603050405020304" pitchFamily="18" charset="0"/>
              </a:rPr>
              <a:t>✗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412480" y="2240280"/>
            <a:ext cx="1371600" cy="365760"/>
          </a:xfrm>
          <a:prstGeom prst="rect">
            <a:avLst/>
          </a:prstGeom>
          <a:solidFill>
            <a:srgbClr val="0A0E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8439912" y="2240280"/>
            <a:ext cx="1316736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latin typeface="Times New Roman" panose="02020603050405020304" pitchFamily="18" charset="0"/>
                <a:cs typeface="Times New Roman" panose="02020603050405020304" pitchFamily="18" charset="0"/>
              </a:rPr>
              <a:t>✗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74320" y="2606040"/>
            <a:ext cx="3108960" cy="365760"/>
          </a:xfrm>
          <a:prstGeom prst="rect">
            <a:avLst/>
          </a:prstGeom>
          <a:solidFill>
            <a:srgbClr val="0D13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301752" y="2606040"/>
            <a:ext cx="3054096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latin typeface="Times New Roman" panose="02020603050405020304" pitchFamily="18" charset="0"/>
                <a:cs typeface="Times New Roman" panose="02020603050405020304" pitchFamily="18" charset="0"/>
              </a:rPr>
              <a:t>Xu et al. (ACM KDD)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383280" y="2606040"/>
            <a:ext cx="640080" cy="365760"/>
          </a:xfrm>
          <a:prstGeom prst="rect">
            <a:avLst/>
          </a:prstGeom>
          <a:solidFill>
            <a:srgbClr val="0D13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3410712" y="2606040"/>
            <a:ext cx="585216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latin typeface="Times New Roman" panose="02020603050405020304" pitchFamily="18" charset="0"/>
                <a:cs typeface="Times New Roman" panose="02020603050405020304" pitchFamily="18" charset="0"/>
              </a:rPr>
              <a:t>2022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023360" y="2606040"/>
            <a:ext cx="1097280" cy="365760"/>
          </a:xfrm>
          <a:prstGeom prst="rect">
            <a:avLst/>
          </a:prstGeom>
          <a:solidFill>
            <a:srgbClr val="0D13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4050792" y="2606040"/>
            <a:ext cx="1042416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latin typeface="Times New Roman" panose="02020603050405020304" pitchFamily="18" charset="0"/>
                <a:cs typeface="Times New Roman" panose="02020603050405020304" pitchFamily="18" charset="0"/>
              </a:rPr>
              <a:t>Meta-RL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120640" y="2606040"/>
            <a:ext cx="1097280" cy="365760"/>
          </a:xfrm>
          <a:prstGeom prst="rect">
            <a:avLst/>
          </a:prstGeom>
          <a:solidFill>
            <a:srgbClr val="0D13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5148072" y="2606040"/>
            <a:ext cx="1042416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latin typeface="Times New Roman" panose="02020603050405020304" pitchFamily="18" charset="0"/>
                <a:cs typeface="Times New Roman" panose="02020603050405020304" pitchFamily="18" charset="0"/>
              </a:rPr>
              <a:t>✗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217920" y="2606040"/>
            <a:ext cx="1097280" cy="365760"/>
          </a:xfrm>
          <a:prstGeom prst="rect">
            <a:avLst/>
          </a:prstGeom>
          <a:solidFill>
            <a:srgbClr val="0D13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6245352" y="2606040"/>
            <a:ext cx="1042416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latin typeface="Times New Roman" panose="02020603050405020304" pitchFamily="18" charset="0"/>
                <a:cs typeface="Times New Roman" panose="02020603050405020304" pitchFamily="18" charset="0"/>
              </a:rPr>
              <a:t>Partial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315200" y="2606040"/>
            <a:ext cx="1097280" cy="365760"/>
          </a:xfrm>
          <a:prstGeom prst="rect">
            <a:avLst/>
          </a:prstGeom>
          <a:solidFill>
            <a:srgbClr val="0D13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7342632" y="2606040"/>
            <a:ext cx="1042416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latin typeface="Times New Roman" panose="02020603050405020304" pitchFamily="18" charset="0"/>
                <a:cs typeface="Times New Roman" panose="02020603050405020304" pitchFamily="18" charset="0"/>
              </a:rPr>
              <a:t>✗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412480" y="2606040"/>
            <a:ext cx="1371600" cy="365760"/>
          </a:xfrm>
          <a:prstGeom prst="rect">
            <a:avLst/>
          </a:prstGeom>
          <a:solidFill>
            <a:srgbClr val="0D13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8439912" y="2606040"/>
            <a:ext cx="1316736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latin typeface="Times New Roman" panose="02020603050405020304" pitchFamily="18" charset="0"/>
                <a:cs typeface="Times New Roman" panose="02020603050405020304" pitchFamily="18" charset="0"/>
              </a:rPr>
              <a:t>✗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74320" y="2971800"/>
            <a:ext cx="3108960" cy="365760"/>
          </a:xfrm>
          <a:prstGeom prst="rect">
            <a:avLst/>
          </a:prstGeom>
          <a:solidFill>
            <a:srgbClr val="0A0E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301752" y="2971800"/>
            <a:ext cx="3054096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latin typeface="Times New Roman" panose="02020603050405020304" pitchFamily="18" charset="0"/>
                <a:cs typeface="Times New Roman" panose="02020603050405020304" pitchFamily="18" charset="0"/>
              </a:rPr>
              <a:t>Patil &amp; Singh (JTIT)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383280" y="2971800"/>
            <a:ext cx="640080" cy="365760"/>
          </a:xfrm>
          <a:prstGeom prst="rect">
            <a:avLst/>
          </a:prstGeom>
          <a:solidFill>
            <a:srgbClr val="0A0E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3410712" y="2971800"/>
            <a:ext cx="585216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latin typeface="Times New Roman" panose="02020603050405020304" pitchFamily="18" charset="0"/>
                <a:cs typeface="Times New Roman" panose="02020603050405020304" pitchFamily="18" charset="0"/>
              </a:rPr>
              <a:t>2023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023360" y="2971800"/>
            <a:ext cx="1097280" cy="365760"/>
          </a:xfrm>
          <a:prstGeom prst="rect">
            <a:avLst/>
          </a:prstGeom>
          <a:solidFill>
            <a:srgbClr val="0A0E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4050792" y="2971800"/>
            <a:ext cx="1042416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latin typeface="Times New Roman" panose="02020603050405020304" pitchFamily="18" charset="0"/>
                <a:cs typeface="Times New Roman" panose="02020603050405020304" pitchFamily="18" charset="0"/>
              </a:rPr>
              <a:t>LSTM+ILP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120640" y="2971800"/>
            <a:ext cx="1097280" cy="365760"/>
          </a:xfrm>
          <a:prstGeom prst="rect">
            <a:avLst/>
          </a:prstGeom>
          <a:solidFill>
            <a:srgbClr val="0A0E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5148072" y="2971800"/>
            <a:ext cx="1042416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latin typeface="Times New Roman" panose="02020603050405020304" pitchFamily="18" charset="0"/>
                <a:cs typeface="Times New Roman" panose="02020603050405020304" pitchFamily="18" charset="0"/>
              </a:rPr>
              <a:t>✓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217920" y="2971800"/>
            <a:ext cx="1097280" cy="365760"/>
          </a:xfrm>
          <a:prstGeom prst="rect">
            <a:avLst/>
          </a:prstGeom>
          <a:solidFill>
            <a:srgbClr val="0A0E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0" name="TextBox 69"/>
          <p:cNvSpPr txBox="1"/>
          <p:nvPr/>
        </p:nvSpPr>
        <p:spPr>
          <a:xfrm>
            <a:off x="6245352" y="2971800"/>
            <a:ext cx="1042416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latin typeface="Times New Roman" panose="02020603050405020304" pitchFamily="18" charset="0"/>
                <a:cs typeface="Times New Roman" panose="02020603050405020304" pitchFamily="18" charset="0"/>
              </a:rPr>
              <a:t>✗</a:t>
            </a:r>
          </a:p>
        </p:txBody>
      </p:sp>
      <p:sp>
        <p:nvSpPr>
          <p:cNvPr id="71" name="Rectangle 70"/>
          <p:cNvSpPr/>
          <p:nvPr/>
        </p:nvSpPr>
        <p:spPr>
          <a:xfrm>
            <a:off x="7315200" y="2971800"/>
            <a:ext cx="1097280" cy="365760"/>
          </a:xfrm>
          <a:prstGeom prst="rect">
            <a:avLst/>
          </a:prstGeom>
          <a:solidFill>
            <a:srgbClr val="0A0E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7342632" y="2971800"/>
            <a:ext cx="1042416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latin typeface="Times New Roman" panose="02020603050405020304" pitchFamily="18" charset="0"/>
                <a:cs typeface="Times New Roman" panose="02020603050405020304" pitchFamily="18" charset="0"/>
              </a:rPr>
              <a:t>✗</a:t>
            </a:r>
          </a:p>
        </p:txBody>
      </p:sp>
      <p:sp>
        <p:nvSpPr>
          <p:cNvPr id="73" name="Rectangle 72"/>
          <p:cNvSpPr/>
          <p:nvPr/>
        </p:nvSpPr>
        <p:spPr>
          <a:xfrm>
            <a:off x="8412480" y="2971800"/>
            <a:ext cx="1371600" cy="365760"/>
          </a:xfrm>
          <a:prstGeom prst="rect">
            <a:avLst/>
          </a:prstGeom>
          <a:solidFill>
            <a:srgbClr val="0A0E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8439912" y="2971800"/>
            <a:ext cx="1316736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latin typeface="Times New Roman" panose="02020603050405020304" pitchFamily="18" charset="0"/>
                <a:cs typeface="Times New Roman" panose="02020603050405020304" pitchFamily="18" charset="0"/>
              </a:rPr>
              <a:t>✗</a:t>
            </a:r>
          </a:p>
        </p:txBody>
      </p:sp>
      <p:sp>
        <p:nvSpPr>
          <p:cNvPr id="75" name="Rectangle 74"/>
          <p:cNvSpPr/>
          <p:nvPr/>
        </p:nvSpPr>
        <p:spPr>
          <a:xfrm>
            <a:off x="274320" y="3337560"/>
            <a:ext cx="3108960" cy="365760"/>
          </a:xfrm>
          <a:prstGeom prst="rect">
            <a:avLst/>
          </a:prstGeom>
          <a:solidFill>
            <a:srgbClr val="0D13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6" name="TextBox 75"/>
          <p:cNvSpPr txBox="1"/>
          <p:nvPr/>
        </p:nvSpPr>
        <p:spPr>
          <a:xfrm>
            <a:off x="301752" y="3337560"/>
            <a:ext cx="3054096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latin typeface="Times New Roman" panose="02020603050405020304" pitchFamily="18" charset="0"/>
                <a:cs typeface="Times New Roman" panose="02020603050405020304" pitchFamily="18" charset="0"/>
              </a:rPr>
              <a:t>Santos et al. (JNCA)</a:t>
            </a:r>
          </a:p>
        </p:txBody>
      </p:sp>
      <p:sp>
        <p:nvSpPr>
          <p:cNvPr id="77" name="Rectangle 76"/>
          <p:cNvSpPr/>
          <p:nvPr/>
        </p:nvSpPr>
        <p:spPr>
          <a:xfrm>
            <a:off x="3383280" y="3337560"/>
            <a:ext cx="640080" cy="365760"/>
          </a:xfrm>
          <a:prstGeom prst="rect">
            <a:avLst/>
          </a:prstGeom>
          <a:solidFill>
            <a:srgbClr val="0D13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8" name="TextBox 77"/>
          <p:cNvSpPr txBox="1"/>
          <p:nvPr/>
        </p:nvSpPr>
        <p:spPr>
          <a:xfrm>
            <a:off x="3410712" y="3337560"/>
            <a:ext cx="585216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latin typeface="Times New Roman" panose="02020603050405020304" pitchFamily="18" charset="0"/>
                <a:cs typeface="Times New Roman" panose="02020603050405020304" pitchFamily="18" charset="0"/>
              </a:rPr>
              <a:t>2024</a:t>
            </a:r>
          </a:p>
        </p:txBody>
      </p:sp>
      <p:sp>
        <p:nvSpPr>
          <p:cNvPr id="79" name="Rectangle 78"/>
          <p:cNvSpPr/>
          <p:nvPr/>
        </p:nvSpPr>
        <p:spPr>
          <a:xfrm>
            <a:off x="4023360" y="3337560"/>
            <a:ext cx="1097280" cy="365760"/>
          </a:xfrm>
          <a:prstGeom prst="rect">
            <a:avLst/>
          </a:prstGeom>
          <a:solidFill>
            <a:srgbClr val="0D13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0" name="TextBox 79"/>
          <p:cNvSpPr txBox="1"/>
          <p:nvPr/>
        </p:nvSpPr>
        <p:spPr>
          <a:xfrm>
            <a:off x="4050792" y="3337560"/>
            <a:ext cx="1042416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latin typeface="Times New Roman" panose="02020603050405020304" pitchFamily="18" charset="0"/>
                <a:cs typeface="Times New Roman" panose="02020603050405020304" pitchFamily="18" charset="0"/>
              </a:rPr>
              <a:t>RL</a:t>
            </a:r>
          </a:p>
        </p:txBody>
      </p:sp>
      <p:sp>
        <p:nvSpPr>
          <p:cNvPr id="81" name="Rectangle 80"/>
          <p:cNvSpPr/>
          <p:nvPr/>
        </p:nvSpPr>
        <p:spPr>
          <a:xfrm>
            <a:off x="5120640" y="3337560"/>
            <a:ext cx="1097280" cy="365760"/>
          </a:xfrm>
          <a:prstGeom prst="rect">
            <a:avLst/>
          </a:prstGeom>
          <a:solidFill>
            <a:srgbClr val="0D13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2" name="TextBox 81"/>
          <p:cNvSpPr txBox="1"/>
          <p:nvPr/>
        </p:nvSpPr>
        <p:spPr>
          <a:xfrm>
            <a:off x="5148072" y="3337560"/>
            <a:ext cx="1042416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latin typeface="Times New Roman" panose="02020603050405020304" pitchFamily="18" charset="0"/>
                <a:cs typeface="Times New Roman" panose="02020603050405020304" pitchFamily="18" charset="0"/>
              </a:rPr>
              <a:t>Partial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217920" y="3337560"/>
            <a:ext cx="1097280" cy="365760"/>
          </a:xfrm>
          <a:prstGeom prst="rect">
            <a:avLst/>
          </a:prstGeom>
          <a:solidFill>
            <a:srgbClr val="0D13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4" name="TextBox 83"/>
          <p:cNvSpPr txBox="1"/>
          <p:nvPr/>
        </p:nvSpPr>
        <p:spPr>
          <a:xfrm>
            <a:off x="6245352" y="3337560"/>
            <a:ext cx="1042416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latin typeface="Times New Roman" panose="02020603050405020304" pitchFamily="18" charset="0"/>
                <a:cs typeface="Times New Roman" panose="02020603050405020304" pitchFamily="18" charset="0"/>
              </a:rPr>
              <a:t>✗</a:t>
            </a:r>
          </a:p>
        </p:txBody>
      </p:sp>
      <p:sp>
        <p:nvSpPr>
          <p:cNvPr id="85" name="Rectangle 84"/>
          <p:cNvSpPr/>
          <p:nvPr/>
        </p:nvSpPr>
        <p:spPr>
          <a:xfrm>
            <a:off x="7315200" y="3337560"/>
            <a:ext cx="1097280" cy="365760"/>
          </a:xfrm>
          <a:prstGeom prst="rect">
            <a:avLst/>
          </a:prstGeom>
          <a:solidFill>
            <a:srgbClr val="0D13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6" name="TextBox 85"/>
          <p:cNvSpPr txBox="1"/>
          <p:nvPr/>
        </p:nvSpPr>
        <p:spPr>
          <a:xfrm>
            <a:off x="7342632" y="3337560"/>
            <a:ext cx="1042416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latin typeface="Times New Roman" panose="02020603050405020304" pitchFamily="18" charset="0"/>
                <a:cs typeface="Times New Roman" panose="02020603050405020304" pitchFamily="18" charset="0"/>
              </a:rPr>
              <a:t>Partial</a:t>
            </a:r>
          </a:p>
        </p:txBody>
      </p:sp>
      <p:sp>
        <p:nvSpPr>
          <p:cNvPr id="87" name="Rectangle 86"/>
          <p:cNvSpPr/>
          <p:nvPr/>
        </p:nvSpPr>
        <p:spPr>
          <a:xfrm>
            <a:off x="8412480" y="3337560"/>
            <a:ext cx="1371600" cy="365760"/>
          </a:xfrm>
          <a:prstGeom prst="rect">
            <a:avLst/>
          </a:prstGeom>
          <a:solidFill>
            <a:srgbClr val="0D13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8" name="TextBox 87"/>
          <p:cNvSpPr txBox="1"/>
          <p:nvPr/>
        </p:nvSpPr>
        <p:spPr>
          <a:xfrm>
            <a:off x="8439912" y="3337560"/>
            <a:ext cx="1316736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latin typeface="Times New Roman" panose="02020603050405020304" pitchFamily="18" charset="0"/>
                <a:cs typeface="Times New Roman" panose="02020603050405020304" pitchFamily="18" charset="0"/>
              </a:rPr>
              <a:t>✗</a:t>
            </a:r>
          </a:p>
        </p:txBody>
      </p:sp>
      <p:sp>
        <p:nvSpPr>
          <p:cNvPr id="89" name="Rectangle 88"/>
          <p:cNvSpPr/>
          <p:nvPr/>
        </p:nvSpPr>
        <p:spPr>
          <a:xfrm>
            <a:off x="274320" y="3703320"/>
            <a:ext cx="3108960" cy="365760"/>
          </a:xfrm>
          <a:prstGeom prst="rect">
            <a:avLst/>
          </a:prstGeom>
          <a:solidFill>
            <a:srgbClr val="0A0E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0" name="TextBox 89"/>
          <p:cNvSpPr txBox="1"/>
          <p:nvPr/>
        </p:nvSpPr>
        <p:spPr>
          <a:xfrm>
            <a:off x="301752" y="3703320"/>
            <a:ext cx="3054096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latin typeface="Times New Roman" panose="02020603050405020304" pitchFamily="18" charset="0"/>
                <a:cs typeface="Times New Roman" panose="02020603050405020304" pitchFamily="18" charset="0"/>
              </a:rPr>
              <a:t>Agarwal et al. (arXiv)</a:t>
            </a:r>
          </a:p>
        </p:txBody>
      </p:sp>
      <p:sp>
        <p:nvSpPr>
          <p:cNvPr id="91" name="Rectangle 90"/>
          <p:cNvSpPr/>
          <p:nvPr/>
        </p:nvSpPr>
        <p:spPr>
          <a:xfrm>
            <a:off x="3383280" y="3703320"/>
            <a:ext cx="640080" cy="365760"/>
          </a:xfrm>
          <a:prstGeom prst="rect">
            <a:avLst/>
          </a:prstGeom>
          <a:solidFill>
            <a:srgbClr val="0A0E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2" name="TextBox 91"/>
          <p:cNvSpPr txBox="1"/>
          <p:nvPr/>
        </p:nvSpPr>
        <p:spPr>
          <a:xfrm>
            <a:off x="3410712" y="3703320"/>
            <a:ext cx="585216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latin typeface="Times New Roman" panose="02020603050405020304" pitchFamily="18" charset="0"/>
                <a:cs typeface="Times New Roman" panose="02020603050405020304" pitchFamily="18" charset="0"/>
              </a:rPr>
              <a:t>2025</a:t>
            </a:r>
          </a:p>
        </p:txBody>
      </p:sp>
      <p:sp>
        <p:nvSpPr>
          <p:cNvPr id="93" name="Rectangle 92"/>
          <p:cNvSpPr/>
          <p:nvPr/>
        </p:nvSpPr>
        <p:spPr>
          <a:xfrm>
            <a:off x="4023360" y="3703320"/>
            <a:ext cx="1097280" cy="365760"/>
          </a:xfrm>
          <a:prstGeom prst="rect">
            <a:avLst/>
          </a:prstGeom>
          <a:solidFill>
            <a:srgbClr val="0A0E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4" name="TextBox 93"/>
          <p:cNvSpPr txBox="1"/>
          <p:nvPr/>
        </p:nvSpPr>
        <p:spPr>
          <a:xfrm>
            <a:off x="4050792" y="3703320"/>
            <a:ext cx="1042416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latin typeface="Times New Roman" panose="02020603050405020304" pitchFamily="18" charset="0"/>
                <a:cs typeface="Times New Roman" panose="02020603050405020304" pitchFamily="18" charset="0"/>
              </a:rPr>
              <a:t>LSTM+Reactive</a:t>
            </a:r>
          </a:p>
        </p:txBody>
      </p:sp>
      <p:sp>
        <p:nvSpPr>
          <p:cNvPr id="95" name="Rectangle 94"/>
          <p:cNvSpPr/>
          <p:nvPr/>
        </p:nvSpPr>
        <p:spPr>
          <a:xfrm>
            <a:off x="5120640" y="3703320"/>
            <a:ext cx="1097280" cy="365760"/>
          </a:xfrm>
          <a:prstGeom prst="rect">
            <a:avLst/>
          </a:prstGeom>
          <a:solidFill>
            <a:srgbClr val="0A0E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6" name="TextBox 95"/>
          <p:cNvSpPr txBox="1"/>
          <p:nvPr/>
        </p:nvSpPr>
        <p:spPr>
          <a:xfrm>
            <a:off x="5148072" y="3703320"/>
            <a:ext cx="1042416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latin typeface="Times New Roman" panose="02020603050405020304" pitchFamily="18" charset="0"/>
                <a:cs typeface="Times New Roman" panose="02020603050405020304" pitchFamily="18" charset="0"/>
              </a:rPr>
              <a:t>Partial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217920" y="3703320"/>
            <a:ext cx="1097280" cy="365760"/>
          </a:xfrm>
          <a:prstGeom prst="rect">
            <a:avLst/>
          </a:prstGeom>
          <a:solidFill>
            <a:srgbClr val="0A0E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8" name="TextBox 97"/>
          <p:cNvSpPr txBox="1"/>
          <p:nvPr/>
        </p:nvSpPr>
        <p:spPr>
          <a:xfrm>
            <a:off x="6245352" y="3703320"/>
            <a:ext cx="1042416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latin typeface="Times New Roman" panose="02020603050405020304" pitchFamily="18" charset="0"/>
                <a:cs typeface="Times New Roman" panose="02020603050405020304" pitchFamily="18" charset="0"/>
              </a:rPr>
              <a:t>✗</a:t>
            </a:r>
          </a:p>
        </p:txBody>
      </p:sp>
      <p:sp>
        <p:nvSpPr>
          <p:cNvPr id="99" name="Rectangle 98"/>
          <p:cNvSpPr/>
          <p:nvPr/>
        </p:nvSpPr>
        <p:spPr>
          <a:xfrm>
            <a:off x="7315200" y="3703320"/>
            <a:ext cx="1097280" cy="365760"/>
          </a:xfrm>
          <a:prstGeom prst="rect">
            <a:avLst/>
          </a:prstGeom>
          <a:solidFill>
            <a:srgbClr val="0A0E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0" name="TextBox 99"/>
          <p:cNvSpPr txBox="1"/>
          <p:nvPr/>
        </p:nvSpPr>
        <p:spPr>
          <a:xfrm>
            <a:off x="7342632" y="3703320"/>
            <a:ext cx="1042416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latin typeface="Times New Roman" panose="02020603050405020304" pitchFamily="18" charset="0"/>
                <a:cs typeface="Times New Roman" panose="02020603050405020304" pitchFamily="18" charset="0"/>
              </a:rPr>
              <a:t>✗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8412480" y="3703320"/>
            <a:ext cx="1371600" cy="365760"/>
          </a:xfrm>
          <a:prstGeom prst="rect">
            <a:avLst/>
          </a:prstGeom>
          <a:solidFill>
            <a:srgbClr val="0A0E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2" name="TextBox 101"/>
          <p:cNvSpPr txBox="1"/>
          <p:nvPr/>
        </p:nvSpPr>
        <p:spPr>
          <a:xfrm>
            <a:off x="8439912" y="3703320"/>
            <a:ext cx="1316736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latin typeface="Times New Roman" panose="02020603050405020304" pitchFamily="18" charset="0"/>
                <a:cs typeface="Times New Roman" panose="02020603050405020304" pitchFamily="18" charset="0"/>
              </a:rPr>
              <a:t>Partial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274320" y="4069080"/>
            <a:ext cx="3108960" cy="365760"/>
          </a:xfrm>
          <a:prstGeom prst="rect">
            <a:avLst/>
          </a:prstGeom>
          <a:solidFill>
            <a:srgbClr val="0D13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" name="TextBox 103"/>
          <p:cNvSpPr txBox="1"/>
          <p:nvPr/>
        </p:nvSpPr>
        <p:spPr>
          <a:xfrm>
            <a:off x="301752" y="4069080"/>
            <a:ext cx="3054096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latin typeface="Times New Roman" panose="02020603050405020304" pitchFamily="18" charset="0"/>
                <a:cs typeface="Times New Roman" panose="02020603050405020304" pitchFamily="18" charset="0"/>
              </a:rPr>
              <a:t>Kholidy et al. (Frontiers)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3383280" y="4069080"/>
            <a:ext cx="640080" cy="365760"/>
          </a:xfrm>
          <a:prstGeom prst="rect">
            <a:avLst/>
          </a:prstGeom>
          <a:solidFill>
            <a:srgbClr val="0D13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6" name="TextBox 105"/>
          <p:cNvSpPr txBox="1"/>
          <p:nvPr/>
        </p:nvSpPr>
        <p:spPr>
          <a:xfrm>
            <a:off x="3410712" y="4069080"/>
            <a:ext cx="585216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latin typeface="Times New Roman" panose="02020603050405020304" pitchFamily="18" charset="0"/>
                <a:cs typeface="Times New Roman" panose="02020603050405020304" pitchFamily="18" charset="0"/>
              </a:rPr>
              <a:t>2025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4023360" y="4069080"/>
            <a:ext cx="1097280" cy="365760"/>
          </a:xfrm>
          <a:prstGeom prst="rect">
            <a:avLst/>
          </a:prstGeom>
          <a:solidFill>
            <a:srgbClr val="0D13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8" name="TextBox 107"/>
          <p:cNvSpPr txBox="1"/>
          <p:nvPr/>
        </p:nvSpPr>
        <p:spPr>
          <a:xfrm>
            <a:off x="4050792" y="4069080"/>
            <a:ext cx="1042416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latin typeface="Times New Roman" panose="02020603050405020304" pitchFamily="18" charset="0"/>
                <a:cs typeface="Times New Roman" panose="02020603050405020304" pitchFamily="18" charset="0"/>
              </a:rPr>
              <a:t>Prophet+LSTM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5120640" y="4069080"/>
            <a:ext cx="1097280" cy="365760"/>
          </a:xfrm>
          <a:prstGeom prst="rect">
            <a:avLst/>
          </a:prstGeom>
          <a:solidFill>
            <a:srgbClr val="0D13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Box 109"/>
          <p:cNvSpPr txBox="1"/>
          <p:nvPr/>
        </p:nvSpPr>
        <p:spPr>
          <a:xfrm>
            <a:off x="5148072" y="4069080"/>
            <a:ext cx="1042416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latin typeface="Times New Roman" panose="02020603050405020304" pitchFamily="18" charset="0"/>
                <a:cs typeface="Times New Roman" panose="02020603050405020304" pitchFamily="18" charset="0"/>
              </a:rPr>
              <a:t>✗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217920" y="4069080"/>
            <a:ext cx="1097280" cy="365760"/>
          </a:xfrm>
          <a:prstGeom prst="rect">
            <a:avLst/>
          </a:prstGeom>
          <a:solidFill>
            <a:srgbClr val="0D13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2" name="TextBox 111"/>
          <p:cNvSpPr txBox="1"/>
          <p:nvPr/>
        </p:nvSpPr>
        <p:spPr>
          <a:xfrm>
            <a:off x="6245352" y="4069080"/>
            <a:ext cx="1042416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latin typeface="Times New Roman" panose="02020603050405020304" pitchFamily="18" charset="0"/>
                <a:cs typeface="Times New Roman" panose="02020603050405020304" pitchFamily="18" charset="0"/>
              </a:rPr>
              <a:t>✗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7315200" y="4069080"/>
            <a:ext cx="1097280" cy="365760"/>
          </a:xfrm>
          <a:prstGeom prst="rect">
            <a:avLst/>
          </a:prstGeom>
          <a:solidFill>
            <a:srgbClr val="0D13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4" name="TextBox 113"/>
          <p:cNvSpPr txBox="1"/>
          <p:nvPr/>
        </p:nvSpPr>
        <p:spPr>
          <a:xfrm>
            <a:off x="7342632" y="4069080"/>
            <a:ext cx="1042416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latin typeface="Times New Roman" panose="02020603050405020304" pitchFamily="18" charset="0"/>
                <a:cs typeface="Times New Roman" panose="02020603050405020304" pitchFamily="18" charset="0"/>
              </a:rPr>
              <a:t>✗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8412480" y="4069080"/>
            <a:ext cx="1371600" cy="365760"/>
          </a:xfrm>
          <a:prstGeom prst="rect">
            <a:avLst/>
          </a:prstGeom>
          <a:solidFill>
            <a:srgbClr val="0D13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6" name="TextBox 115"/>
          <p:cNvSpPr txBox="1"/>
          <p:nvPr/>
        </p:nvSpPr>
        <p:spPr>
          <a:xfrm>
            <a:off x="8439912" y="4069080"/>
            <a:ext cx="1316736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latin typeface="Times New Roman" panose="02020603050405020304" pitchFamily="18" charset="0"/>
                <a:cs typeface="Times New Roman" panose="02020603050405020304" pitchFamily="18" charset="0"/>
              </a:rPr>
              <a:t>✗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274320" y="4434840"/>
            <a:ext cx="3108960" cy="365760"/>
          </a:xfrm>
          <a:prstGeom prst="rect">
            <a:avLst/>
          </a:prstGeom>
          <a:solidFill>
            <a:srgbClr val="0A0E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8" name="TextBox 117"/>
          <p:cNvSpPr txBox="1"/>
          <p:nvPr/>
        </p:nvSpPr>
        <p:spPr>
          <a:xfrm>
            <a:off x="301752" y="4434840"/>
            <a:ext cx="3054096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latin typeface="Times New Roman" panose="02020603050405020304" pitchFamily="18" charset="0"/>
                <a:cs typeface="Times New Roman" panose="02020603050405020304" pitchFamily="18" charset="0"/>
              </a:rPr>
              <a:t>DInos (Springer)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3383280" y="4434840"/>
            <a:ext cx="640080" cy="365760"/>
          </a:xfrm>
          <a:prstGeom prst="rect">
            <a:avLst/>
          </a:prstGeom>
          <a:solidFill>
            <a:srgbClr val="0A0E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0" name="TextBox 119"/>
          <p:cNvSpPr txBox="1"/>
          <p:nvPr/>
        </p:nvSpPr>
        <p:spPr>
          <a:xfrm>
            <a:off x="3410712" y="4434840"/>
            <a:ext cx="585216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latin typeface="Times New Roman" panose="02020603050405020304" pitchFamily="18" charset="0"/>
                <a:cs typeface="Times New Roman" panose="02020603050405020304" pitchFamily="18" charset="0"/>
              </a:rPr>
              <a:t>2025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4023360" y="4434840"/>
            <a:ext cx="1097280" cy="365760"/>
          </a:xfrm>
          <a:prstGeom prst="rect">
            <a:avLst/>
          </a:prstGeom>
          <a:solidFill>
            <a:srgbClr val="0A0E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2" name="TextBox 121"/>
          <p:cNvSpPr txBox="1"/>
          <p:nvPr/>
        </p:nvSpPr>
        <p:spPr>
          <a:xfrm>
            <a:off x="4050792" y="4434840"/>
            <a:ext cx="1042416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latin typeface="Times New Roman" panose="02020603050405020304" pitchFamily="18" charset="0"/>
                <a:cs typeface="Times New Roman" panose="02020603050405020304" pitchFamily="18" charset="0"/>
              </a:rPr>
              <a:t>Deep RL+LSTM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5120640" y="4434840"/>
            <a:ext cx="1097280" cy="365760"/>
          </a:xfrm>
          <a:prstGeom prst="rect">
            <a:avLst/>
          </a:prstGeom>
          <a:solidFill>
            <a:srgbClr val="0A0E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4" name="TextBox 123"/>
          <p:cNvSpPr txBox="1"/>
          <p:nvPr/>
        </p:nvSpPr>
        <p:spPr>
          <a:xfrm>
            <a:off x="5148072" y="4434840"/>
            <a:ext cx="1042416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latin typeface="Times New Roman" panose="02020603050405020304" pitchFamily="18" charset="0"/>
                <a:cs typeface="Times New Roman" panose="02020603050405020304" pitchFamily="18" charset="0"/>
              </a:rPr>
              <a:t>Partial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6217920" y="4434840"/>
            <a:ext cx="1097280" cy="365760"/>
          </a:xfrm>
          <a:prstGeom prst="rect">
            <a:avLst/>
          </a:prstGeom>
          <a:solidFill>
            <a:srgbClr val="0A0E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6" name="TextBox 125"/>
          <p:cNvSpPr txBox="1"/>
          <p:nvPr/>
        </p:nvSpPr>
        <p:spPr>
          <a:xfrm>
            <a:off x="6245352" y="4434840"/>
            <a:ext cx="1042416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latin typeface="Times New Roman" panose="02020603050405020304" pitchFamily="18" charset="0"/>
                <a:cs typeface="Times New Roman" panose="02020603050405020304" pitchFamily="18" charset="0"/>
              </a:rPr>
              <a:t>Partial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7315200" y="4434840"/>
            <a:ext cx="1097280" cy="365760"/>
          </a:xfrm>
          <a:prstGeom prst="rect">
            <a:avLst/>
          </a:prstGeom>
          <a:solidFill>
            <a:srgbClr val="0A0E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8" name="TextBox 127"/>
          <p:cNvSpPr txBox="1"/>
          <p:nvPr/>
        </p:nvSpPr>
        <p:spPr>
          <a:xfrm>
            <a:off x="7342632" y="4434840"/>
            <a:ext cx="1042416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latin typeface="Times New Roman" panose="02020603050405020304" pitchFamily="18" charset="0"/>
                <a:cs typeface="Times New Roman" panose="02020603050405020304" pitchFamily="18" charset="0"/>
              </a:rPr>
              <a:t>✗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8412480" y="4434840"/>
            <a:ext cx="1371600" cy="365760"/>
          </a:xfrm>
          <a:prstGeom prst="rect">
            <a:avLst/>
          </a:prstGeom>
          <a:solidFill>
            <a:srgbClr val="0A0E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0" name="TextBox 129"/>
          <p:cNvSpPr txBox="1"/>
          <p:nvPr/>
        </p:nvSpPr>
        <p:spPr>
          <a:xfrm>
            <a:off x="8439912" y="4434840"/>
            <a:ext cx="1316736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latin typeface="Times New Roman" panose="02020603050405020304" pitchFamily="18" charset="0"/>
                <a:cs typeface="Times New Roman" panose="02020603050405020304" pitchFamily="18" charset="0"/>
              </a:rPr>
              <a:t>✗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274320" y="4800600"/>
            <a:ext cx="3108960" cy="365760"/>
          </a:xfrm>
          <a:prstGeom prst="rect">
            <a:avLst/>
          </a:prstGeom>
          <a:solidFill>
            <a:srgbClr val="0D13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2" name="TextBox 131"/>
          <p:cNvSpPr txBox="1"/>
          <p:nvPr/>
        </p:nvSpPr>
        <p:spPr>
          <a:xfrm>
            <a:off x="301752" y="4800600"/>
            <a:ext cx="3054096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latin typeface="Times New Roman" panose="02020603050405020304" pitchFamily="18" charset="0"/>
                <a:cs typeface="Times New Roman" panose="02020603050405020304" pitchFamily="18" charset="0"/>
              </a:rPr>
              <a:t>Attn-Double-LSTM (arXiv)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3383280" y="4800600"/>
            <a:ext cx="640080" cy="365760"/>
          </a:xfrm>
          <a:prstGeom prst="rect">
            <a:avLst/>
          </a:prstGeom>
          <a:solidFill>
            <a:srgbClr val="0D13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4" name="TextBox 133"/>
          <p:cNvSpPr txBox="1"/>
          <p:nvPr/>
        </p:nvSpPr>
        <p:spPr>
          <a:xfrm>
            <a:off x="3410712" y="4800600"/>
            <a:ext cx="585216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latin typeface="Times New Roman" panose="02020603050405020304" pitchFamily="18" charset="0"/>
                <a:cs typeface="Times New Roman" panose="02020603050405020304" pitchFamily="18" charset="0"/>
              </a:rPr>
              <a:t>2026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4023360" y="4800600"/>
            <a:ext cx="1097280" cy="365760"/>
          </a:xfrm>
          <a:prstGeom prst="rect">
            <a:avLst/>
          </a:prstGeom>
          <a:solidFill>
            <a:srgbClr val="0D13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6" name="TextBox 135"/>
          <p:cNvSpPr txBox="1"/>
          <p:nvPr/>
        </p:nvSpPr>
        <p:spPr>
          <a:xfrm>
            <a:off x="4050792" y="4800600"/>
            <a:ext cx="1042416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latin typeface="Times New Roman" panose="02020603050405020304" pitchFamily="18" charset="0"/>
                <a:cs typeface="Times New Roman" panose="02020603050405020304" pitchFamily="18" charset="0"/>
              </a:rPr>
              <a:t>Attn-LSTM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5120640" y="4800600"/>
            <a:ext cx="1097280" cy="365760"/>
          </a:xfrm>
          <a:prstGeom prst="rect">
            <a:avLst/>
          </a:prstGeom>
          <a:solidFill>
            <a:srgbClr val="0D13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8" name="TextBox 137"/>
          <p:cNvSpPr txBox="1"/>
          <p:nvPr/>
        </p:nvSpPr>
        <p:spPr>
          <a:xfrm>
            <a:off x="5148072" y="4800600"/>
            <a:ext cx="1042416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latin typeface="Times New Roman" panose="02020603050405020304" pitchFamily="18" charset="0"/>
                <a:cs typeface="Times New Roman" panose="02020603050405020304" pitchFamily="18" charset="0"/>
              </a:rPr>
              <a:t>✗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6217920" y="4800600"/>
            <a:ext cx="1097280" cy="365760"/>
          </a:xfrm>
          <a:prstGeom prst="rect">
            <a:avLst/>
          </a:prstGeom>
          <a:solidFill>
            <a:srgbClr val="0D13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0" name="TextBox 139"/>
          <p:cNvSpPr txBox="1"/>
          <p:nvPr/>
        </p:nvSpPr>
        <p:spPr>
          <a:xfrm>
            <a:off x="6245352" y="4800600"/>
            <a:ext cx="1042416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latin typeface="Times New Roman" panose="02020603050405020304" pitchFamily="18" charset="0"/>
                <a:cs typeface="Times New Roman" panose="02020603050405020304" pitchFamily="18" charset="0"/>
              </a:rPr>
              <a:t>✗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7315200" y="4800600"/>
            <a:ext cx="1097280" cy="365760"/>
          </a:xfrm>
          <a:prstGeom prst="rect">
            <a:avLst/>
          </a:prstGeom>
          <a:solidFill>
            <a:srgbClr val="0D13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2" name="TextBox 141"/>
          <p:cNvSpPr txBox="1"/>
          <p:nvPr/>
        </p:nvSpPr>
        <p:spPr>
          <a:xfrm>
            <a:off x="7342632" y="4800600"/>
            <a:ext cx="1042416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latin typeface="Times New Roman" panose="02020603050405020304" pitchFamily="18" charset="0"/>
                <a:cs typeface="Times New Roman" panose="02020603050405020304" pitchFamily="18" charset="0"/>
              </a:rPr>
              <a:t>✗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8412480" y="4800600"/>
            <a:ext cx="1371600" cy="365760"/>
          </a:xfrm>
          <a:prstGeom prst="rect">
            <a:avLst/>
          </a:prstGeom>
          <a:solidFill>
            <a:srgbClr val="0D13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4" name="TextBox 143"/>
          <p:cNvSpPr txBox="1"/>
          <p:nvPr/>
        </p:nvSpPr>
        <p:spPr>
          <a:xfrm>
            <a:off x="8439912" y="4800600"/>
            <a:ext cx="1316736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latin typeface="Times New Roman" panose="02020603050405020304" pitchFamily="18" charset="0"/>
                <a:cs typeface="Times New Roman" panose="02020603050405020304" pitchFamily="18" charset="0"/>
              </a:rPr>
              <a:t>✗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274320" y="5166360"/>
            <a:ext cx="3108960" cy="365760"/>
          </a:xfrm>
          <a:prstGeom prst="rect">
            <a:avLst/>
          </a:prstGeom>
          <a:solidFill>
            <a:srgbClr val="0A0E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6" name="TextBox 145"/>
          <p:cNvSpPr txBox="1"/>
          <p:nvPr/>
        </p:nvSpPr>
        <p:spPr>
          <a:xfrm>
            <a:off x="301752" y="5166360"/>
            <a:ext cx="3054096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latin typeface="Times New Roman" panose="02020603050405020304" pitchFamily="18" charset="0"/>
                <a:cs typeface="Times New Roman" panose="02020603050405020304" pitchFamily="18" charset="0"/>
              </a:rPr>
              <a:t>Rossi et al. (JSS)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3383280" y="5166360"/>
            <a:ext cx="640080" cy="365760"/>
          </a:xfrm>
          <a:prstGeom prst="rect">
            <a:avLst/>
          </a:prstGeom>
          <a:solidFill>
            <a:srgbClr val="0A0E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8" name="TextBox 147"/>
          <p:cNvSpPr txBox="1"/>
          <p:nvPr/>
        </p:nvSpPr>
        <p:spPr>
          <a:xfrm>
            <a:off x="3410712" y="5166360"/>
            <a:ext cx="585216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latin typeface="Times New Roman" panose="02020603050405020304" pitchFamily="18" charset="0"/>
                <a:cs typeface="Times New Roman" panose="02020603050405020304" pitchFamily="18" charset="0"/>
              </a:rPr>
              <a:t>2025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4023360" y="5166360"/>
            <a:ext cx="1097280" cy="365760"/>
          </a:xfrm>
          <a:prstGeom prst="rect">
            <a:avLst/>
          </a:prstGeom>
          <a:solidFill>
            <a:srgbClr val="0A0E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0" name="TextBox 149"/>
          <p:cNvSpPr txBox="1"/>
          <p:nvPr/>
        </p:nvSpPr>
        <p:spPr>
          <a:xfrm>
            <a:off x="4050792" y="5166360"/>
            <a:ext cx="1042416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latin typeface="Times New Roman" panose="02020603050405020304" pitchFamily="18" charset="0"/>
                <a:cs typeface="Times New Roman" panose="02020603050405020304" pitchFamily="18" charset="0"/>
              </a:rPr>
              <a:t>LLM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5120640" y="5166360"/>
            <a:ext cx="1097280" cy="365760"/>
          </a:xfrm>
          <a:prstGeom prst="rect">
            <a:avLst/>
          </a:prstGeom>
          <a:solidFill>
            <a:srgbClr val="0A0E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2" name="TextBox 151"/>
          <p:cNvSpPr txBox="1"/>
          <p:nvPr/>
        </p:nvSpPr>
        <p:spPr>
          <a:xfrm>
            <a:off x="5148072" y="5166360"/>
            <a:ext cx="1042416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latin typeface="Times New Roman" panose="02020603050405020304" pitchFamily="18" charset="0"/>
                <a:cs typeface="Times New Roman" panose="02020603050405020304" pitchFamily="18" charset="0"/>
              </a:rPr>
              <a:t>✓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6217920" y="5166360"/>
            <a:ext cx="1097280" cy="365760"/>
          </a:xfrm>
          <a:prstGeom prst="rect">
            <a:avLst/>
          </a:prstGeom>
          <a:solidFill>
            <a:srgbClr val="0A0E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4" name="TextBox 153"/>
          <p:cNvSpPr txBox="1"/>
          <p:nvPr/>
        </p:nvSpPr>
        <p:spPr>
          <a:xfrm>
            <a:off x="6245352" y="5166360"/>
            <a:ext cx="1042416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latin typeface="Times New Roman" panose="02020603050405020304" pitchFamily="18" charset="0"/>
                <a:cs typeface="Times New Roman" panose="02020603050405020304" pitchFamily="18" charset="0"/>
              </a:rPr>
              <a:t>Partial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7315200" y="5166360"/>
            <a:ext cx="1097280" cy="365760"/>
          </a:xfrm>
          <a:prstGeom prst="rect">
            <a:avLst/>
          </a:prstGeom>
          <a:solidFill>
            <a:srgbClr val="0A0E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6" name="TextBox 155"/>
          <p:cNvSpPr txBox="1"/>
          <p:nvPr/>
        </p:nvSpPr>
        <p:spPr>
          <a:xfrm>
            <a:off x="7342632" y="5166360"/>
            <a:ext cx="1042416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✗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8412480" y="5166360"/>
            <a:ext cx="1371600" cy="365760"/>
          </a:xfrm>
          <a:prstGeom prst="rect">
            <a:avLst/>
          </a:prstGeom>
          <a:solidFill>
            <a:srgbClr val="0A0E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8" name="TextBox 157"/>
          <p:cNvSpPr txBox="1"/>
          <p:nvPr/>
        </p:nvSpPr>
        <p:spPr>
          <a:xfrm>
            <a:off x="8439912" y="5166360"/>
            <a:ext cx="1316736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latin typeface="Times New Roman" panose="02020603050405020304" pitchFamily="18" charset="0"/>
                <a:cs typeface="Times New Roman" panose="02020603050405020304" pitchFamily="18" charset="0"/>
              </a:rPr>
              <a:t>✗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274320" y="5532120"/>
            <a:ext cx="3108960" cy="365760"/>
          </a:xfrm>
          <a:prstGeom prst="rect">
            <a:avLst/>
          </a:prstGeom>
          <a:solidFill>
            <a:srgbClr val="051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0" name="TextBox 159"/>
          <p:cNvSpPr txBox="1"/>
          <p:nvPr/>
        </p:nvSpPr>
        <p:spPr>
          <a:xfrm>
            <a:off x="301752" y="5532120"/>
            <a:ext cx="3054096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latin typeface="Times New Roman" panose="02020603050405020304" pitchFamily="18" charset="0"/>
                <a:cs typeface="Times New Roman" panose="02020603050405020304" pitchFamily="18" charset="0"/>
              </a:rPr>
              <a:t>This Work (Ours)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3383280" y="5532120"/>
            <a:ext cx="640080" cy="365760"/>
          </a:xfrm>
          <a:prstGeom prst="rect">
            <a:avLst/>
          </a:prstGeom>
          <a:solidFill>
            <a:srgbClr val="051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2" name="TextBox 161"/>
          <p:cNvSpPr txBox="1"/>
          <p:nvPr/>
        </p:nvSpPr>
        <p:spPr>
          <a:xfrm>
            <a:off x="3410712" y="5532120"/>
            <a:ext cx="585216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latin typeface="Times New Roman" panose="02020603050405020304" pitchFamily="18" charset="0"/>
                <a:cs typeface="Times New Roman" panose="02020603050405020304" pitchFamily="18" charset="0"/>
              </a:rPr>
              <a:t>2026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4023360" y="5532120"/>
            <a:ext cx="1097280" cy="365760"/>
          </a:xfrm>
          <a:prstGeom prst="rect">
            <a:avLst/>
          </a:prstGeom>
          <a:solidFill>
            <a:srgbClr val="051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4" name="TextBox 163"/>
          <p:cNvSpPr txBox="1"/>
          <p:nvPr/>
        </p:nvSpPr>
        <p:spPr>
          <a:xfrm>
            <a:off x="4050792" y="5532120"/>
            <a:ext cx="1042416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latin typeface="Times New Roman" panose="02020603050405020304" pitchFamily="18" charset="0"/>
                <a:cs typeface="Times New Roman" panose="02020603050405020304" pitchFamily="18" charset="0"/>
              </a:rPr>
              <a:t>LSTM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5120640" y="5532120"/>
            <a:ext cx="1097280" cy="365760"/>
          </a:xfrm>
          <a:prstGeom prst="rect">
            <a:avLst/>
          </a:prstGeom>
          <a:solidFill>
            <a:srgbClr val="051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6" name="TextBox 165"/>
          <p:cNvSpPr txBox="1"/>
          <p:nvPr/>
        </p:nvSpPr>
        <p:spPr>
          <a:xfrm>
            <a:off x="5148072" y="5532120"/>
            <a:ext cx="1042416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latin typeface="Times New Roman" panose="02020603050405020304" pitchFamily="18" charset="0"/>
                <a:cs typeface="Times New Roman" panose="02020603050405020304" pitchFamily="18" charset="0"/>
              </a:rPr>
              <a:t>✓</a:t>
            </a:r>
          </a:p>
        </p:txBody>
      </p:sp>
      <p:sp>
        <p:nvSpPr>
          <p:cNvPr id="167" name="Rectangle 166"/>
          <p:cNvSpPr/>
          <p:nvPr/>
        </p:nvSpPr>
        <p:spPr>
          <a:xfrm>
            <a:off x="6217920" y="5532120"/>
            <a:ext cx="1097280" cy="365760"/>
          </a:xfrm>
          <a:prstGeom prst="rect">
            <a:avLst/>
          </a:prstGeom>
          <a:solidFill>
            <a:srgbClr val="051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8" name="TextBox 167"/>
          <p:cNvSpPr txBox="1"/>
          <p:nvPr/>
        </p:nvSpPr>
        <p:spPr>
          <a:xfrm>
            <a:off x="6245352" y="5532120"/>
            <a:ext cx="1042416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latin typeface="Times New Roman" panose="02020603050405020304" pitchFamily="18" charset="0"/>
                <a:cs typeface="Times New Roman" panose="02020603050405020304" pitchFamily="18" charset="0"/>
              </a:rPr>
              <a:t>✓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7315200" y="5532120"/>
            <a:ext cx="1097280" cy="365760"/>
          </a:xfrm>
          <a:prstGeom prst="rect">
            <a:avLst/>
          </a:prstGeom>
          <a:solidFill>
            <a:srgbClr val="051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0" name="TextBox 169"/>
          <p:cNvSpPr txBox="1"/>
          <p:nvPr/>
        </p:nvSpPr>
        <p:spPr>
          <a:xfrm>
            <a:off x="7342632" y="5532120"/>
            <a:ext cx="1042416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latin typeface="Times New Roman" panose="02020603050405020304" pitchFamily="18" charset="0"/>
                <a:cs typeface="Times New Roman" panose="02020603050405020304" pitchFamily="18" charset="0"/>
              </a:rPr>
              <a:t>✓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8412480" y="5532120"/>
            <a:ext cx="1371600" cy="365760"/>
          </a:xfrm>
          <a:prstGeom prst="rect">
            <a:avLst/>
          </a:prstGeom>
          <a:solidFill>
            <a:srgbClr val="051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2" name="TextBox 171"/>
          <p:cNvSpPr txBox="1"/>
          <p:nvPr/>
        </p:nvSpPr>
        <p:spPr>
          <a:xfrm>
            <a:off x="8439912" y="5532120"/>
            <a:ext cx="1316736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latin typeface="Times New Roman" panose="02020603050405020304" pitchFamily="18" charset="0"/>
                <a:cs typeface="Times New Roman" panose="02020603050405020304" pitchFamily="18" charset="0"/>
              </a:rPr>
              <a:t>✓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274320" y="6035040"/>
            <a:ext cx="11643055" cy="5029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4" name="Rectangle 173"/>
          <p:cNvSpPr/>
          <p:nvPr/>
        </p:nvSpPr>
        <p:spPr>
          <a:xfrm>
            <a:off x="274320" y="6035040"/>
            <a:ext cx="11643055" cy="36576"/>
          </a:xfrm>
          <a:prstGeom prst="rect">
            <a:avLst/>
          </a:prstGeom>
          <a:solidFill>
            <a:srgbClr val="69F0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5" name="TextBox 174"/>
          <p:cNvSpPr txBox="1"/>
          <p:nvPr/>
        </p:nvSpPr>
        <p:spPr>
          <a:xfrm>
            <a:off x="411480" y="6053328"/>
            <a:ext cx="1136873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Finding: No single paper combines all 4 contributions. Our work is the first to integrate all 4 + end-to-end DevOps pipeline.</a:t>
            </a:r>
          </a:p>
        </p:txBody>
      </p:sp>
      <p:sp>
        <p:nvSpPr>
          <p:cNvPr id="176" name="Slide Number Placeholder 175">
            <a:extLst>
              <a:ext uri="{FF2B5EF4-FFF2-40B4-BE49-F238E27FC236}">
                <a16:creationId xmlns:a16="http://schemas.microsoft.com/office/drawing/2014/main" id="{7F7BCD95-8154-A8B9-DA9D-876338484E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16</a:t>
            </a:fld>
            <a:endParaRPr lang="en-US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8" name="Picture 177">
            <a:extLst>
              <a:ext uri="{FF2B5EF4-FFF2-40B4-BE49-F238E27FC236}">
                <a16:creationId xmlns:a16="http://schemas.microsoft.com/office/drawing/2014/main" id="{E91A6452-6E5C-BDA4-9F6D-3D690A3843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19304"/>
            <a:ext cx="9839325" cy="46101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502920"/>
            <a:ext cx="1109441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What's New in Our Research?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9441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our paper is different from all 10 reviewed papers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6537960"/>
            <a:ext cx="1182593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latin typeface="Times New Roman" panose="02020603050405020304" pitchFamily="18" charset="0"/>
                <a:cs typeface="Times New Roman" panose="02020603050405020304" pitchFamily="18" charset="0"/>
              </a:rPr>
              <a:t>Intelligent Auto-Scaling in Kubernetes: A Machine Learning Based Predictive Approach  |  Prerna Tank (2410512)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27632"/>
            <a:ext cx="54864" cy="1874519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03504" y="1627632"/>
            <a:ext cx="5248656" cy="187451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31520" y="1719072"/>
            <a:ext cx="49834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latin typeface="Times New Roman" panose="02020603050405020304" pitchFamily="18" charset="0"/>
                <a:cs typeface="Times New Roman" panose="02020603050405020304" pitchFamily="18" charset="0"/>
              </a:rPr>
              <a:t>1. Multi-Metric LSTM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87661"/>
            <a:ext cx="498348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Others: Most papers use single metric (CPU or HTTP requests)
Patil 2023: Uses multi-metric BUT no drift/cost/confidence
We added: CPU + Memory + Network as 3 correlated features. Network spikes predict CPU spikes 1-2 intervals ahead.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627632"/>
            <a:ext cx="54864" cy="1874519"/>
          </a:xfrm>
          <a:prstGeom prst="rect">
            <a:avLst/>
          </a:prstGeom>
          <a:solidFill>
            <a:srgbClr val="FF9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272784" y="1627632"/>
            <a:ext cx="5248656" cy="187451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400800" y="1719072"/>
            <a:ext cx="49834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latin typeface="Times New Roman" panose="02020603050405020304" pitchFamily="18" charset="0"/>
                <a:cs typeface="Times New Roman" panose="02020603050405020304" pitchFamily="18" charset="0"/>
              </a:rPr>
              <a:t>2. Drift Detection + Auto-Retrain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287661"/>
            <a:ext cx="498348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Others: No paper uses MAPE sliding window for drift
</a:t>
            </a:r>
            <a:r>
              <a:rPr sz="1400" b="0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DInos</a:t>
            </a:r>
            <a:r>
              <a:rPr sz="1400"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2025: Transfer learning (different approach)
We added: Sliding window of 20 errors, MAPE threshold &gt; 50% triggers emergency retrain. Real-time accuracy monitoring.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685031"/>
            <a:ext cx="54864" cy="1874519"/>
          </a:xfrm>
          <a:prstGeom prst="rect">
            <a:avLst/>
          </a:prstGeom>
          <a:solidFill>
            <a:srgbClr val="F06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603504" y="3685031"/>
            <a:ext cx="5248656" cy="187451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31520" y="3776471"/>
            <a:ext cx="49834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latin typeface="Times New Roman" panose="02020603050405020304" pitchFamily="18" charset="0"/>
                <a:cs typeface="Times New Roman" panose="02020603050405020304" pitchFamily="18" charset="0"/>
              </a:rPr>
              <a:t>3. Cost-Aware Scaling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345060"/>
            <a:ext cx="498348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Others: No paper tracks $ per scaling decision
Gwydion 2024: Cost-aware rewards but no per-event $ tracking
We added: Every scale-up/down logged with exact $/</a:t>
            </a:r>
            <a:r>
              <a:rPr sz="1400" b="0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hr</a:t>
            </a:r>
            <a:r>
              <a:rPr sz="1400"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impact. Enables ROI analysis: ML predictions vs reactive HPA.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3685031"/>
            <a:ext cx="54864" cy="1874519"/>
          </a:xfrm>
          <a:prstGeom prst="rect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6272784" y="3685031"/>
            <a:ext cx="5248656" cy="187451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400800" y="3776471"/>
            <a:ext cx="49834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latin typeface="Times New Roman" panose="02020603050405020304" pitchFamily="18" charset="0"/>
                <a:cs typeface="Times New Roman" panose="02020603050405020304" pitchFamily="18" charset="0"/>
              </a:rPr>
              <a:t>4. Confidence-Gated HPA Fallback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4345060"/>
            <a:ext cx="498348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Others: No paper falls back to HPA based on confidence
Agarwal 2025: Hybrid but threshold-based, not confidence-based
We added: If model confidence &lt; 70%, system falls back to Kubernetes HPA. Safety net prevents bad predictions.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6080760"/>
            <a:ext cx="11094415" cy="457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85800" y="6099048"/>
            <a:ext cx="1082009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Plus: Complete DevOps pipeline (Jenkins 9-stage CI/CD + </a:t>
            </a:r>
            <a:r>
              <a:rPr sz="1400" b="0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ArgoCD</a:t>
            </a:r>
            <a:r>
              <a:rPr sz="1400"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b="0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GitOps</a:t>
            </a:r>
            <a:r>
              <a:rPr sz="1400"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+ 3-node K8s cluster) — no research paper includes this.</a:t>
            </a:r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B08F860F-9CE3-178E-E149-39C6F925EE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17</a:t>
            </a:fld>
            <a:endParaRPr lang="en-US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502920"/>
            <a:ext cx="1109441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92400"/>
            <a:ext cx="1109441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 recent papers reviewed (2021–2026)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6537960"/>
            <a:ext cx="1182593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latin typeface="Times New Roman" panose="02020603050405020304" pitchFamily="18" charset="0"/>
                <a:cs typeface="Times New Roman" panose="02020603050405020304" pitchFamily="18" charset="0"/>
              </a:rPr>
              <a:t>Intelligent Auto-Scaling in Kubernetes: A Machine Learning Based Predictive Approach  |  Prerna Tank (2410512)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651760"/>
            <a:ext cx="5303520" cy="5669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40080" y="2697480"/>
            <a:ext cx="51206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Toka, L. et al. Machine Learning-Based Scaling Management for Kubernetes Edge Clusters. IEEE TNSM, Vol. 18, pp. 958-972, 2021.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2651760"/>
            <a:ext cx="5303520" cy="5669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309360" y="2697480"/>
            <a:ext cx="51206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latin typeface="Times New Roman" panose="02020603050405020304" pitchFamily="18" charset="0"/>
                <a:cs typeface="Times New Roman" panose="02020603050405020304" pitchFamily="18" charset="0"/>
              </a:rPr>
              <a:t>[2] Dang-Quang, N.-M. &amp; Yoo, M. Deep Learning-Based Autoscaling Using Bi-LSTM for Kubernetes. MDPI Applied Sciences, Vol. 11(9), 2021.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310128"/>
            <a:ext cx="5303520" cy="5669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40080" y="3355848"/>
            <a:ext cx="51206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[3] Xu, Y. et al. A Meta Reinforcement Learning Approach for Predictive Autoscaling in the Cloud. ACM KDD, 2022.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3310128"/>
            <a:ext cx="5303520" cy="5669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309360" y="3355848"/>
            <a:ext cx="51206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latin typeface="Times New Roman" panose="02020603050405020304" pitchFamily="18" charset="0"/>
                <a:cs typeface="Times New Roman" panose="02020603050405020304" pitchFamily="18" charset="0"/>
              </a:rPr>
              <a:t>[4] Patil, S. &amp; Singh, D.G. ILP Optimized LSTM-based Autoscaling and Scheduling in Edge-Cloud. JTIT, 2023.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968496"/>
            <a:ext cx="5303520" cy="5669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40080" y="4014216"/>
            <a:ext cx="51206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[5] Santos, J. et al. Gwydion: Efficient Auto-Scaling for Containerized Applications via RL. Elsevier JNCA, Vol. 234, 2024.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3968496"/>
            <a:ext cx="5303520" cy="5669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309360" y="4014216"/>
            <a:ext cx="51206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latin typeface="Times New Roman" panose="02020603050405020304" pitchFamily="18" charset="0"/>
                <a:cs typeface="Times New Roman" panose="02020603050405020304" pitchFamily="18" charset="0"/>
              </a:rPr>
              <a:t>[6] Agarwal et al. A Hybrid Reactive-Proactive Auto-scaling for SLA-Constrained Edge Computing. arXiv:2512.14290, 2025.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626864"/>
            <a:ext cx="5303520" cy="5669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40080" y="4672584"/>
            <a:ext cx="51206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latin typeface="Times New Roman" panose="02020603050405020304" pitchFamily="18" charset="0"/>
                <a:cs typeface="Times New Roman" panose="02020603050405020304" pitchFamily="18" charset="0"/>
              </a:rPr>
              <a:t>[7] Kholidy et al. Time Series Forecasting-Based K8s Autoscaling Using Prophet and LSTM. Frontiers in Computer Science, 2025.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4626864"/>
            <a:ext cx="5303520" cy="5669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309360" y="4672584"/>
            <a:ext cx="51206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[8] </a:t>
            </a:r>
            <a:r>
              <a:rPr sz="1200" b="0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DInos</a:t>
            </a:r>
            <a:r>
              <a:rPr sz="1200"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Deep RL Approach to Generalizable Autoscaling in Stateless Cloud Apps. Springer, 2025.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5285232"/>
            <a:ext cx="5303520" cy="5669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40080" y="5330952"/>
            <a:ext cx="51206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latin typeface="Times New Roman" panose="02020603050405020304" pitchFamily="18" charset="0"/>
                <a:cs typeface="Times New Roman" panose="02020603050405020304" pitchFamily="18" charset="0"/>
              </a:rPr>
              <a:t>[9] Mitigating Temporal Blindness in K8s Autoscaling: Attention-Double-LSTM Framework. arXiv:2603.28790, 2026.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0" y="5285232"/>
            <a:ext cx="5303520" cy="5669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309360" y="5330952"/>
            <a:ext cx="51206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latin typeface="Times New Roman" panose="02020603050405020304" pitchFamily="18" charset="0"/>
                <a:cs typeface="Times New Roman" panose="02020603050405020304" pitchFamily="18" charset="0"/>
              </a:rPr>
              <a:t>[10] Rossi et al. From Reactive to Predictive: Pattern-Aware Framework with LLM Integration. Elsevier JSS, 2025.</a:t>
            </a:r>
          </a:p>
        </p:txBody>
      </p:sp>
      <p:sp>
        <p:nvSpPr>
          <p:cNvPr id="130" name="Slide Number Placeholder 129">
            <a:extLst>
              <a:ext uri="{FF2B5EF4-FFF2-40B4-BE49-F238E27FC236}">
                <a16:creationId xmlns:a16="http://schemas.microsoft.com/office/drawing/2014/main" id="{6E532C4A-8BFD-61A2-3C5A-3C1A8D9EDC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18</a:t>
            </a:fld>
            <a:endParaRPr lang="en-US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F167BA4-E402-3206-8CCC-DF16D72885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19</a:t>
            </a:fld>
            <a:endParaRPr lang="en-US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A179F5C-5EDC-28BC-ADDE-CC1478185A81}"/>
              </a:ext>
            </a:extLst>
          </p:cNvPr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3E79714-9234-D04E-2338-AA08BC370641}"/>
              </a:ext>
            </a:extLst>
          </p:cNvPr>
          <p:cNvSpPr txBox="1"/>
          <p:nvPr/>
        </p:nvSpPr>
        <p:spPr>
          <a:xfrm>
            <a:off x="320040" y="73152"/>
            <a:ext cx="1143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Live Cluster  Verifi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cation via CLI</a:t>
            </a:r>
            <a:endParaRPr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9D1763D-833F-3824-AAF4-E9EBDCE65ABF}"/>
              </a:ext>
            </a:extLst>
          </p:cNvPr>
          <p:cNvSpPr txBox="1"/>
          <p:nvPr/>
        </p:nvSpPr>
        <p:spPr>
          <a:xfrm>
            <a:off x="320040" y="704954"/>
            <a:ext cx="11430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49 days running — real API responses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E2EEF0B-8981-DB2A-6321-4CB7CDE1E132}"/>
              </a:ext>
            </a:extLst>
          </p:cNvPr>
          <p:cNvSpPr/>
          <p:nvPr/>
        </p:nvSpPr>
        <p:spPr>
          <a:xfrm>
            <a:off x="228600" y="1051560"/>
            <a:ext cx="3657600" cy="2743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EC14927-2BFA-362A-E72E-D0513F0B6EDD}"/>
              </a:ext>
            </a:extLst>
          </p:cNvPr>
          <p:cNvSpPr/>
          <p:nvPr/>
        </p:nvSpPr>
        <p:spPr>
          <a:xfrm>
            <a:off x="228600" y="1051560"/>
            <a:ext cx="3657600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6513046-6B1E-F58C-8BC1-EA2B94733001}"/>
              </a:ext>
            </a:extLst>
          </p:cNvPr>
          <p:cNvSpPr txBox="1"/>
          <p:nvPr/>
        </p:nvSpPr>
        <p:spPr>
          <a:xfrm>
            <a:off x="365760" y="1143000"/>
            <a:ext cx="3429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>
                <a:latin typeface="Times New Roman" panose="02020603050405020304" pitchFamily="18" charset="0"/>
                <a:cs typeface="Times New Roman" panose="02020603050405020304" pitchFamily="18" charset="0"/>
              </a:rPr>
              <a:t>kubectl get nodes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94F1555-7D4B-87F8-46BC-468F14DF43B9}"/>
              </a:ext>
            </a:extLst>
          </p:cNvPr>
          <p:cNvSpPr txBox="1"/>
          <p:nvPr/>
        </p:nvSpPr>
        <p:spPr>
          <a:xfrm>
            <a:off x="365760" y="1581912"/>
            <a:ext cx="3429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master-node    Ready   49d   v1.30.14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8979DB3-6276-A0CE-607A-BC49C0D77285}"/>
              </a:ext>
            </a:extLst>
          </p:cNvPr>
          <p:cNvSpPr txBox="1"/>
          <p:nvPr/>
        </p:nvSpPr>
        <p:spPr>
          <a:xfrm>
            <a:off x="365760" y="1883664"/>
            <a:ext cx="3429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worker-node-1  Ready   49d   v1.30.14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9C99A5D-E58B-F616-C34B-7AB3A4A8A68A}"/>
              </a:ext>
            </a:extLst>
          </p:cNvPr>
          <p:cNvSpPr txBox="1"/>
          <p:nvPr/>
        </p:nvSpPr>
        <p:spPr>
          <a:xfrm>
            <a:off x="365760" y="2185416"/>
            <a:ext cx="3429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worker-node-2  Ready   49d   v1.30.14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F0B2490-13D3-C072-A97B-6AA654556D02}"/>
              </a:ext>
            </a:extLst>
          </p:cNvPr>
          <p:cNvSpPr/>
          <p:nvPr/>
        </p:nvSpPr>
        <p:spPr>
          <a:xfrm>
            <a:off x="4160520" y="1051560"/>
            <a:ext cx="3657600" cy="2743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ADF6A35-A91B-032A-A5F5-949B7E1CF43C}"/>
              </a:ext>
            </a:extLst>
          </p:cNvPr>
          <p:cNvSpPr/>
          <p:nvPr/>
        </p:nvSpPr>
        <p:spPr>
          <a:xfrm>
            <a:off x="4160520" y="1051560"/>
            <a:ext cx="3657600" cy="64008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A215143-CBCC-334B-1860-43B3432E8B8B}"/>
              </a:ext>
            </a:extLst>
          </p:cNvPr>
          <p:cNvSpPr txBox="1"/>
          <p:nvPr/>
        </p:nvSpPr>
        <p:spPr>
          <a:xfrm>
            <a:off x="4297680" y="1143000"/>
            <a:ext cx="3429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>
                <a:latin typeface="Times New Roman" panose="02020603050405020304" pitchFamily="18" charset="0"/>
                <a:cs typeface="Times New Roman" panose="02020603050405020304" pitchFamily="18" charset="0"/>
              </a:rPr>
              <a:t>/health endpoint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4F13C8E-3EA9-5A60-9E1B-7B4E09079ACF}"/>
              </a:ext>
            </a:extLst>
          </p:cNvPr>
          <p:cNvSpPr txBox="1"/>
          <p:nvPr/>
        </p:nvSpPr>
        <p:spPr>
          <a:xfrm>
            <a:off x="4297680" y="1581912"/>
            <a:ext cx="3429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status: "ok"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8F96ECC-AB6B-6DB6-5435-85238E2A3B57}"/>
              </a:ext>
            </a:extLst>
          </p:cNvPr>
          <p:cNvSpPr txBox="1"/>
          <p:nvPr/>
        </p:nvSpPr>
        <p:spPr>
          <a:xfrm>
            <a:off x="4297680" y="1883664"/>
            <a:ext cx="3429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model_type: "multi_metric_lstm"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4E55C4B-1466-43EE-7508-18D44218564A}"/>
              </a:ext>
            </a:extLst>
          </p:cNvPr>
          <p:cNvSpPr txBox="1"/>
          <p:nvPr/>
        </p:nvSpPr>
        <p:spPr>
          <a:xfrm>
            <a:off x="4297680" y="2185416"/>
            <a:ext cx="3429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features: ["</a:t>
            </a:r>
            <a:r>
              <a:rPr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cpu</a:t>
            </a:r>
            <a:r>
              <a:rPr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","</a:t>
            </a:r>
            <a:r>
              <a:rPr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memory","network</a:t>
            </a:r>
            <a:r>
              <a:rPr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"]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6F011D9-0941-D484-0049-E0E9AAFEB939}"/>
              </a:ext>
            </a:extLst>
          </p:cNvPr>
          <p:cNvSpPr txBox="1"/>
          <p:nvPr/>
        </p:nvSpPr>
        <p:spPr>
          <a:xfrm>
            <a:off x="4297680" y="2487168"/>
            <a:ext cx="3429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retrain_count: 5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C8AFBEE-D301-32AC-CBBF-AD0051963832}"/>
              </a:ext>
            </a:extLst>
          </p:cNvPr>
          <p:cNvSpPr/>
          <p:nvPr/>
        </p:nvSpPr>
        <p:spPr>
          <a:xfrm>
            <a:off x="8092440" y="1051560"/>
            <a:ext cx="3657600" cy="2743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F0114AB-B6EF-F472-635A-7E314A4EDDE6}"/>
              </a:ext>
            </a:extLst>
          </p:cNvPr>
          <p:cNvSpPr/>
          <p:nvPr/>
        </p:nvSpPr>
        <p:spPr>
          <a:xfrm>
            <a:off x="8092440" y="1051560"/>
            <a:ext cx="3657600" cy="64008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6F93203-5D77-C06D-01C6-17135B020F1E}"/>
              </a:ext>
            </a:extLst>
          </p:cNvPr>
          <p:cNvSpPr txBox="1"/>
          <p:nvPr/>
        </p:nvSpPr>
        <p:spPr>
          <a:xfrm>
            <a:off x="8229600" y="1143000"/>
            <a:ext cx="3429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>
                <a:latin typeface="Times New Roman" panose="02020603050405020304" pitchFamily="18" charset="0"/>
                <a:cs typeface="Times New Roman" panose="02020603050405020304" pitchFamily="18" charset="0"/>
              </a:rPr>
              <a:t>/predict endpoint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9A18D69-AE4F-4CB3-CD41-A0E0148923E9}"/>
              </a:ext>
            </a:extLst>
          </p:cNvPr>
          <p:cNvSpPr txBox="1"/>
          <p:nvPr/>
        </p:nvSpPr>
        <p:spPr>
          <a:xfrm>
            <a:off x="8229600" y="1581912"/>
            <a:ext cx="3429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max_predicted: 0.047 cores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6896229-9026-6809-8FAA-E3A584C38A6D}"/>
              </a:ext>
            </a:extLst>
          </p:cNvPr>
          <p:cNvSpPr txBox="1"/>
          <p:nvPr/>
        </p:nvSpPr>
        <p:spPr>
          <a:xfrm>
            <a:off x="8229600" y="1883664"/>
            <a:ext cx="3429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horizon_minutes: 30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E62F228-8BB8-20A4-FCD7-5926FA14ECAF}"/>
              </a:ext>
            </a:extLst>
          </p:cNvPr>
          <p:cNvSpPr txBox="1"/>
          <p:nvPr/>
        </p:nvSpPr>
        <p:spPr>
          <a:xfrm>
            <a:off x="8229600" y="2185416"/>
            <a:ext cx="3429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features_used: cpu+memory+network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AAEE84F-3A6E-4E50-B791-ECFC773D9664}"/>
              </a:ext>
            </a:extLst>
          </p:cNvPr>
          <p:cNvSpPr txBox="1"/>
          <p:nvPr/>
        </p:nvSpPr>
        <p:spPr>
          <a:xfrm>
            <a:off x="8229600" y="2487168"/>
            <a:ext cx="3429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model_loss: 0.085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0EBA157-CAD8-78D5-9730-A469FDD385CC}"/>
              </a:ext>
            </a:extLst>
          </p:cNvPr>
          <p:cNvSpPr/>
          <p:nvPr/>
        </p:nvSpPr>
        <p:spPr>
          <a:xfrm>
            <a:off x="228600" y="3931921"/>
            <a:ext cx="3657600" cy="249631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51D8DE4-E1D7-60A8-4CA1-B054AD1DB72B}"/>
              </a:ext>
            </a:extLst>
          </p:cNvPr>
          <p:cNvSpPr/>
          <p:nvPr/>
        </p:nvSpPr>
        <p:spPr>
          <a:xfrm>
            <a:off x="228600" y="3931920"/>
            <a:ext cx="3657600" cy="64008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E51F00C-A6A5-4894-9F0F-283A78CE2F39}"/>
              </a:ext>
            </a:extLst>
          </p:cNvPr>
          <p:cNvSpPr txBox="1"/>
          <p:nvPr/>
        </p:nvSpPr>
        <p:spPr>
          <a:xfrm>
            <a:off x="365760" y="4023359"/>
            <a:ext cx="3429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>
                <a:latin typeface="Times New Roman" panose="02020603050405020304" pitchFamily="18" charset="0"/>
                <a:cs typeface="Times New Roman" panose="02020603050405020304" pitchFamily="18" charset="0"/>
              </a:rPr>
              <a:t>/drift endpoint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59A7ACE-0AC2-1048-5F9D-85F1D5691D03}"/>
              </a:ext>
            </a:extLst>
          </p:cNvPr>
          <p:cNvSpPr txBox="1"/>
          <p:nvPr/>
        </p:nvSpPr>
        <p:spPr>
          <a:xfrm>
            <a:off x="365760" y="4462272"/>
            <a:ext cx="3429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drift_detected: false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2FC7D08-2D53-E8A0-0F04-82DA47B50D95}"/>
              </a:ext>
            </a:extLst>
          </p:cNvPr>
          <p:cNvSpPr txBox="1"/>
          <p:nvPr/>
        </p:nvSpPr>
        <p:spPr>
          <a:xfrm>
            <a:off x="365760" y="4764024"/>
            <a:ext cx="3429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mean_error: 13.5%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2E615AB-5449-A0CB-1B49-1150D92B16F0}"/>
              </a:ext>
            </a:extLst>
          </p:cNvPr>
          <p:cNvSpPr txBox="1"/>
          <p:nvPr/>
        </p:nvSpPr>
        <p:spPr>
          <a:xfrm>
            <a:off x="365760" y="5065776"/>
            <a:ext cx="3429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max_error: 48.5%  (threshold=50%)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AD24208-B39F-A97C-D24C-FA4D462F8279}"/>
              </a:ext>
            </a:extLst>
          </p:cNvPr>
          <p:cNvSpPr txBox="1"/>
          <p:nvPr/>
        </p:nvSpPr>
        <p:spPr>
          <a:xfrm>
            <a:off x="365760" y="5367528"/>
            <a:ext cx="3429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total_retrains: 5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C6FEA193-038B-C036-6B45-D8FB1843387F}"/>
              </a:ext>
            </a:extLst>
          </p:cNvPr>
          <p:cNvSpPr/>
          <p:nvPr/>
        </p:nvSpPr>
        <p:spPr>
          <a:xfrm>
            <a:off x="4206240" y="3886200"/>
            <a:ext cx="3657600" cy="254203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5DE4EA21-4BCA-0421-9CA0-E9F34F271095}"/>
              </a:ext>
            </a:extLst>
          </p:cNvPr>
          <p:cNvSpPr/>
          <p:nvPr/>
        </p:nvSpPr>
        <p:spPr>
          <a:xfrm>
            <a:off x="4160520" y="3931920"/>
            <a:ext cx="3657600" cy="64008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D1B1224-6F9B-6645-AB9D-74D3301D1B14}"/>
              </a:ext>
            </a:extLst>
          </p:cNvPr>
          <p:cNvSpPr txBox="1"/>
          <p:nvPr/>
        </p:nvSpPr>
        <p:spPr>
          <a:xfrm>
            <a:off x="4297680" y="4023359"/>
            <a:ext cx="3429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>
                <a:latin typeface="Times New Roman" panose="02020603050405020304" pitchFamily="18" charset="0"/>
                <a:cs typeface="Times New Roman" panose="02020603050405020304" pitchFamily="18" charset="0"/>
              </a:rPr>
              <a:t>Predictive Scaler log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673DF93-D337-7596-452E-E8166F829CB5}"/>
              </a:ext>
            </a:extLst>
          </p:cNvPr>
          <p:cNvSpPr txBox="1"/>
          <p:nvPr/>
        </p:nvSpPr>
        <p:spPr>
          <a:xfrm>
            <a:off x="4297680" y="4462272"/>
            <a:ext cx="3429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16:07:00  SCALE DOWN  4 → 2 replicas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774590B-9913-A289-BD05-91E4610AA146}"/>
              </a:ext>
            </a:extLst>
          </p:cNvPr>
          <p:cNvSpPr txBox="1"/>
          <p:nvPr/>
        </p:nvSpPr>
        <p:spPr>
          <a:xfrm>
            <a:off x="4297680" y="4764024"/>
            <a:ext cx="3429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predicted_cpu = 0.047 cores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D023A05-38CA-7C71-EBE9-CD6F5809936F}"/>
              </a:ext>
            </a:extLst>
          </p:cNvPr>
          <p:cNvSpPr txBox="1"/>
          <p:nvPr/>
        </p:nvSpPr>
        <p:spPr>
          <a:xfrm>
            <a:off x="4297680" y="5065776"/>
            <a:ext cx="3429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Scaled </a:t>
            </a:r>
            <a:r>
              <a:rPr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myapp</a:t>
            </a:r>
            <a:r>
              <a:rPr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/web → 2 replicas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1988C6B-54AF-2113-7BF3-2AC287E144BB}"/>
              </a:ext>
            </a:extLst>
          </p:cNvPr>
          <p:cNvSpPr txBox="1"/>
          <p:nvPr/>
        </p:nvSpPr>
        <p:spPr>
          <a:xfrm>
            <a:off x="4297680" y="5367528"/>
            <a:ext cx="3429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Automatic — zero manual action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9E6839A6-0403-F072-0931-453F202ACEC7}"/>
              </a:ext>
            </a:extLst>
          </p:cNvPr>
          <p:cNvSpPr/>
          <p:nvPr/>
        </p:nvSpPr>
        <p:spPr>
          <a:xfrm>
            <a:off x="8115300" y="3911254"/>
            <a:ext cx="3657600" cy="254203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E7EC83D4-32A4-FB2A-45D7-6918CF8FA17A}"/>
              </a:ext>
            </a:extLst>
          </p:cNvPr>
          <p:cNvSpPr/>
          <p:nvPr/>
        </p:nvSpPr>
        <p:spPr>
          <a:xfrm>
            <a:off x="8092440" y="3931920"/>
            <a:ext cx="3657600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2FF6CE0-7F44-C81F-1664-AC45428E0625}"/>
              </a:ext>
            </a:extLst>
          </p:cNvPr>
          <p:cNvSpPr txBox="1"/>
          <p:nvPr/>
        </p:nvSpPr>
        <p:spPr>
          <a:xfrm>
            <a:off x="8229600" y="4023359"/>
            <a:ext cx="3429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>
                <a:latin typeface="Times New Roman" panose="02020603050405020304" pitchFamily="18" charset="0"/>
                <a:cs typeface="Times New Roman" panose="02020603050405020304" pitchFamily="18" charset="0"/>
              </a:rPr>
              <a:t>kubectl top nodes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F4FE3DD-662D-61DF-DA91-D563651D8575}"/>
              </a:ext>
            </a:extLst>
          </p:cNvPr>
          <p:cNvSpPr txBox="1"/>
          <p:nvPr/>
        </p:nvSpPr>
        <p:spPr>
          <a:xfrm>
            <a:off x="8229600" y="4462272"/>
            <a:ext cx="3429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master-node   CPU: 8%   MEM: 64%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219E728-1DAB-971A-7B8C-002781A65780}"/>
              </a:ext>
            </a:extLst>
          </p:cNvPr>
          <p:cNvSpPr txBox="1"/>
          <p:nvPr/>
        </p:nvSpPr>
        <p:spPr>
          <a:xfrm>
            <a:off x="8229600" y="4764024"/>
            <a:ext cx="3429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worker-node-1 CPU: 4%   MEM: 58%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518B074D-BE6E-C64E-2E8A-638EEF6DB63C}"/>
              </a:ext>
            </a:extLst>
          </p:cNvPr>
          <p:cNvSpPr txBox="1"/>
          <p:nvPr/>
        </p:nvSpPr>
        <p:spPr>
          <a:xfrm>
            <a:off x="8229600" y="5065776"/>
            <a:ext cx="3429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worker-node-2 CPU: 5%   MEM: 43%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0FF6A4D-D65C-F5A2-D378-0900CD8BA6A5}"/>
              </a:ext>
            </a:extLst>
          </p:cNvPr>
          <p:cNvSpPr txBox="1"/>
          <p:nvPr/>
        </p:nvSpPr>
        <p:spPr>
          <a:xfrm>
            <a:off x="8229600" y="5367528"/>
            <a:ext cx="3429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All healthy — no overload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43F8B74-AF26-9B59-6A6B-2BA247CEDB7B}"/>
              </a:ext>
            </a:extLst>
          </p:cNvPr>
          <p:cNvSpPr txBox="1"/>
          <p:nvPr/>
        </p:nvSpPr>
        <p:spPr>
          <a:xfrm>
            <a:off x="296949" y="6563584"/>
            <a:ext cx="9624291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000" b="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Intelligent Auto-Scaling in Kubernetes: A Machine Learning Based Predictive Approach  |  Prerna Tank (2410512)</a:t>
            </a:r>
          </a:p>
        </p:txBody>
      </p:sp>
    </p:spTree>
    <p:extLst>
      <p:ext uri="{BB962C8B-B14F-4D97-AF65-F5344CB8AC3E}">
        <p14:creationId xmlns:p14="http://schemas.microsoft.com/office/powerpoint/2010/main" val="92446093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502920"/>
            <a:ext cx="1109441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Live Demo</a:t>
            </a:r>
            <a:r>
              <a:rPr lang="en-US" sz="4000" b="1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Infrastructure </a:t>
            </a:r>
            <a:endParaRPr sz="4000" b="1" i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82880" y="6537960"/>
            <a:ext cx="1182593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latin typeface="Times New Roman" panose="02020603050405020304" pitchFamily="18" charset="0"/>
                <a:cs typeface="Times New Roman" panose="02020603050405020304" pitchFamily="18" charset="0"/>
              </a:rPr>
              <a:t>Intelligent Auto-Scaling in Kubernetes: A Machine Learning Based Predictive Approach  |  Prerna Tank (2410512)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72768"/>
            <a:ext cx="3474720" cy="132588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48640" y="1572768"/>
            <a:ext cx="3474720" cy="45720"/>
          </a:xfrm>
          <a:prstGeom prst="rect">
            <a:avLst/>
          </a:prstGeom>
          <a:solidFill>
            <a:srgbClr val="69F0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85800" y="1682496"/>
            <a:ext cx="32004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latin typeface="Times New Roman" panose="02020603050405020304" pitchFamily="18" charset="0"/>
                <a:cs typeface="Times New Roman" panose="02020603050405020304" pitchFamily="18" charset="0"/>
              </a:rPr>
              <a:t>Jenkins Pipeline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011680"/>
            <a:ext cx="32004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latin typeface="Times New Roman" panose="02020603050405020304" pitchFamily="18" charset="0"/>
                <a:cs typeface="Times New Roman" panose="02020603050405020304" pitchFamily="18" charset="0"/>
              </a:rPr>
              <a:t>All 9 stages completed successfully with green status indicators</a:t>
            </a:r>
          </a:p>
        </p:txBody>
      </p:sp>
      <p:sp>
        <p:nvSpPr>
          <p:cNvPr id="8" name="Rectangle 7"/>
          <p:cNvSpPr/>
          <p:nvPr/>
        </p:nvSpPr>
        <p:spPr>
          <a:xfrm>
            <a:off x="4251960" y="1572768"/>
            <a:ext cx="3474720" cy="132588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251960" y="1572768"/>
            <a:ext cx="3474720" cy="4572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389120" y="1682496"/>
            <a:ext cx="32004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latin typeface="Times New Roman" panose="02020603050405020304" pitchFamily="18" charset="0"/>
                <a:cs typeface="Times New Roman" panose="02020603050405020304" pitchFamily="18" charset="0"/>
              </a:rPr>
              <a:t>Unit Tests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2011680"/>
            <a:ext cx="32004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latin typeface="Times New Roman" panose="02020603050405020304" pitchFamily="18" charset="0"/>
                <a:cs typeface="Times New Roman" panose="02020603050405020304" pitchFamily="18" charset="0"/>
              </a:rPr>
              <a:t>21 pytest tests passing, verifying all components work correctly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55280" y="1572768"/>
            <a:ext cx="3474720" cy="132588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7955280" y="1572768"/>
            <a:ext cx="3474720" cy="45720"/>
          </a:xfrm>
          <a:prstGeom prst="rect">
            <a:avLst/>
          </a:prstGeom>
          <a:solidFill>
            <a:srgbClr val="FF9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092440" y="1682496"/>
            <a:ext cx="32004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latin typeface="Times New Roman" panose="02020603050405020304" pitchFamily="18" charset="0"/>
                <a:cs typeface="Times New Roman" panose="02020603050405020304" pitchFamily="18" charset="0"/>
              </a:rPr>
              <a:t>Code Quality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92440" y="2011680"/>
            <a:ext cx="32004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latin typeface="Times New Roman" panose="02020603050405020304" pitchFamily="18" charset="0"/>
                <a:cs typeface="Times New Roman" panose="02020603050405020304" pitchFamily="18" charset="0"/>
              </a:rPr>
              <a:t>flake8 analysis: 0 errors, full PEP 8 compliance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081528"/>
            <a:ext cx="3474720" cy="132588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548640" y="3081528"/>
            <a:ext cx="3474720" cy="45720"/>
          </a:xfrm>
          <a:prstGeom prst="rect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85800" y="3191256"/>
            <a:ext cx="32004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latin typeface="Times New Roman" panose="02020603050405020304" pitchFamily="18" charset="0"/>
                <a:cs typeface="Times New Roman" panose="02020603050405020304" pitchFamily="18" charset="0"/>
              </a:rPr>
              <a:t>Web Application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3520440"/>
            <a:ext cx="32004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latin typeface="Times New Roman" panose="02020603050405020304" pitchFamily="18" charset="0"/>
                <a:cs typeface="Times New Roman" panose="02020603050405020304" pitchFamily="18" charset="0"/>
              </a:rPr>
              <a:t>Running with student information, health checks passing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51960" y="3081528"/>
            <a:ext cx="3474720" cy="132588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4251960" y="3081528"/>
            <a:ext cx="3474720" cy="45720"/>
          </a:xfrm>
          <a:prstGeom prst="rect">
            <a:avLst/>
          </a:prstGeom>
          <a:solidFill>
            <a:srgbClr val="F06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389120" y="3191256"/>
            <a:ext cx="32004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latin typeface="Times New Roman" panose="02020603050405020304" pitchFamily="18" charset="0"/>
                <a:cs typeface="Times New Roman" panose="02020603050405020304" pitchFamily="18" charset="0"/>
              </a:rPr>
              <a:t>ArgoCD Sync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120" y="3520440"/>
            <a:ext cx="32004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latin typeface="Times New Roman" panose="02020603050405020304" pitchFamily="18" charset="0"/>
                <a:cs typeface="Times New Roman" panose="02020603050405020304" pitchFamily="18" charset="0"/>
              </a:rPr>
              <a:t>Auto-sync from GitHub triggered, cluster state reconciled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955280" y="3081528"/>
            <a:ext cx="3474720" cy="132588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7955280" y="3081528"/>
            <a:ext cx="3474720" cy="45720"/>
          </a:xfrm>
          <a:prstGeom prst="rect">
            <a:avLst/>
          </a:prstGeom>
          <a:solidFill>
            <a:srgbClr val="69F0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8092440" y="3191256"/>
            <a:ext cx="32004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latin typeface="Times New Roman" panose="02020603050405020304" pitchFamily="18" charset="0"/>
                <a:cs typeface="Times New Roman" panose="02020603050405020304" pitchFamily="18" charset="0"/>
              </a:rPr>
              <a:t>K8s Pods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92440" y="3520440"/>
            <a:ext cx="32004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latin typeface="Times New Roman" panose="02020603050405020304" pitchFamily="18" charset="0"/>
                <a:cs typeface="Times New Roman" panose="02020603050405020304" pitchFamily="18" charset="0"/>
              </a:rPr>
              <a:t>All pods running across 3-node cluster, services healthy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792" y="5543865"/>
            <a:ext cx="11094415" cy="5029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548792" y="5543865"/>
            <a:ext cx="1109441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kubectl</a:t>
            </a:r>
            <a:r>
              <a:rPr sz="1600"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get pods → web-app ✓   |   ml-predictor ✓   |   predictive-scaler ✓</a:t>
            </a:r>
          </a:p>
        </p:txBody>
      </p:sp>
      <p:sp>
        <p:nvSpPr>
          <p:cNvPr id="30" name="Slide Number Placeholder 29">
            <a:extLst>
              <a:ext uri="{FF2B5EF4-FFF2-40B4-BE49-F238E27FC236}">
                <a16:creationId xmlns:a16="http://schemas.microsoft.com/office/drawing/2014/main" id="{3BA627EC-8E98-8F92-244F-64B7271EBC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fld>
            <a:endParaRPr lang="en-US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9CE7E26-09D4-D8B6-982F-BED4AFB0AA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21</a:t>
            </a:fld>
            <a:endParaRPr lang="en-US"/>
          </a:p>
        </p:txBody>
      </p:sp>
      <p:sp>
        <p:nvSpPr>
          <p:cNvPr id="8" name="Google Shape;184;p24">
            <a:extLst>
              <a:ext uri="{FF2B5EF4-FFF2-40B4-BE49-F238E27FC236}">
                <a16:creationId xmlns:a16="http://schemas.microsoft.com/office/drawing/2014/main" id="{3D09A879-469B-1629-34D8-D1BC54765FC5}"/>
              </a:ext>
            </a:extLst>
          </p:cNvPr>
          <p:cNvSpPr txBox="1">
            <a:spLocks/>
          </p:cNvSpPr>
          <p:nvPr/>
        </p:nvSpPr>
        <p:spPr>
          <a:xfrm>
            <a:off x="-2022613" y="589928"/>
            <a:ext cx="15239697" cy="49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 cap="all" baseline="0">
                <a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  <a:latin typeface="+mj-lt"/>
                <a:ea typeface="+mj-ea"/>
                <a:cs typeface="+mj-cs"/>
              </a:defRPr>
            </a:lvl1pPr>
          </a:lstStyle>
          <a:p>
            <a:pPr algn="ctr">
              <a:spcBef>
                <a:spcPts val="0"/>
              </a:spcBef>
            </a:pPr>
            <a:r>
              <a:rPr lang="en-GB" sz="4000" b="1" dirty="0">
                <a:solidFill>
                  <a:schemeClr val="tx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Technology Stack</a:t>
            </a:r>
          </a:p>
        </p:txBody>
      </p:sp>
      <p:sp>
        <p:nvSpPr>
          <p:cNvPr id="9" name="Google Shape;185;p24">
            <a:extLst>
              <a:ext uri="{FF2B5EF4-FFF2-40B4-BE49-F238E27FC236}">
                <a16:creationId xmlns:a16="http://schemas.microsoft.com/office/drawing/2014/main" id="{229FE3CC-4CBB-56CB-1BB7-BC7C8D0DBC25}"/>
              </a:ext>
            </a:extLst>
          </p:cNvPr>
          <p:cNvSpPr txBox="1">
            <a:spLocks/>
          </p:cNvSpPr>
          <p:nvPr/>
        </p:nvSpPr>
        <p:spPr>
          <a:xfrm>
            <a:off x="369231" y="2108149"/>
            <a:ext cx="4655351" cy="452976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Font typeface="Wingdings" pitchFamily="2" charset="2"/>
              <a:buNone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INFRASTRUCTURE:</a:t>
            </a:r>
          </a:p>
          <a:p>
            <a:pPr marL="482600" indent="-342900">
              <a:buSzPts val="1400"/>
              <a:buFont typeface="Wingdings" panose="05000000000000000000" pitchFamily="2" charset="2"/>
              <a:buChar char="q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Kubernetes v1.28+ (Container Orchestration) </a:t>
            </a:r>
          </a:p>
          <a:p>
            <a:pPr marL="482600" indent="-342900">
              <a:spcBef>
                <a:spcPts val="0"/>
              </a:spcBef>
              <a:buSzPts val="1400"/>
              <a:buFont typeface="Wingdings" panose="05000000000000000000" pitchFamily="2" charset="2"/>
              <a:buChar char="q"/>
            </a:pP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Containerd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(Container Runtime)</a:t>
            </a:r>
          </a:p>
          <a:p>
            <a:pPr marL="482600" indent="-342900">
              <a:spcBef>
                <a:spcPts val="0"/>
              </a:spcBef>
              <a:buSzPts val="1400"/>
              <a:buFont typeface="Wingdings" panose="05000000000000000000" pitchFamily="2" charset="2"/>
              <a:buChar char="q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Flannel (Networking CNI)</a:t>
            </a:r>
          </a:p>
          <a:p>
            <a:pPr marL="482600" indent="-342900">
              <a:spcBef>
                <a:spcPts val="0"/>
              </a:spcBef>
              <a:buSzPts val="1400"/>
              <a:buFont typeface="Wingdings" panose="05000000000000000000" pitchFamily="2" charset="2"/>
              <a:buChar char="q"/>
            </a:pP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Traefik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v2.x (Ingress Controller)</a:t>
            </a:r>
            <a:b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Wingdings" pitchFamily="2" charset="2"/>
              <a:buNone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MONITORING &amp; OBSERVABILITY: </a:t>
            </a:r>
          </a:p>
          <a:p>
            <a:pPr marL="482600" indent="-342900">
              <a:buSzPts val="1400"/>
              <a:buFont typeface="Wingdings" panose="05000000000000000000" pitchFamily="2" charset="2"/>
              <a:buChar char="q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Prometheus (Metrics Collection)</a:t>
            </a:r>
          </a:p>
          <a:p>
            <a:pPr marL="482600" indent="-342900">
              <a:spcBef>
                <a:spcPts val="0"/>
              </a:spcBef>
              <a:buSzPts val="1400"/>
              <a:buFont typeface="Wingdings" panose="05000000000000000000" pitchFamily="2" charset="2"/>
              <a:buChar char="q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Grafana (Visualization</a:t>
            </a:r>
          </a:p>
          <a:p>
            <a:pPr marL="482600" indent="-342900">
              <a:spcBef>
                <a:spcPts val="0"/>
              </a:spcBef>
              <a:buSzPts val="1400"/>
              <a:buFont typeface="Wingdings" panose="05000000000000000000" pitchFamily="2" charset="2"/>
              <a:buChar char="q"/>
            </a:pP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Alertmanager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(Alert Routing)</a:t>
            </a:r>
          </a:p>
          <a:p>
            <a:pPr marL="482600" indent="-342900">
              <a:spcBef>
                <a:spcPts val="0"/>
              </a:spcBef>
              <a:buSzPts val="1400"/>
              <a:buFont typeface="Wingdings" panose="05000000000000000000" pitchFamily="2" charset="2"/>
              <a:buChar char="q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Loki (Log Aggregation) - In Progress</a:t>
            </a:r>
            <a:b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Google Shape;186;p24">
            <a:extLst>
              <a:ext uri="{FF2B5EF4-FFF2-40B4-BE49-F238E27FC236}">
                <a16:creationId xmlns:a16="http://schemas.microsoft.com/office/drawing/2014/main" id="{E2EAAEF6-CB13-B132-EB0A-436BC1C41006}"/>
              </a:ext>
            </a:extLst>
          </p:cNvPr>
          <p:cNvSpPr txBox="1"/>
          <p:nvPr/>
        </p:nvSpPr>
        <p:spPr>
          <a:xfrm>
            <a:off x="5597236" y="1947998"/>
            <a:ext cx="6437746" cy="44157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 dirty="0"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MACHINE LEARNING:</a:t>
            </a:r>
            <a:endParaRPr b="1" dirty="0">
              <a:latin typeface="Times New Roman" panose="02020603050405020304" pitchFamily="18" charset="0"/>
              <a:ea typeface="Lato"/>
              <a:cs typeface="Times New Roman" panose="02020603050405020304" pitchFamily="18" charset="0"/>
              <a:sym typeface="Lato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Wingdings" panose="05000000000000000000" pitchFamily="2" charset="2"/>
              <a:buChar char="q"/>
            </a:pPr>
            <a:r>
              <a:rPr lang="en-GB" dirty="0"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Python 3.9+</a:t>
            </a:r>
            <a:endParaRPr dirty="0">
              <a:latin typeface="Times New Roman" panose="02020603050405020304" pitchFamily="18" charset="0"/>
              <a:ea typeface="Lato"/>
              <a:cs typeface="Times New Roman" panose="02020603050405020304" pitchFamily="18" charset="0"/>
              <a:sym typeface="Lato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Wingdings" panose="05000000000000000000" pitchFamily="2" charset="2"/>
              <a:buChar char="q"/>
            </a:pPr>
            <a:r>
              <a:rPr lang="en-GB" dirty="0"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TensorFlow / </a:t>
            </a:r>
            <a:r>
              <a:rPr lang="en-GB" dirty="0" err="1"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PyTorch</a:t>
            </a:r>
            <a:r>
              <a:rPr lang="en-GB" dirty="0"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 (Deep Learning)</a:t>
            </a:r>
            <a:endParaRPr dirty="0">
              <a:latin typeface="Times New Roman" panose="02020603050405020304" pitchFamily="18" charset="0"/>
              <a:ea typeface="Lato"/>
              <a:cs typeface="Times New Roman" panose="02020603050405020304" pitchFamily="18" charset="0"/>
              <a:sym typeface="Lato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Wingdings" panose="05000000000000000000" pitchFamily="2" charset="2"/>
              <a:buChar char="q"/>
            </a:pPr>
            <a:r>
              <a:rPr lang="en-GB" dirty="0"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Scikit-learn (ML algorithms)</a:t>
            </a:r>
            <a:endParaRPr dirty="0">
              <a:latin typeface="Times New Roman" panose="02020603050405020304" pitchFamily="18" charset="0"/>
              <a:ea typeface="Lato"/>
              <a:cs typeface="Times New Roman" panose="02020603050405020304" pitchFamily="18" charset="0"/>
              <a:sym typeface="Lato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Wingdings" panose="05000000000000000000" pitchFamily="2" charset="2"/>
              <a:buChar char="q"/>
            </a:pPr>
            <a:r>
              <a:rPr lang="en-GB" dirty="0"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Prophet (Time Series Forecasting)</a:t>
            </a:r>
            <a:endParaRPr dirty="0">
              <a:latin typeface="Times New Roman" panose="02020603050405020304" pitchFamily="18" charset="0"/>
              <a:ea typeface="Lato"/>
              <a:cs typeface="Times New Roman" panose="02020603050405020304" pitchFamily="18" charset="0"/>
              <a:sym typeface="Lato"/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Wingdings" panose="05000000000000000000" pitchFamily="2" charset="2"/>
              <a:buChar char="q"/>
            </a:pPr>
            <a:r>
              <a:rPr lang="en-GB" dirty="0"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 Pandas, NumPy (Data Processing)</a:t>
            </a:r>
            <a:endParaRPr dirty="0">
              <a:latin typeface="Times New Roman" panose="02020603050405020304" pitchFamily="18" charset="0"/>
              <a:ea typeface="Lato"/>
              <a:cs typeface="Times New Roman" panose="02020603050405020304" pitchFamily="18" charset="0"/>
              <a:sym typeface="Lato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b="1" dirty="0"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AUTOMATION &amp; CICD: </a:t>
            </a:r>
            <a:endParaRPr b="1" dirty="0">
              <a:latin typeface="Times New Roman" panose="02020603050405020304" pitchFamily="18" charset="0"/>
              <a:ea typeface="Lato"/>
              <a:cs typeface="Times New Roman" panose="02020603050405020304" pitchFamily="18" charset="0"/>
              <a:sym typeface="Lato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Wingdings" panose="05000000000000000000" pitchFamily="2" charset="2"/>
              <a:buChar char="q"/>
            </a:pPr>
            <a:r>
              <a:rPr lang="en-GB" dirty="0" err="1"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ArgoCD</a:t>
            </a:r>
            <a:r>
              <a:rPr lang="en-GB" dirty="0"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 (</a:t>
            </a:r>
            <a:r>
              <a:rPr lang="en-GB" dirty="0" err="1"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GitOps</a:t>
            </a:r>
            <a:r>
              <a:rPr lang="en-GB" dirty="0"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)</a:t>
            </a:r>
            <a:endParaRPr dirty="0">
              <a:latin typeface="Times New Roman" panose="02020603050405020304" pitchFamily="18" charset="0"/>
              <a:ea typeface="Lato"/>
              <a:cs typeface="Times New Roman" panose="02020603050405020304" pitchFamily="18" charset="0"/>
              <a:sym typeface="Lato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Wingdings" panose="05000000000000000000" pitchFamily="2" charset="2"/>
              <a:buChar char="q"/>
            </a:pPr>
            <a:r>
              <a:rPr lang="en-GB" dirty="0"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GitHub Actions / Jenkins (CI/CD)</a:t>
            </a:r>
            <a:endParaRPr dirty="0">
              <a:latin typeface="Times New Roman" panose="02020603050405020304" pitchFamily="18" charset="0"/>
              <a:ea typeface="Lato"/>
              <a:cs typeface="Times New Roman" panose="02020603050405020304" pitchFamily="18" charset="0"/>
              <a:sym typeface="Lato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Wingdings" panose="05000000000000000000" pitchFamily="2" charset="2"/>
              <a:buChar char="q"/>
            </a:pPr>
            <a:r>
              <a:rPr lang="en-GB" dirty="0"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Docker (Containerization)</a:t>
            </a:r>
            <a:endParaRPr dirty="0">
              <a:latin typeface="Times New Roman" panose="02020603050405020304" pitchFamily="18" charset="0"/>
              <a:ea typeface="Lato"/>
              <a:cs typeface="Times New Roman" panose="02020603050405020304" pitchFamily="18" charset="0"/>
              <a:sym typeface="Lato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Wingdings" panose="05000000000000000000" pitchFamily="2" charset="2"/>
              <a:buChar char="q"/>
            </a:pPr>
            <a:r>
              <a:rPr lang="en-GB" dirty="0"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 Helm (Package Management)</a:t>
            </a:r>
            <a:br>
              <a:rPr lang="en-GB" sz="1500" dirty="0"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</a:br>
            <a:endParaRPr sz="1500" dirty="0">
              <a:latin typeface="Times New Roman" panose="02020603050405020304" pitchFamily="18" charset="0"/>
              <a:ea typeface="Lato"/>
              <a:cs typeface="Times New Roman" panose="02020603050405020304" pitchFamily="18" charset="0"/>
              <a:sym typeface="Lato"/>
            </a:endParaRPr>
          </a:p>
        </p:txBody>
      </p:sp>
      <p:sp>
        <p:nvSpPr>
          <p:cNvPr id="11" name="Google Shape;187;p24">
            <a:extLst>
              <a:ext uri="{FF2B5EF4-FFF2-40B4-BE49-F238E27FC236}">
                <a16:creationId xmlns:a16="http://schemas.microsoft.com/office/drawing/2014/main" id="{774D031A-E79D-105C-6570-94C05FF446D2}"/>
              </a:ext>
            </a:extLst>
          </p:cNvPr>
          <p:cNvSpPr txBox="1">
            <a:spLocks/>
          </p:cNvSpPr>
          <p:nvPr/>
        </p:nvSpPr>
        <p:spPr>
          <a:xfrm>
            <a:off x="8536301" y="4749851"/>
            <a:ext cx="1087573" cy="3936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ctr" anchorCtr="0">
            <a:normAutofit lnSpcReduction="10000"/>
          </a:bodyPr>
          <a:lstStyle>
            <a:defPPr>
              <a:defRPr lang="en-US"/>
            </a:defPPr>
            <a:lvl1pPr marL="0" algn="ctr" defTabSz="457200" rtl="0" eaLnBrk="1" latinLnBrk="0" hangingPunct="1">
              <a:defRPr sz="1400" b="1" kern="1200">
                <a:solidFill>
                  <a:srgbClr val="FFFFFF"/>
                </a:solidFill>
                <a:latin typeface="+mj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00000000-1234-1234-1234-123412341234}" type="slidenum">
              <a:rPr lang="en-GB" smtClean="0"/>
              <a:pPr algn="r"/>
              <a:t>21</a:t>
            </a:fld>
            <a:endParaRPr lang="en-GB"/>
          </a:p>
        </p:txBody>
      </p:sp>
      <p:sp>
        <p:nvSpPr>
          <p:cNvPr id="12" name="Google Shape;188;p24">
            <a:extLst>
              <a:ext uri="{FF2B5EF4-FFF2-40B4-BE49-F238E27FC236}">
                <a16:creationId xmlns:a16="http://schemas.microsoft.com/office/drawing/2014/main" id="{FD9002A0-3D93-A32A-04EA-6ADAE7B24177}"/>
              </a:ext>
            </a:extLst>
          </p:cNvPr>
          <p:cNvSpPr txBox="1"/>
          <p:nvPr/>
        </p:nvSpPr>
        <p:spPr>
          <a:xfrm>
            <a:off x="157018" y="6363792"/>
            <a:ext cx="16390895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INTELLIGENT AUTO-SCALING IN KUBERNETES</a:t>
            </a:r>
            <a:r>
              <a:rPr lang="en-US" sz="1300" b="1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: A Machine Learning Based Predictive Approach</a:t>
            </a:r>
            <a:r>
              <a:rPr lang="en-US" sz="2800" b="1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794623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502920"/>
            <a:ext cx="1109441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&amp; Future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" y="6537960"/>
            <a:ext cx="11825935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latin typeface="Times New Roman" panose="02020603050405020304" pitchFamily="18" charset="0"/>
                <a:cs typeface="Times New Roman" panose="02020603050405020304" pitchFamily="18" charset="0"/>
              </a:rPr>
              <a:t>Intelligent Auto-Scaling in Kubernetes: A Machine Learning Based Predictive Approach  |  Prerna Tank (2410512)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08760"/>
            <a:ext cx="5303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856232"/>
            <a:ext cx="5303520" cy="32004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48640" y="1856232"/>
            <a:ext cx="54864" cy="3200400"/>
          </a:xfrm>
          <a:prstGeom prst="rect">
            <a:avLst/>
          </a:prstGeom>
          <a:solidFill>
            <a:srgbClr val="69F0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31520" y="1947672"/>
            <a:ext cx="5029200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latin typeface="Times New Roman" panose="02020603050405020304" pitchFamily="18" charset="0"/>
                <a:cs typeface="Times New Roman" panose="02020603050405020304" pitchFamily="18" charset="0"/>
              </a:rPr>
              <a:t>✓ Successfully implemented predictive auto-scaling with LSTM neural networks
✓ 4 unique contributions not found together in any single prior work
✓ Complete end-to-end DevOps pipeline with CI/CD + GitOps (Jenkins + ArgoCD)
✓ 100% elimination of scaling delay, 54% CPU reduction per pod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1508760"/>
            <a:ext cx="5303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>
                <a:latin typeface="Times New Roman" panose="02020603050405020304" pitchFamily="18" charset="0"/>
                <a:cs typeface="Times New Roman" panose="02020603050405020304" pitchFamily="18" charset="0"/>
              </a:rPr>
              <a:t>Future Work</a:t>
            </a:r>
          </a:p>
        </p:txBody>
      </p:sp>
      <p:sp>
        <p:nvSpPr>
          <p:cNvPr id="9" name="Rectangle 8"/>
          <p:cNvSpPr/>
          <p:nvPr/>
        </p:nvSpPr>
        <p:spPr>
          <a:xfrm>
            <a:off x="6492240" y="1856232"/>
            <a:ext cx="5303520" cy="32004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492240" y="1856232"/>
            <a:ext cx="54864" cy="3200400"/>
          </a:xfrm>
          <a:prstGeom prst="rect">
            <a:avLst/>
          </a:prstGeom>
          <a:solidFill>
            <a:srgbClr val="FF9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675120" y="1947672"/>
            <a:ext cx="5029200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▶ Transformer-based models for longer forecasting horizons (hours ahead)
▶ Multi-cluster federation for cross-region scaling decisions
▶ Real-time A/B testing of scaling strategies (ML vs HPA vs hybrid)
▶ Integration with cloud cost APIs (AWS Cost Explorer, GCP Billing)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C44576B8-1139-D319-3185-585D8F6503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22</a:t>
            </a:fld>
            <a:endParaRPr lang="en-US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2880" y="6537960"/>
            <a:ext cx="1182593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latin typeface="Times New Roman" panose="02020603050405020304" pitchFamily="18" charset="0"/>
                <a:cs typeface="Times New Roman" panose="02020603050405020304" pitchFamily="18" charset="0"/>
              </a:rPr>
              <a:t>Intelligent Auto-Scaling in Kubernetes: A Machine Learning Based Predictive Approach  |  Prerna Tank (2410512)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1127729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latin typeface="Times New Roman" panose="02020603050405020304" pitchFamily="18" charset="0"/>
                <a:cs typeface="Times New Roman" panose="02020603050405020304" pitchFamily="18" charset="0"/>
              </a:rPr>
              <a:t>Prerna Tank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697480"/>
            <a:ext cx="1127729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latin typeface="Times New Roman" panose="02020603050405020304" pitchFamily="18" charset="0"/>
                <a:cs typeface="Times New Roman" panose="02020603050405020304" pitchFamily="18" charset="0"/>
              </a:rPr>
              <a:t>M.Tech (Computer Science)  |  Roll No: 2410512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017520"/>
            <a:ext cx="1127729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latin typeface="Times New Roman" panose="02020603050405020304" pitchFamily="18" charset="0"/>
                <a:cs typeface="Times New Roman" panose="02020603050405020304" pitchFamily="18" charset="0"/>
              </a:rPr>
              <a:t>Devi Ahilya Vishwavidyalaya, Indore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337560"/>
            <a:ext cx="1127729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 </a:t>
            </a:r>
            <a:r>
              <a:rPr sz="2000"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Dr. Shraddha Masih</a:t>
            </a:r>
          </a:p>
        </p:txBody>
      </p:sp>
      <p:sp>
        <p:nvSpPr>
          <p:cNvPr id="8" name="Rectangle 7"/>
          <p:cNvSpPr/>
          <p:nvPr/>
        </p:nvSpPr>
        <p:spPr>
          <a:xfrm>
            <a:off x="5394960" y="3749039"/>
            <a:ext cx="1371600" cy="457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57200" y="3971089"/>
            <a:ext cx="1127729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github.com/prerna3640/HA-K8S1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2112" y="4468952"/>
            <a:ext cx="1127729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Questions &amp; Discussion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3FACAE5B-AA5F-9CA3-CA93-312788169D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23</a:t>
            </a:fld>
            <a:endParaRPr lang="en-US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204</TotalTime>
  <Words>3186</Words>
  <Application>Microsoft Office PowerPoint</Application>
  <PresentationFormat>Widescreen</PresentationFormat>
  <Paragraphs>456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1" baseType="lpstr">
      <vt:lpstr>Aptos</vt:lpstr>
      <vt:lpstr>Arial</vt:lpstr>
      <vt:lpstr>Calibri</vt:lpstr>
      <vt:lpstr>Rockwell</vt:lpstr>
      <vt:lpstr>Rockwell Condensed</vt:lpstr>
      <vt:lpstr>Times New Roman</vt:lpstr>
      <vt:lpstr>Wingdings</vt:lpstr>
      <vt:lpstr>Wood Type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Bhavishya Tank</cp:lastModifiedBy>
  <cp:revision>5</cp:revision>
  <dcterms:created xsi:type="dcterms:W3CDTF">2013-01-27T09:14:16Z</dcterms:created>
  <dcterms:modified xsi:type="dcterms:W3CDTF">2026-05-15T19:20:24Z</dcterms:modified>
  <cp:category/>
</cp:coreProperties>
</file>