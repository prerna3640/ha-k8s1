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1A66B98-CAC4-5859-DF2B-0CBE8586D0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3CF96C-E25B-4DA9-C705-9AFC6EDF62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C35B4-04CC-4DDC-AC56-D52DBF0BADDD}" type="datetimeFigureOut">
              <a:rPr lang="en-IN" smtClean="0"/>
              <a:t>11-04-2026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4AE6F-275A-1B42-B130-5368E0983F9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3E4AC8-FD26-959A-050B-DCEAEFDA15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719D3D-376C-49A3-B555-A6C42B0C62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097045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B426CB-482C-47E8-A90C-1A4DB5C06BE3}" type="datetimeFigureOut">
              <a:rPr lang="en-IN" smtClean="0"/>
              <a:t>11-04-2026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784F89-3989-42DE-97A1-41CBB5A0281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744860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C47C8-D743-4614-96A8-2E08B890DC33}" type="datetime1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14E53-91EB-4382-93FE-0D299227C900}" type="datetime1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1DAA4-BF08-432E-A097-78FACDABB665}" type="datetime1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826D4-F9F7-4776-8467-CA4FBD4663A2}" type="datetime1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0DDC-F306-45A2-B4C5-52015C6F4D8D}" type="datetime1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3EDAE-8920-43A6-867C-5A158C998032}" type="datetime1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4F8D5-C521-4228-A9E6-D607F375DC14}" type="datetime1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7581C-1D25-4646-89D6-E5106F9524A3}" type="datetime1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76AC5-0578-47F0-8B65-611A321C5499}" type="datetime1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A741C-3084-472C-94AF-71A958B643E2}" type="datetime1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EF34-36DB-4569-A9B9-23CE15847B71}" type="datetime1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10B75-A95C-4831-A83C-62595F014691}" type="datetime1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2336" y="1113556"/>
            <a:ext cx="112772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69F0AE"/>
                </a:solidFill>
                <a:latin typeface="Calibri"/>
              </a:rPr>
              <a:t>School of Computer Science and Information Technology (SCSIT)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2336" y="2237940"/>
            <a:ext cx="112772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FA8DA"/>
                </a:solidFill>
                <a:latin typeface="Calibri"/>
              </a:rPr>
              <a:t>Devi Ahilya Vishwavidyalaya (DAVV), Indore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024" y="3270939"/>
            <a:ext cx="1127729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E8EAF6"/>
                </a:solidFill>
                <a:latin typeface="Calibri"/>
              </a:rPr>
              <a:t>INTELLIGENT AUTO-SCALING IN KUBERNETES: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112" y="3801291"/>
            <a:ext cx="11277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9FA8DA"/>
                </a:solidFill>
                <a:latin typeface="Calibri"/>
              </a:rPr>
              <a:t>A Machine Learning Based Predictive Approach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2443" y="4565868"/>
            <a:ext cx="868680" cy="457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536" y="5230568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9FA8DA"/>
                </a:solidFill>
                <a:latin typeface="Calibri"/>
              </a:rPr>
              <a:t>Guide Name: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536" y="5569589"/>
            <a:ext cx="34923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00E5FF"/>
                </a:solidFill>
                <a:latin typeface="Calibri"/>
              </a:rPr>
              <a:t>Dr. Shraddha Masih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4510" y="5224410"/>
            <a:ext cx="3474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 dirty="0">
                <a:solidFill>
                  <a:srgbClr val="9FA8DA"/>
                </a:solidFill>
                <a:latin typeface="Calibri"/>
              </a:rPr>
              <a:t>Presented by: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8184" y="5538812"/>
            <a:ext cx="3474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200" b="1" i="0" dirty="0">
                <a:solidFill>
                  <a:srgbClr val="FF9100"/>
                </a:solidFill>
                <a:latin typeface="Calibri"/>
              </a:rPr>
              <a:t>  </a:t>
            </a:r>
            <a:r>
              <a:rPr sz="3200" b="1" i="0" dirty="0">
                <a:solidFill>
                  <a:srgbClr val="FF9100"/>
                </a:solidFill>
                <a:latin typeface="Calibri"/>
              </a:rPr>
              <a:t>Prerna Tank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5621" y="6112383"/>
            <a:ext cx="3474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0" dirty="0" err="1">
                <a:solidFill>
                  <a:srgbClr val="9FA8DA"/>
                </a:solidFill>
                <a:latin typeface="Calibri"/>
              </a:rPr>
              <a:t>M.Tech</a:t>
            </a:r>
            <a:r>
              <a:rPr sz="2000" b="0" i="0" dirty="0">
                <a:solidFill>
                  <a:srgbClr val="9FA8DA"/>
                </a:solidFill>
                <a:latin typeface="Calibri"/>
              </a:rPr>
              <a:t>(CS)  |  2410512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6537960"/>
            <a:ext cx="11825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819244B-9C37-30EF-3BDB-DF15FD3394B3}"/>
              </a:ext>
            </a:extLst>
          </p:cNvPr>
          <p:cNvSpPr/>
          <p:nvPr/>
        </p:nvSpPr>
        <p:spPr>
          <a:xfrm flipV="1">
            <a:off x="4840448" y="2794266"/>
            <a:ext cx="1994062" cy="101455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BE3BFF8A-F5AF-A5CB-24CD-2CEE1917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00E5F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6537960"/>
            <a:ext cx="11825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539496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" name="TextBox 4"/>
          <p:cNvSpPr txBox="1"/>
          <p:nvPr/>
        </p:nvSpPr>
        <p:spPr>
          <a:xfrm>
            <a:off x="804672" y="1691640"/>
            <a:ext cx="640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E5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984248"/>
            <a:ext cx="5065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EAF6"/>
                </a:solidFill>
                <a:latin typeface="Calibri"/>
              </a:rPr>
              <a:t>Problem &amp;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76856"/>
            <a:ext cx="50657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FA8DA"/>
                </a:solidFill>
                <a:latin typeface="Calibri"/>
              </a:rPr>
              <a:t>Reactive HPA limitations and our predictive ML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00200"/>
            <a:ext cx="539496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1691640"/>
            <a:ext cx="640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E5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984248"/>
            <a:ext cx="5065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E8EAF6"/>
                </a:solidFill>
                <a:latin typeface="Calibri"/>
              </a:rPr>
              <a:t>4 Research Contributions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2276856"/>
            <a:ext cx="50657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Multi-Metric LSTM, Drift Detection, Cost-Aware Scaling, Confidence Gate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90672"/>
            <a:ext cx="539496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/>
          <p:cNvSpPr txBox="1"/>
          <p:nvPr/>
        </p:nvSpPr>
        <p:spPr>
          <a:xfrm>
            <a:off x="804672" y="3182112"/>
            <a:ext cx="640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E5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474720"/>
            <a:ext cx="5065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EAF6"/>
                </a:solidFill>
                <a:latin typeface="Calibri"/>
              </a:rPr>
              <a:t>System Architecture &amp; DevOps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767328"/>
            <a:ext cx="50657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CI/CD pipeline, GitOps with ArgoCD, 3-node Kubernetes cluster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090672"/>
            <a:ext cx="539496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TextBox 16"/>
          <p:cNvSpPr txBox="1"/>
          <p:nvPr/>
        </p:nvSpPr>
        <p:spPr>
          <a:xfrm>
            <a:off x="6473952" y="3182112"/>
            <a:ext cx="640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E5FF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474720"/>
            <a:ext cx="5065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EAF6"/>
                </a:solidFill>
                <a:latin typeface="Calibri"/>
              </a:rPr>
              <a:t>Technical Deep Dives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767328"/>
            <a:ext cx="50657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LSTM model, drift detection, cost tracking, confidence gating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581144"/>
            <a:ext cx="539496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72584"/>
            <a:ext cx="640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E5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965192"/>
            <a:ext cx="5065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EAF6"/>
                </a:solidFill>
                <a:latin typeface="Calibri"/>
              </a:rPr>
              <a:t>Testing &amp;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257800"/>
            <a:ext cx="50657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21 unit tests, experimental comparison, related work gap analysis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581144"/>
            <a:ext cx="539496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672584"/>
            <a:ext cx="640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E5FF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4965192"/>
            <a:ext cx="5065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EAF6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5257800"/>
            <a:ext cx="50657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Key findings, live demo, and future research directions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867A74FB-02AC-8EFB-F19C-2761F6F85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00E5FF"/>
                </a:solidFill>
                <a:latin typeface="Calibri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39" y="1625177"/>
            <a:ext cx="110944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dirty="0">
                <a:solidFill>
                  <a:srgbClr val="9FA8DA"/>
                </a:solidFill>
                <a:latin typeface="Calibri"/>
              </a:rPr>
              <a:t>Kubernetes Horizontal Pod </a:t>
            </a:r>
            <a:r>
              <a:rPr sz="2800" b="0" i="0" dirty="0" err="1">
                <a:solidFill>
                  <a:srgbClr val="9FA8DA"/>
                </a:solidFill>
                <a:latin typeface="Calibri"/>
              </a:rPr>
              <a:t>Autoscaler</a:t>
            </a:r>
            <a:r>
              <a:rPr sz="2800" b="0" i="0" dirty="0">
                <a:solidFill>
                  <a:srgbClr val="9FA8DA"/>
                </a:solidFill>
                <a:latin typeface="Calibri"/>
              </a:rPr>
              <a:t> is fundamentally reactive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873164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6" name="TextBox 5"/>
          <p:cNvSpPr txBox="1"/>
          <p:nvPr/>
        </p:nvSpPr>
        <p:spPr>
          <a:xfrm>
            <a:off x="502920" y="2894151"/>
            <a:ext cx="2560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00E5FF"/>
                </a:solidFill>
                <a:latin typeface="Calibri"/>
              </a:rPr>
              <a:t>~120s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68703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FA8DA"/>
                </a:solidFill>
                <a:latin typeface="Calibri"/>
              </a:rPr>
              <a:t>Scaling Delay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2873164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9" name="TextBox 8"/>
          <p:cNvSpPr txBox="1"/>
          <p:nvPr/>
        </p:nvSpPr>
        <p:spPr>
          <a:xfrm>
            <a:off x="3227832" y="2861988"/>
            <a:ext cx="2560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FF9100"/>
                </a:solidFill>
                <a:latin typeface="Calibri"/>
              </a:rPr>
              <a:t>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3468703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FA8DA"/>
                </a:solidFill>
                <a:latin typeface="Calibri"/>
              </a:rPr>
              <a:t>Violations During Spikes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52744" y="2873164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2" name="TextBox 11"/>
          <p:cNvSpPr txBox="1"/>
          <p:nvPr/>
        </p:nvSpPr>
        <p:spPr>
          <a:xfrm>
            <a:off x="5952744" y="2839542"/>
            <a:ext cx="2560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69F0AE"/>
                </a:solidFill>
                <a:latin typeface="Calibri"/>
              </a:rPr>
              <a:t>$$$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52744" y="3468703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FA8DA"/>
                </a:solidFill>
                <a:latin typeface="Calibri"/>
              </a:rPr>
              <a:t>Wasted Resources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77656" y="2873164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5" name="TextBox 14"/>
          <p:cNvSpPr txBox="1"/>
          <p:nvPr/>
        </p:nvSpPr>
        <p:spPr>
          <a:xfrm>
            <a:off x="8674608" y="2871023"/>
            <a:ext cx="2560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F06292"/>
                </a:solidFill>
                <a:latin typeface="Calibri"/>
              </a:rPr>
              <a:t>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7656" y="3468703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FA8DA"/>
                </a:solidFill>
                <a:latin typeface="Calibri"/>
              </a:rPr>
              <a:t>User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256" y="4293108"/>
            <a:ext cx="3474720" cy="17830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8" name="TextBox 17"/>
          <p:cNvSpPr txBox="1"/>
          <p:nvPr/>
        </p:nvSpPr>
        <p:spPr>
          <a:xfrm>
            <a:off x="548640" y="4313661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5252"/>
                </a:solidFill>
                <a:latin typeface="Calibri"/>
              </a:rPr>
              <a:t>Reactive, Not Proactive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75326"/>
            <a:ext cx="32004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alibri"/>
              </a:rPr>
              <a:t>HPA only acts AFTER CPU exceeds threshold. By then, users are already experiencing degraded performance.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4313661"/>
            <a:ext cx="3474720" cy="17830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1" name="TextBox 20"/>
          <p:cNvSpPr txBox="1"/>
          <p:nvPr/>
        </p:nvSpPr>
        <p:spPr>
          <a:xfrm>
            <a:off x="4507992" y="4322964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5252"/>
                </a:solidFill>
                <a:latin typeface="Calibri"/>
              </a:rPr>
              <a:t>Cold Start Penalty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4697709"/>
            <a:ext cx="3200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New pods need time to pull images, start containers, and warm up. This adds 60-120 seconds of delay.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17408" y="4318275"/>
            <a:ext cx="3474720" cy="17830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4" name="TextBox 23"/>
          <p:cNvSpPr txBox="1"/>
          <p:nvPr/>
        </p:nvSpPr>
        <p:spPr>
          <a:xfrm>
            <a:off x="8217408" y="4344438"/>
            <a:ext cx="32004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5252"/>
                </a:solidFill>
                <a:latin typeface="Calibri"/>
              </a:rPr>
              <a:t>Over-Provisioning Waste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4568" y="4702323"/>
            <a:ext cx="3200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alibri"/>
              </a:rPr>
              <a:t>To compensate, teams over-provision resources, leading to 30-50% wasted compute capacity.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0A585024-4858-A049-252C-1E5911FEB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4928" y="203104"/>
            <a:ext cx="110944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 dirty="0">
                <a:solidFill>
                  <a:srgbClr val="00E5FF"/>
                </a:solidFill>
                <a:latin typeface="Calibri"/>
              </a:rP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1336" y="1450330"/>
            <a:ext cx="110944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dirty="0">
                <a:solidFill>
                  <a:srgbClr val="9FA8DA"/>
                </a:solidFill>
                <a:latin typeface="Calibri"/>
              </a:rPr>
              <a:t>Predictive Auto-Scaling using LSTM Neural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80544"/>
            <a:ext cx="5349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5252"/>
                </a:solidFill>
                <a:latin typeface="Calibri"/>
              </a:rPr>
              <a:t>Traditional HPA (Reactive)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361" y="3033573"/>
            <a:ext cx="534924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9FA8DA"/>
                </a:solidFill>
                <a:latin typeface="Calibri"/>
              </a:rPr>
              <a:t>• Monitors current CPU utilization only
• Scales AFTER threshold is breached
• ~120 second delay before new pods are ready
• Single metric (CPU) decision making
• No awareness of cost implications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184878"/>
            <a:ext cx="5349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00E5FF"/>
                </a:solidFill>
                <a:latin typeface="Calibri"/>
              </a:rPr>
              <a:t>Our Approach (Predictive)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6401" y="3031994"/>
            <a:ext cx="555435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9FA8DA"/>
                </a:solidFill>
                <a:latin typeface="Calibri"/>
              </a:rPr>
              <a:t>• Forecasts CPU load 30 minutes ahead using LSTM
• Scales BEFORE load arrives (proactive)
• Zero scaling delay for predicted traffic spikes
• Multi-metric input (CPU + Memory + Network)
• Cost tracking for every scaling decision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46914" y="5720075"/>
            <a:ext cx="10410444" cy="6400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0" name="TextBox 9"/>
          <p:cNvSpPr txBox="1"/>
          <p:nvPr/>
        </p:nvSpPr>
        <p:spPr>
          <a:xfrm>
            <a:off x="350672" y="5721654"/>
            <a:ext cx="110944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00E5FF"/>
                </a:solidFill>
                <a:latin typeface="Courier New"/>
              </a:rPr>
              <a:t>Predicted CPU(t+30min) = LSTM( CPU(t), Memory(t), Network(t) ) → Scale proactively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4C02260-0929-9E16-A9E6-9B2FE56A4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3657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100"/>
                </a:solidFill>
                <a:latin typeface="Calibri"/>
              </a:rPr>
              <a:t>Most Important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00E5FF"/>
                </a:solidFill>
                <a:latin typeface="Calibri"/>
              </a:rPr>
              <a:t>4 Unique Research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7311" y="1522268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>
                <a:solidFill>
                  <a:srgbClr val="9FA8DA"/>
                </a:solidFill>
                <a:latin typeface="Calibri"/>
              </a:rPr>
              <a:t>Not found together in any single prior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37960"/>
            <a:ext cx="1182593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94363"/>
            <a:ext cx="54864" cy="169164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Rectangle 6"/>
          <p:cNvSpPr/>
          <p:nvPr/>
        </p:nvSpPr>
        <p:spPr>
          <a:xfrm>
            <a:off x="603504" y="2594363"/>
            <a:ext cx="5248656" cy="16916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8" name="TextBox 7"/>
          <p:cNvSpPr txBox="1"/>
          <p:nvPr/>
        </p:nvSpPr>
        <p:spPr>
          <a:xfrm>
            <a:off x="731520" y="2685803"/>
            <a:ext cx="4983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E5FF"/>
                </a:solidFill>
                <a:latin typeface="Calibri"/>
              </a:rPr>
              <a:t>Contribution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6971"/>
            <a:ext cx="4983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E8EAF6"/>
                </a:solidFill>
                <a:latin typeface="Calibri"/>
              </a:rPr>
              <a:t>Multi-Metric LSTM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542" y="3351774"/>
            <a:ext cx="49834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alibri"/>
              </a:rPr>
              <a:t>Uses CPU + Memory + Network I/O as input features instead of CPU alone. Network spikes precede CPU spikes by 1-2 intervals, enabling earlier prediction.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594363"/>
            <a:ext cx="54864" cy="1691640"/>
          </a:xfrm>
          <a:prstGeom prst="rect">
            <a:avLst/>
          </a:prstGeom>
          <a:solidFill>
            <a:srgbClr val="FF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2" name="Rectangle 11"/>
          <p:cNvSpPr/>
          <p:nvPr/>
        </p:nvSpPr>
        <p:spPr>
          <a:xfrm>
            <a:off x="6272784" y="2594363"/>
            <a:ext cx="5248656" cy="16916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3" name="TextBox 12"/>
          <p:cNvSpPr txBox="1"/>
          <p:nvPr/>
        </p:nvSpPr>
        <p:spPr>
          <a:xfrm>
            <a:off x="6400800" y="2685803"/>
            <a:ext cx="4983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100"/>
                </a:solidFill>
                <a:latin typeface="Calibri"/>
              </a:rPr>
              <a:t>Contribution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86971"/>
            <a:ext cx="4983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AF6"/>
                </a:solidFill>
                <a:latin typeface="Calibri"/>
              </a:rPr>
              <a:t>Drift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46539"/>
            <a:ext cx="49834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alibri"/>
              </a:rPr>
              <a:t>Monitors prediction accuracy using sliding window MAPE. Triggers automatic model retraining when accuracy drops below threshold, preventing stale predictions.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68883"/>
            <a:ext cx="54864" cy="169164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7" name="Rectangle 16"/>
          <p:cNvSpPr/>
          <p:nvPr/>
        </p:nvSpPr>
        <p:spPr>
          <a:xfrm>
            <a:off x="603504" y="4468883"/>
            <a:ext cx="5248656" cy="16916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8" name="TextBox 17"/>
          <p:cNvSpPr txBox="1"/>
          <p:nvPr/>
        </p:nvSpPr>
        <p:spPr>
          <a:xfrm>
            <a:off x="731520" y="4560323"/>
            <a:ext cx="4983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9F0AE"/>
                </a:solidFill>
                <a:latin typeface="Calibri"/>
              </a:rPr>
              <a:t>Contribution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61491"/>
            <a:ext cx="4983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AF6"/>
                </a:solidFill>
                <a:latin typeface="Calibri"/>
              </a:rPr>
              <a:t>Cost-Aware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221059"/>
            <a:ext cx="49834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alibri"/>
              </a:rPr>
              <a:t>Tracks dollar cost per scaling decision ($0.05/pod/hour). Records every scale event and calculates ROI, enabling cost-benefit analysis of ML predictions.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468883"/>
            <a:ext cx="54864" cy="1691640"/>
          </a:xfrm>
          <a:prstGeom prst="rect">
            <a:avLst/>
          </a:prstGeom>
          <a:solidFill>
            <a:srgbClr val="F06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2" name="Rectangle 21"/>
          <p:cNvSpPr/>
          <p:nvPr/>
        </p:nvSpPr>
        <p:spPr>
          <a:xfrm>
            <a:off x="6272784" y="4468883"/>
            <a:ext cx="5248656" cy="16916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3" name="TextBox 22"/>
          <p:cNvSpPr txBox="1"/>
          <p:nvPr/>
        </p:nvSpPr>
        <p:spPr>
          <a:xfrm>
            <a:off x="6400800" y="4560323"/>
            <a:ext cx="4983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6292"/>
                </a:solidFill>
                <a:latin typeface="Calibri"/>
              </a:rPr>
              <a:t>Contribution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761491"/>
            <a:ext cx="4983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AF6"/>
                </a:solidFill>
                <a:latin typeface="Calibri"/>
              </a:rPr>
              <a:t>Confidence-Gated Self-Healing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221059"/>
            <a:ext cx="49834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alibri"/>
              </a:rPr>
              <a:t>When prediction confidence drops below 70%, system falls back to traditional HPA. Safety net ensures uncertain ML predictions never cause wrong scaling.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F95175DC-E7DF-D5FE-412B-65205610F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00E5FF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6537960"/>
            <a:ext cx="1182593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110944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FA8DA"/>
                </a:solidFill>
                <a:latin typeface="Calibri"/>
              </a:rPr>
              <a:t>Predictive Scaling Loop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095" y="2651760"/>
            <a:ext cx="2286000" cy="5943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22095" y="265176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AF6"/>
                </a:solidFill>
                <a:latin typeface="Calibri"/>
              </a:rPr>
              <a:t>Prometheus
Metrics Collection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8095" y="281635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E5FF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9263" y="2651760"/>
            <a:ext cx="2286000" cy="594360"/>
          </a:xfrm>
          <a:prstGeom prst="rect">
            <a:avLst/>
          </a:prstGeom>
          <a:solidFill>
            <a:srgbClr val="1A1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09263" y="265176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AF6"/>
                </a:solidFill>
                <a:latin typeface="Calibri"/>
              </a:rPr>
              <a:t>ML Predictor
LSTM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5263" y="281635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E5FF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6431" y="2651760"/>
            <a:ext cx="2286000" cy="594360"/>
          </a:xfrm>
          <a:prstGeom prst="rect">
            <a:avLst/>
          </a:prstGeom>
          <a:solidFill>
            <a:srgbClr val="1A1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96431" y="265176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AF6"/>
                </a:solidFill>
                <a:latin typeface="Calibri"/>
              </a:rPr>
              <a:t>Predictive Scaler
Decision 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2431" y="281635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E5FF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3599" y="2651760"/>
            <a:ext cx="2286000" cy="5943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3599" y="265176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AF6"/>
                </a:solidFill>
                <a:latin typeface="Calibri"/>
              </a:rPr>
              <a:t>K8s API
Scale Replicas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611880"/>
            <a:ext cx="3474720" cy="11430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580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  <a:latin typeface="Calibri"/>
              </a:rPr>
              <a:t>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995928"/>
            <a:ext cx="320040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CPU, Memory, Network I/O collected every 30s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07408" y="3611880"/>
            <a:ext cx="3474720" cy="11430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44568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  <a:latin typeface="Calibri"/>
              </a:rPr>
              <a:t>Prediction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4568" y="3995928"/>
            <a:ext cx="320040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30-minute forecast with confidence scoring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66176" y="3611880"/>
            <a:ext cx="3474720" cy="11430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03336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  <a:latin typeface="Calibri"/>
              </a:rPr>
              <a:t>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336" y="3995928"/>
            <a:ext cx="320040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Proactive scaling with cost tracking &amp; drift check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5A19175-413C-13AB-6FD8-359B822BA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" y="1560352"/>
            <a:ext cx="11972925" cy="4977608"/>
          </a:xfrm>
          <a:prstGeom prst="rect">
            <a:avLst/>
          </a:prstGeom>
        </p:spPr>
      </p:pic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7E743159-E1F2-0D10-CE5E-D977825BC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E5FF"/>
                </a:solidFill>
                <a:latin typeface="Calibri"/>
              </a:rPr>
              <a:t>Multi-Metric LSTM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6537960"/>
            <a:ext cx="1182593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56232"/>
            <a:ext cx="5303520" cy="24231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685800" y="1947672"/>
            <a:ext cx="50292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ourier New"/>
              </a:rPr>
              <a:t>Input: (batch, </a:t>
            </a:r>
            <a:r>
              <a:rPr sz="1600" b="0" i="0" dirty="0" err="1">
                <a:solidFill>
                  <a:srgbClr val="9FA8DA"/>
                </a:solidFill>
                <a:latin typeface="Courier New"/>
              </a:rPr>
              <a:t>seq_len</a:t>
            </a:r>
            <a:r>
              <a:rPr sz="1600" b="0" i="0" dirty="0">
                <a:solidFill>
                  <a:srgbClr val="9FA8DA"/>
                </a:solidFill>
                <a:latin typeface="Courier New"/>
              </a:rPr>
              <a:t>, 3)
     ↓
LSTM Layer 1: 64 hidden units
     ↓
LSTM Layer 2: 64 hidden units
     ↓
Fully Connected: 64 → 1
     ↓
Output: Predicted CPU (t+30min)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197079"/>
            <a:ext cx="5303520" cy="574626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344369" y="5185336"/>
            <a:ext cx="5303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00E5FF"/>
                </a:solidFill>
                <a:latin typeface="Courier New"/>
              </a:rPr>
              <a:t>3 Features: CPU + Memory + Network I/O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434702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FF9100"/>
                </a:solidFill>
                <a:latin typeface="Calibri"/>
              </a:rPr>
              <a:t>Why Multi-Metric?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56232"/>
            <a:ext cx="5303520" cy="10058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6629400" y="1929384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FF"/>
                </a:solidFill>
                <a:latin typeface="Calibri"/>
              </a:rPr>
              <a:t>Network Precedes CPU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03704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A8DA"/>
                </a:solidFill>
                <a:latin typeface="Calibri"/>
              </a:rPr>
              <a:t>Network I/O spikes 1-2 intervals BEFORE CPU spikes. By including network data, the model gains early warning signals.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953512"/>
            <a:ext cx="5303520" cy="10058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6629400" y="3026664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00E5FF"/>
                </a:solidFill>
                <a:latin typeface="Calibri"/>
              </a:rPr>
              <a:t>Memory Correlation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300984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A8DA"/>
                </a:solidFill>
                <a:latin typeface="Calibri"/>
              </a:rPr>
              <a:t>Memory usage patterns add context that helps distinguish between different types of workload increases.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7480" y="4068616"/>
            <a:ext cx="5303520" cy="10058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6629400" y="4123944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FF"/>
                </a:solidFill>
                <a:latin typeface="Calibri"/>
              </a:rPr>
              <a:t>Training Configuration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398264"/>
            <a:ext cx="5029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A8DA"/>
                </a:solidFill>
                <a:latin typeface="Calibri"/>
              </a:rPr>
              <a:t>50 Epochs  |  Adam Optimizer  |  MSE Loss  |  2 LSTM Layers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FC2030-3D32-6494-0FBD-19986E608B20}"/>
              </a:ext>
            </a:extLst>
          </p:cNvPr>
          <p:cNvSpPr txBox="1"/>
          <p:nvPr/>
        </p:nvSpPr>
        <p:spPr>
          <a:xfrm>
            <a:off x="548640" y="1373415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00E5FF"/>
                </a:solidFill>
                <a:latin typeface="Calibri"/>
              </a:rPr>
              <a:t>Architecture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150080-C449-0075-9579-2150468B5417}"/>
              </a:ext>
            </a:extLst>
          </p:cNvPr>
          <p:cNvSpPr/>
          <p:nvPr/>
        </p:nvSpPr>
        <p:spPr>
          <a:xfrm>
            <a:off x="548640" y="2019038"/>
            <a:ext cx="5303520" cy="24231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FC671F-4D93-1135-8FB1-07FAAECA6096}"/>
              </a:ext>
            </a:extLst>
          </p:cNvPr>
          <p:cNvSpPr txBox="1"/>
          <p:nvPr/>
        </p:nvSpPr>
        <p:spPr>
          <a:xfrm>
            <a:off x="685800" y="2027593"/>
            <a:ext cx="50292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ourier New"/>
              </a:rPr>
              <a:t>Input: (batch, </a:t>
            </a:r>
            <a:r>
              <a:rPr sz="1600" b="0" i="0" dirty="0" err="1">
                <a:solidFill>
                  <a:srgbClr val="9FA8DA"/>
                </a:solidFill>
                <a:latin typeface="Courier New"/>
              </a:rPr>
              <a:t>seq_len</a:t>
            </a:r>
            <a:r>
              <a:rPr sz="1600" b="0" i="0" dirty="0">
                <a:solidFill>
                  <a:srgbClr val="9FA8DA"/>
                </a:solidFill>
                <a:latin typeface="Courier New"/>
              </a:rPr>
              <a:t>, 3)
     ↓
LSTM Layer 1: 64 hidden units
     ↓
LSTM Layer 2: 64 hidden units
     ↓
Fully Connected: 64 → 1
     ↓
Output: Predicted CPU (t+30min)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0AA093-32B8-DB0D-2FB4-00A7D3FC2713}"/>
              </a:ext>
            </a:extLst>
          </p:cNvPr>
          <p:cNvSpPr/>
          <p:nvPr/>
        </p:nvSpPr>
        <p:spPr>
          <a:xfrm>
            <a:off x="6492240" y="2019038"/>
            <a:ext cx="5303520" cy="10058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74BE9A-B3A7-3E6E-48D2-B4FA2BE4FB02}"/>
              </a:ext>
            </a:extLst>
          </p:cNvPr>
          <p:cNvSpPr txBox="1"/>
          <p:nvPr/>
        </p:nvSpPr>
        <p:spPr>
          <a:xfrm>
            <a:off x="6629400" y="209219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00E5FF"/>
                </a:solidFill>
                <a:latin typeface="Calibri"/>
              </a:rPr>
              <a:t>Network Precedes CPU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666BD-6F3E-0CC1-47B2-A245216F1390}"/>
              </a:ext>
            </a:extLst>
          </p:cNvPr>
          <p:cNvSpPr txBox="1"/>
          <p:nvPr/>
        </p:nvSpPr>
        <p:spPr>
          <a:xfrm>
            <a:off x="6629400" y="236651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FA8DA"/>
                </a:solidFill>
                <a:latin typeface="Calibri"/>
              </a:rPr>
              <a:t>Network I/O spikes 1-2 intervals BEFORE CPU spikes. By including network data, the model gains early warning signals.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8EE494-26CB-CB90-70C6-BFE86368687A}"/>
              </a:ext>
            </a:extLst>
          </p:cNvPr>
          <p:cNvSpPr/>
          <p:nvPr/>
        </p:nvSpPr>
        <p:spPr>
          <a:xfrm>
            <a:off x="6492240" y="3116318"/>
            <a:ext cx="5303520" cy="10058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BCC6A2-CCE4-CFD2-FCFC-702A1E588085}"/>
              </a:ext>
            </a:extLst>
          </p:cNvPr>
          <p:cNvSpPr txBox="1"/>
          <p:nvPr/>
        </p:nvSpPr>
        <p:spPr>
          <a:xfrm>
            <a:off x="6629400" y="318947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00E5FF"/>
                </a:solidFill>
                <a:latin typeface="Calibri"/>
              </a:rPr>
              <a:t>Memory Correlation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636939-7E26-D617-FBA0-B23522A15DD8}"/>
              </a:ext>
            </a:extLst>
          </p:cNvPr>
          <p:cNvSpPr txBox="1"/>
          <p:nvPr/>
        </p:nvSpPr>
        <p:spPr>
          <a:xfrm>
            <a:off x="6629400" y="346379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Memory usage patterns add context that helps distinguish between different types of workload increases.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0CDBBEF-330D-C864-C200-BA6B758B0696}"/>
              </a:ext>
            </a:extLst>
          </p:cNvPr>
          <p:cNvSpPr/>
          <p:nvPr/>
        </p:nvSpPr>
        <p:spPr>
          <a:xfrm>
            <a:off x="6507480" y="4231422"/>
            <a:ext cx="5303520" cy="10058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071E4B-C356-F338-3813-BAF271E1B773}"/>
              </a:ext>
            </a:extLst>
          </p:cNvPr>
          <p:cNvSpPr txBox="1"/>
          <p:nvPr/>
        </p:nvSpPr>
        <p:spPr>
          <a:xfrm>
            <a:off x="6629400" y="4228332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00E5FF"/>
                </a:solidFill>
                <a:latin typeface="Calibri"/>
              </a:rPr>
              <a:t>Training Configuration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8DFC20-AC50-0B63-3B37-16589E53C473}"/>
              </a:ext>
            </a:extLst>
          </p:cNvPr>
          <p:cNvSpPr txBox="1"/>
          <p:nvPr/>
        </p:nvSpPr>
        <p:spPr>
          <a:xfrm>
            <a:off x="6629400" y="456107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50 Epochs  |  Adam Optimizer  |  MSE Loss  |  2 LSTM Layers</a:t>
            </a:r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0041DFA6-6262-AD58-85E0-57FF1055A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3400" y="431989"/>
            <a:ext cx="110944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00E5FF"/>
                </a:solidFill>
                <a:latin typeface="Calibri"/>
              </a:rPr>
              <a:t>Drift Detection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3139" y="1219932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>
                <a:solidFill>
                  <a:srgbClr val="9FA8DA"/>
                </a:solidFill>
                <a:latin typeface="Calibri"/>
              </a:rPr>
              <a:t>Auto-retrain when prediction accuracy degrades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2019717"/>
            <a:ext cx="5303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00E5FF"/>
                </a:solidFill>
                <a:latin typeface="Calibri"/>
              </a:rPr>
              <a:t>How It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561439"/>
            <a:ext cx="5303520" cy="2512374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TextBox 6"/>
          <p:cNvSpPr txBox="1"/>
          <p:nvPr/>
        </p:nvSpPr>
        <p:spPr>
          <a:xfrm>
            <a:off x="670560" y="2652879"/>
            <a:ext cx="50292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9FA8DA"/>
                </a:solidFill>
                <a:latin typeface="Calibri"/>
              </a:rPr>
              <a:t>1. Maintain sliding window of last 20 prediction errors
2. Calculate MAPE (Mean Absolute Percentage Error)
3. Compare against threshold: 50%
4. If MAPE &gt; 50% → Drift Detected!
5. Trigger emergency retrain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7363" y="5257800"/>
            <a:ext cx="5303520" cy="5486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 dirty="0"/>
          </a:p>
        </p:txBody>
      </p:sp>
      <p:sp>
        <p:nvSpPr>
          <p:cNvPr id="9" name="TextBox 8"/>
          <p:cNvSpPr txBox="1"/>
          <p:nvPr/>
        </p:nvSpPr>
        <p:spPr>
          <a:xfrm>
            <a:off x="607363" y="5208954"/>
            <a:ext cx="5303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00E5FF"/>
                </a:solidFill>
                <a:latin typeface="Courier New"/>
              </a:rPr>
              <a:t>MAPE = (1/n) × Σ |actual - predicted| / actual ×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695" y="1891409"/>
            <a:ext cx="5303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9100"/>
                </a:solidFill>
                <a:latin typeface="Calibri"/>
              </a:rPr>
              <a:t>Why Drift Detection?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6695" y="2561439"/>
            <a:ext cx="5303520" cy="93268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2" name="TextBox 11"/>
          <p:cNvSpPr txBox="1"/>
          <p:nvPr/>
        </p:nvSpPr>
        <p:spPr>
          <a:xfrm>
            <a:off x="6613855" y="2546991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E5FF"/>
                </a:solidFill>
                <a:latin typeface="Calibri"/>
              </a:rPr>
              <a:t>Traffic Patterns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3855" y="2891730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User behavior evolves over time. A model trained on old patterns becomes inaccurate on new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695" y="3595818"/>
            <a:ext cx="5303520" cy="93268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5" name="TextBox 14"/>
          <p:cNvSpPr txBox="1"/>
          <p:nvPr/>
        </p:nvSpPr>
        <p:spPr>
          <a:xfrm>
            <a:off x="6613855" y="3607748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E5FF"/>
                </a:solidFill>
                <a:latin typeface="Calibri"/>
              </a:rPr>
              <a:t>Prevents Bad Decisions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3855" y="3915858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A stale model making wrong predictions is worse than no model. Drift detection catches this early.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6695" y="4619946"/>
            <a:ext cx="5303520" cy="93268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8" name="TextBox 17"/>
          <p:cNvSpPr txBox="1"/>
          <p:nvPr/>
        </p:nvSpPr>
        <p:spPr>
          <a:xfrm>
            <a:off x="6613855" y="4608688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E5FF"/>
                </a:solidFill>
                <a:latin typeface="Calibri"/>
              </a:rPr>
              <a:t>Automated Recovery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3855" y="4939986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No manual intervention needed. System detects degradation and retrains autonomously.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75B52ABE-EE49-5632-4302-6F3D21A30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00E5FF"/>
                </a:solidFill>
                <a:latin typeface="Calibri"/>
              </a:rPr>
              <a:t>Confidence-Gated Self-Healing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792" y="1373958"/>
            <a:ext cx="110944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FA8DA"/>
                </a:solidFill>
                <a:latin typeface="Calibri"/>
              </a:rPr>
              <a:t>Safety net: fall back to HPA when ML is uncertain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792" y="2016820"/>
            <a:ext cx="11094415" cy="54864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548792" y="2016820"/>
            <a:ext cx="110944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00E5FF"/>
                </a:solidFill>
                <a:latin typeface="Courier New"/>
              </a:rPr>
              <a:t>Confidence = 1.0 - (training_loss × 100)   |   Threshold: 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5772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69F0AE"/>
                </a:solidFill>
                <a:latin typeface="Calibri"/>
              </a:rPr>
              <a:t>Confidence ≥ 70%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" y="3145104"/>
            <a:ext cx="5303520" cy="210312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Rectangle 8"/>
          <p:cNvSpPr/>
          <p:nvPr/>
        </p:nvSpPr>
        <p:spPr>
          <a:xfrm>
            <a:off x="548640" y="3123244"/>
            <a:ext cx="54864" cy="210312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731520" y="3214684"/>
            <a:ext cx="50292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ML Prediction Active
• Use LSTM predicted CPU value
• Scale proactively before load
• Track cost of scaling decision
• Monitor for drift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75772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5252"/>
                </a:solidFill>
                <a:latin typeface="Calibri"/>
              </a:rPr>
              <a:t>Confidence &lt; 70%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3123244"/>
            <a:ext cx="5303520" cy="210312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Rectangle 12"/>
          <p:cNvSpPr/>
          <p:nvPr/>
        </p:nvSpPr>
        <p:spPr>
          <a:xfrm>
            <a:off x="6492240" y="3123244"/>
            <a:ext cx="54864" cy="2103120"/>
          </a:xfrm>
          <a:prstGeom prst="rect">
            <a:avLst/>
          </a:prstGeom>
          <a:solidFill>
            <a:srgbClr val="FF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6675120" y="3214684"/>
            <a:ext cx="50292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Fallback to HPA
• Disable ML-based scaling
• Let Kubernetes HPA handle scaling
• Log confidence failure event
• Continue monitoring for recovery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80" y="5733729"/>
            <a:ext cx="11094415" cy="6858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Rectangle 15"/>
          <p:cNvSpPr/>
          <p:nvPr/>
        </p:nvSpPr>
        <p:spPr>
          <a:xfrm>
            <a:off x="487680" y="5733729"/>
            <a:ext cx="11094415" cy="36576"/>
          </a:xfrm>
          <a:prstGeom prst="rect">
            <a:avLst/>
          </a:prstGeom>
          <a:solidFill>
            <a:srgbClr val="B3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624840" y="5770305"/>
            <a:ext cx="108200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9FA8DA"/>
                </a:solidFill>
                <a:latin typeface="Calibri"/>
              </a:rPr>
              <a:t>Key Insight: An uncertain ML prediction causing wrong scaling is worse than reactive HPA. The confidence gate ensures the system never makes overconfident mistakes.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97BEBF3A-A7C2-255F-A32B-BA48D3CA3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B32A4738-6BFE-C33C-72F2-5D4AE032C827}"/>
              </a:ext>
            </a:extLst>
          </p:cNvPr>
          <p:cNvSpPr txBox="1"/>
          <p:nvPr/>
        </p:nvSpPr>
        <p:spPr>
          <a:xfrm>
            <a:off x="388619" y="411480"/>
            <a:ext cx="110944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00E5FF"/>
                </a:solidFill>
                <a:latin typeface="Calibri"/>
              </a:rPr>
              <a:t>CI/CD Pipeline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B5BA029C-75CF-C2DA-DB68-23958A592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2356"/>
            <a:ext cx="12192000" cy="4116543"/>
          </a:xfrm>
          <a:prstGeom prst="rect">
            <a:avLst/>
          </a:prstGeom>
        </p:spPr>
      </p:pic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FE53B509-3628-5DC2-F181-B783521A1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rgbClr val="00E5FF"/>
                </a:solidFill>
                <a:latin typeface="Calibri"/>
              </a:rPr>
              <a:t>GitOps</a:t>
            </a:r>
            <a:r>
              <a:rPr sz="4400" b="1" i="0" dirty="0">
                <a:solidFill>
                  <a:srgbClr val="00E5FF"/>
                </a:solidFill>
                <a:latin typeface="Calibri"/>
              </a:rPr>
              <a:t> with </a:t>
            </a:r>
            <a:r>
              <a:rPr sz="4400" b="1" i="0" dirty="0" err="1">
                <a:solidFill>
                  <a:srgbClr val="00E5FF"/>
                </a:solidFill>
                <a:latin typeface="Calibri"/>
              </a:rPr>
              <a:t>ArgoCD</a:t>
            </a:r>
            <a:endParaRPr sz="4400" b="1" i="0" dirty="0">
              <a:solidFill>
                <a:srgbClr val="00E5FF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39" y="1384523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>
                <a:solidFill>
                  <a:srgbClr val="9FA8DA"/>
                </a:solidFill>
                <a:latin typeface="Calibri"/>
              </a:rPr>
              <a:t>Declarative, version-controlled deployments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063627"/>
            <a:ext cx="1920240" cy="5943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 b="1"/>
          </a:p>
        </p:txBody>
      </p:sp>
      <p:sp>
        <p:nvSpPr>
          <p:cNvPr id="6" name="TextBox 5"/>
          <p:cNvSpPr txBox="1"/>
          <p:nvPr/>
        </p:nvSpPr>
        <p:spPr>
          <a:xfrm>
            <a:off x="746607" y="2145027"/>
            <a:ext cx="1920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E8EAF6"/>
                </a:solidFill>
                <a:latin typeface="Calibri"/>
              </a:rPr>
              <a:t>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6847" y="2228219"/>
            <a:ext cx="274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00E5FF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1167" y="2063627"/>
            <a:ext cx="1920240" cy="5943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 b="1"/>
          </a:p>
        </p:txBody>
      </p:sp>
      <p:sp>
        <p:nvSpPr>
          <p:cNvPr id="9" name="TextBox 8"/>
          <p:cNvSpPr txBox="1"/>
          <p:nvPr/>
        </p:nvSpPr>
        <p:spPr>
          <a:xfrm>
            <a:off x="2941167" y="2164650"/>
            <a:ext cx="1920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E8EAF6"/>
                </a:solidFill>
                <a:latin typeface="Calibri"/>
              </a:rPr>
              <a:t>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1407" y="2228219"/>
            <a:ext cx="274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00E5FF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35727" y="2063627"/>
            <a:ext cx="1920240" cy="594360"/>
          </a:xfrm>
          <a:prstGeom prst="rect">
            <a:avLst/>
          </a:prstGeom>
          <a:solidFill>
            <a:srgbClr val="1A1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 b="1"/>
          </a:p>
        </p:txBody>
      </p:sp>
      <p:sp>
        <p:nvSpPr>
          <p:cNvPr id="12" name="TextBox 11"/>
          <p:cNvSpPr txBox="1"/>
          <p:nvPr/>
        </p:nvSpPr>
        <p:spPr>
          <a:xfrm>
            <a:off x="5135727" y="2063627"/>
            <a:ext cx="1920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E8EAF6"/>
                </a:solidFill>
                <a:latin typeface="Calibri"/>
              </a:rPr>
              <a:t>GitHub Repo
Source of 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5967" y="2228219"/>
            <a:ext cx="274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00E5F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0287" y="2063627"/>
            <a:ext cx="1920240" cy="594360"/>
          </a:xfrm>
          <a:prstGeom prst="rect">
            <a:avLst/>
          </a:prstGeom>
          <a:solidFill>
            <a:srgbClr val="1A1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 b="1"/>
          </a:p>
        </p:txBody>
      </p:sp>
      <p:sp>
        <p:nvSpPr>
          <p:cNvPr id="15" name="TextBox 14"/>
          <p:cNvSpPr txBox="1"/>
          <p:nvPr/>
        </p:nvSpPr>
        <p:spPr>
          <a:xfrm>
            <a:off x="7330287" y="2063627"/>
            <a:ext cx="1920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E8EAF6"/>
                </a:solidFill>
                <a:latin typeface="Calibri"/>
              </a:rPr>
              <a:t>ArgoCD
Watches 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527" y="2228219"/>
            <a:ext cx="274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5FF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24847" y="2063627"/>
            <a:ext cx="1920240" cy="5943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 b="1"/>
          </a:p>
        </p:txBody>
      </p:sp>
      <p:sp>
        <p:nvSpPr>
          <p:cNvPr id="18" name="TextBox 17"/>
          <p:cNvSpPr txBox="1"/>
          <p:nvPr/>
        </p:nvSpPr>
        <p:spPr>
          <a:xfrm>
            <a:off x="9524847" y="2063627"/>
            <a:ext cx="1920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E8EAF6"/>
                </a:solidFill>
                <a:latin typeface="Calibri"/>
              </a:rPr>
              <a:t>K8s Cluster
Auto-Synced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307636"/>
            <a:ext cx="5303520" cy="141732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0" name="TextBox 19"/>
          <p:cNvSpPr txBox="1"/>
          <p:nvPr/>
        </p:nvSpPr>
        <p:spPr>
          <a:xfrm>
            <a:off x="670560" y="3307636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E5FF"/>
                </a:solidFill>
                <a:latin typeface="Calibri"/>
              </a:rPr>
              <a:t>Auto-Sync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91684"/>
            <a:ext cx="50292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ArgoCD watches the GitHub repo. When Jenkins pushes new manifests, ArgoCD automatically syncs the cluster state.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307636"/>
            <a:ext cx="5303520" cy="141732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3" name="TextBox 22"/>
          <p:cNvSpPr txBox="1"/>
          <p:nvPr/>
        </p:nvSpPr>
        <p:spPr>
          <a:xfrm>
            <a:off x="6339840" y="3307636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69F0AE"/>
                </a:solidFill>
                <a:latin typeface="Calibri"/>
              </a:rPr>
              <a:t>Self-Healing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691684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If someone manually changes K8s resources, ArgoCD detects drift and reverts to the desired state in Git.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889548"/>
            <a:ext cx="5303520" cy="141732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6" name="TextBox 25"/>
          <p:cNvSpPr txBox="1"/>
          <p:nvPr/>
        </p:nvSpPr>
        <p:spPr>
          <a:xfrm>
            <a:off x="670560" y="4889548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9100"/>
                </a:solidFill>
                <a:latin typeface="Calibri"/>
              </a:rPr>
              <a:t>Declarative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273596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alibri"/>
              </a:rPr>
              <a:t>Desired state is defined in Git manifests. Actual state in Kubernetes is continuously reconciled to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889548"/>
            <a:ext cx="5303520" cy="141732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9" name="TextBox 28"/>
          <p:cNvSpPr txBox="1"/>
          <p:nvPr/>
        </p:nvSpPr>
        <p:spPr>
          <a:xfrm>
            <a:off x="6339840" y="4889548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B388FF"/>
                </a:solidFill>
                <a:latin typeface="Calibri"/>
              </a:rPr>
              <a:t>Rollback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273596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Every deployment is a Git commit. Rolling back is as simple as reverting the commit. Full audit trail.</a:t>
            </a:r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87ECCC73-C921-6720-FC11-E733928A0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39" y="150961"/>
            <a:ext cx="1109441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00E5FF"/>
                </a:solidFill>
                <a:latin typeface="Calibri"/>
              </a:rPr>
              <a:t>3-Node Kubernetes Cluster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9917" y="96671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>
                <a:solidFill>
                  <a:srgbClr val="9FA8DA"/>
                </a:solidFill>
                <a:latin typeface="Calibri"/>
              </a:rPr>
              <a:t>Production infrastructure on private cloud</a:t>
            </a:r>
            <a:r>
              <a:rPr lang="en-US" sz="2400" b="0" i="0" dirty="0">
                <a:solidFill>
                  <a:srgbClr val="9FA8DA"/>
                </a:solidFill>
                <a:latin typeface="Calibri"/>
              </a:rPr>
              <a:t> (VPC)</a:t>
            </a:r>
            <a:endParaRPr sz="2400" b="0" i="0" dirty="0">
              <a:solidFill>
                <a:srgbClr val="9FA8D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1199" y="1554480"/>
            <a:ext cx="3200400" cy="21945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Rectangle 5"/>
          <p:cNvSpPr/>
          <p:nvPr/>
        </p:nvSpPr>
        <p:spPr>
          <a:xfrm>
            <a:off x="911199" y="1554480"/>
            <a:ext cx="3200400" cy="54864"/>
          </a:xfrm>
          <a:prstGeom prst="rect">
            <a:avLst/>
          </a:prstGeom>
          <a:solidFill>
            <a:srgbClr val="FF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7" name="TextBox 6"/>
          <p:cNvSpPr txBox="1"/>
          <p:nvPr/>
        </p:nvSpPr>
        <p:spPr>
          <a:xfrm>
            <a:off x="911199" y="1664208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9100"/>
                </a:solidFill>
                <a:latin typeface="Calibri"/>
              </a:rPr>
              <a:t>Master 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199" y="2011680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FA8DA"/>
                </a:solidFill>
                <a:latin typeface="Calibri"/>
              </a:rPr>
              <a:t>master-node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199" y="2598003"/>
            <a:ext cx="3200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E8EAF6"/>
                </a:solidFill>
                <a:latin typeface="Calibri"/>
              </a:rPr>
              <a:t>Control Plane
Jenkins CI/CD
</a:t>
            </a:r>
            <a:r>
              <a:rPr sz="1600" b="0" i="0" dirty="0" err="1">
                <a:solidFill>
                  <a:srgbClr val="E8EAF6"/>
                </a:solidFill>
                <a:latin typeface="Calibri"/>
              </a:rPr>
              <a:t>ArgoCD</a:t>
            </a:r>
            <a:endParaRPr sz="1600" b="0" i="0" dirty="0">
              <a:solidFill>
                <a:srgbClr val="E8EAF6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495647" y="1554480"/>
            <a:ext cx="3200400" cy="21945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1" name="Rectangle 10"/>
          <p:cNvSpPr/>
          <p:nvPr/>
        </p:nvSpPr>
        <p:spPr>
          <a:xfrm>
            <a:off x="4495647" y="1554480"/>
            <a:ext cx="3200400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TextBox 11"/>
          <p:cNvSpPr txBox="1"/>
          <p:nvPr/>
        </p:nvSpPr>
        <p:spPr>
          <a:xfrm>
            <a:off x="4495647" y="1664208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E5FF"/>
                </a:solidFill>
                <a:latin typeface="Calibri"/>
              </a:rPr>
              <a:t>Worker-App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647" y="2011680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FA8DA"/>
                </a:solidFill>
                <a:latin typeface="Calibri"/>
              </a:rPr>
              <a:t>worker-app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6315" y="2655357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E8EAF6"/>
                </a:solidFill>
                <a:latin typeface="Calibri"/>
              </a:rPr>
              <a:t>Web Application
Predictive Scaler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0095" y="1554480"/>
            <a:ext cx="3200400" cy="21945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6" name="Rectangle 15"/>
          <p:cNvSpPr/>
          <p:nvPr/>
        </p:nvSpPr>
        <p:spPr>
          <a:xfrm>
            <a:off x="8080095" y="1554480"/>
            <a:ext cx="3200400" cy="54864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TextBox 16"/>
          <p:cNvSpPr txBox="1"/>
          <p:nvPr/>
        </p:nvSpPr>
        <p:spPr>
          <a:xfrm>
            <a:off x="8080095" y="1664208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69F0AE"/>
                </a:solidFill>
                <a:latin typeface="Calibri"/>
              </a:rPr>
              <a:t>Worker-Data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0095" y="2011680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FA8DA"/>
                </a:solidFill>
                <a:latin typeface="Calibri"/>
              </a:rPr>
              <a:t>worker-data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0095" y="2686593"/>
            <a:ext cx="3200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E8EAF6"/>
                </a:solidFill>
                <a:latin typeface="Calibri"/>
              </a:rPr>
              <a:t>ML Predictor
Prometheus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8" y="4653248"/>
            <a:ext cx="110944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00E5FF"/>
                </a:solidFill>
                <a:latin typeface="Calibri"/>
              </a:rPr>
              <a:t>K8s 1.30.14   |   </a:t>
            </a:r>
            <a:r>
              <a:rPr b="0" i="0" dirty="0" err="1">
                <a:solidFill>
                  <a:srgbClr val="00E5FF"/>
                </a:solidFill>
                <a:latin typeface="Calibri"/>
              </a:rPr>
              <a:t>containerd</a:t>
            </a:r>
            <a:r>
              <a:rPr b="0" i="0" dirty="0">
                <a:solidFill>
                  <a:srgbClr val="00E5FF"/>
                </a:solidFill>
                <a:latin typeface="Calibri"/>
              </a:rPr>
              <a:t>   |   </a:t>
            </a:r>
            <a:r>
              <a:rPr b="0" i="0" dirty="0" err="1">
                <a:solidFill>
                  <a:srgbClr val="00E5FF"/>
                </a:solidFill>
                <a:latin typeface="Calibri"/>
              </a:rPr>
              <a:t>Traefik</a:t>
            </a:r>
            <a:r>
              <a:rPr b="0" i="0" dirty="0">
                <a:solidFill>
                  <a:srgbClr val="00E5FF"/>
                </a:solidFill>
                <a:latin typeface="Calibri"/>
              </a:rPr>
              <a:t> Ingress   |   Prometheus   |   </a:t>
            </a:r>
            <a:r>
              <a:rPr b="0" i="0" dirty="0" err="1">
                <a:solidFill>
                  <a:srgbClr val="00E5FF"/>
                </a:solidFill>
                <a:latin typeface="Calibri"/>
              </a:rPr>
              <a:t>ArgoCD</a:t>
            </a:r>
            <a:endParaRPr b="0" i="0" dirty="0">
              <a:solidFill>
                <a:srgbClr val="00E5FF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9917" y="5597944"/>
            <a:ext cx="11094415" cy="5943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2" name="TextBox 21"/>
          <p:cNvSpPr txBox="1"/>
          <p:nvPr/>
        </p:nvSpPr>
        <p:spPr>
          <a:xfrm>
            <a:off x="627077" y="5574083"/>
            <a:ext cx="108200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9FA8DA"/>
                </a:solidFill>
                <a:latin typeface="Calibri"/>
              </a:rPr>
              <a:t>Dedicated node separation ensures ML workloads don't compete with application traffic, while the master node handles orchestration and CI/CD tooling.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F6CC24C-4788-530D-4893-A4F02B2ED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1256" y="322713"/>
            <a:ext cx="1109441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 dirty="0">
                <a:solidFill>
                  <a:srgbClr val="00E5FF"/>
                </a:solidFill>
                <a:latin typeface="Calibri"/>
              </a:rPr>
              <a:t>Testing &amp; Code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6537960"/>
            <a:ext cx="1182593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5" name="TextBox 4"/>
          <p:cNvSpPr txBox="1"/>
          <p:nvPr/>
        </p:nvSpPr>
        <p:spPr>
          <a:xfrm>
            <a:off x="548640" y="1327446"/>
            <a:ext cx="2560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00E5FF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FA8DA"/>
                </a:solidFill>
                <a:latin typeface="Calibri"/>
              </a:rPr>
              <a:t>pytest Unit 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73552" y="1371600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8" name="TextBox 7"/>
          <p:cNvSpPr txBox="1"/>
          <p:nvPr/>
        </p:nvSpPr>
        <p:spPr>
          <a:xfrm>
            <a:off x="3273552" y="1327446"/>
            <a:ext cx="2560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9100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1901952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FA8DA"/>
                </a:solidFill>
                <a:latin typeface="Calibri"/>
              </a:rPr>
              <a:t>flake8 Errors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98464" y="1371600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1" name="TextBox 10"/>
          <p:cNvSpPr txBox="1"/>
          <p:nvPr/>
        </p:nvSpPr>
        <p:spPr>
          <a:xfrm>
            <a:off x="5998464" y="1327446"/>
            <a:ext cx="2560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9F0AE"/>
                </a:solidFill>
                <a:latin typeface="Calibri"/>
              </a:rPr>
              <a:t>PEP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1901952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FA8DA"/>
                </a:solidFill>
                <a:latin typeface="Calibri"/>
              </a:rPr>
              <a:t>Fully Compliant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23376" y="1371600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4" name="TextBox 13"/>
          <p:cNvSpPr txBox="1"/>
          <p:nvPr/>
        </p:nvSpPr>
        <p:spPr>
          <a:xfrm>
            <a:off x="8723376" y="1327446"/>
            <a:ext cx="2560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06292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23376" y="1901952"/>
            <a:ext cx="2560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FA8DA"/>
                </a:solidFill>
                <a:latin typeface="Calibri"/>
              </a:rPr>
              <a:t>CI/CD Stages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482107"/>
            <a:ext cx="5303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00E5FF"/>
                </a:solidFill>
                <a:latin typeface="Calibri"/>
              </a:rPr>
              <a:t>Test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829579"/>
            <a:ext cx="53035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69F0AE"/>
                </a:solidFill>
                <a:latin typeface="Calibri"/>
              </a:rPr>
              <a:t>✓ </a:t>
            </a:r>
            <a:r>
              <a:rPr sz="1600" b="0" i="0" dirty="0" err="1">
                <a:solidFill>
                  <a:srgbClr val="69F0AE"/>
                </a:solidFill>
                <a:latin typeface="Calibri"/>
              </a:rPr>
              <a:t>DriftDetector</a:t>
            </a:r>
            <a:r>
              <a:rPr sz="1600" b="0" i="0" dirty="0">
                <a:solidFill>
                  <a:srgbClr val="69F0AE"/>
                </a:solidFill>
                <a:latin typeface="Calibri"/>
              </a:rPr>
              <a:t> - sliding window, threshold, reset
✓ </a:t>
            </a:r>
            <a:r>
              <a:rPr sz="1600" b="0" i="0" dirty="0" err="1">
                <a:solidFill>
                  <a:srgbClr val="69F0AE"/>
                </a:solidFill>
                <a:latin typeface="Calibri"/>
              </a:rPr>
              <a:t>CostCalculator</a:t>
            </a:r>
            <a:r>
              <a:rPr sz="1600" b="0" i="0" dirty="0">
                <a:solidFill>
                  <a:srgbClr val="69F0AE"/>
                </a:solidFill>
                <a:latin typeface="Calibri"/>
              </a:rPr>
              <a:t> - event recording, cost computation
✓ </a:t>
            </a:r>
            <a:r>
              <a:rPr sz="1600" b="0" i="0" dirty="0" err="1">
                <a:solidFill>
                  <a:srgbClr val="69F0AE"/>
                </a:solidFill>
                <a:latin typeface="Calibri"/>
              </a:rPr>
              <a:t>EnhancedPredictor</a:t>
            </a:r>
            <a:r>
              <a:rPr sz="1600" b="0" i="0" dirty="0">
                <a:solidFill>
                  <a:srgbClr val="69F0AE"/>
                </a:solidFill>
                <a:latin typeface="Calibri"/>
              </a:rPr>
              <a:t> - multi-metric input, confidence
✓ API endpoints - /predict, /health, /metrics
✓ Edge cases - empty data, zero values, overflow
✓ Integration - predictor → scaler → K8s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482107"/>
            <a:ext cx="5303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9100"/>
                </a:solidFill>
                <a:latin typeface="Calibri"/>
              </a:rPr>
              <a:t>Quality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829579"/>
            <a:ext cx="53035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9F0AE"/>
                </a:solidFill>
                <a:latin typeface="Calibri"/>
              </a:rPr>
              <a:t>✓ All tests must pass before Docker build
✓ flake8 static analysis with zero tolerance
✓ PEP 8 style compliance enforced
✓ Pipeline fails fast on any quality violation
✓ Automated in Jenkins Stage 2 &amp; 3
✓ No manual quality gate bypassing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E5656F65-5209-3232-7971-9338826D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E5FF"/>
                </a:solidFill>
                <a:latin typeface="Calibri"/>
              </a:rPr>
              <a:t>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FA8DA"/>
                </a:solidFill>
                <a:latin typeface="Calibri"/>
              </a:rPr>
              <a:t>Predictive ML vs Reactive HPA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E5FF"/>
                </a:solidFill>
                <a:latin typeface="Calibri"/>
              </a:rP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305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FA8DA"/>
                </a:solidFill>
                <a:latin typeface="Calibri"/>
              </a:rPr>
              <a:t>Delay Eliminated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600200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73552" y="1673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9100"/>
                </a:solidFill>
                <a:latin typeface="Calibri"/>
              </a:rPr>
              <a:t>54%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73552" y="21305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FA8DA"/>
                </a:solidFill>
                <a:latin typeface="Calibri"/>
              </a:rPr>
              <a:t>CPU Reduction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98464" y="1600200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464" y="1673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9F0AE"/>
                </a:solidFill>
                <a:latin typeface="Calibri"/>
              </a:rPr>
              <a:t>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1305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FA8DA"/>
                </a:solidFill>
                <a:latin typeface="Calibri"/>
              </a:rPr>
              <a:t>User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23376" y="1600200"/>
            <a:ext cx="2560320" cy="914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23376" y="16733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06292"/>
                </a:solidFill>
                <a:latin typeface="Calibri"/>
              </a:rPr>
              <a:t>~₹2,450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21305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FA8DA"/>
                </a:solidFill>
                <a:latin typeface="Calibri"/>
              </a:rPr>
              <a:t>10-Day Savings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97480"/>
            <a:ext cx="2926080" cy="4114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26974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5FF"/>
                </a:solidFill>
                <a:latin typeface="Calibri"/>
              </a:rPr>
              <a:t>Metric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2697480"/>
            <a:ext cx="2194560" cy="4114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2044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5FF"/>
                </a:solidFill>
                <a:latin typeface="Calibri"/>
              </a:rPr>
              <a:t>Reactive HPA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2697480"/>
            <a:ext cx="2286000" cy="4114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5000" y="26974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5FF"/>
                </a:solidFill>
                <a:latin typeface="Calibri"/>
              </a:rPr>
              <a:t>Predictive ML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0" y="2697480"/>
            <a:ext cx="2286000" cy="4114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01000" y="26974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5FF"/>
                </a:solidFill>
                <a:latin typeface="Calibri"/>
              </a:rPr>
              <a:t>Improvement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08960"/>
            <a:ext cx="2926080" cy="41148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31089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Scaling Delay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3108960"/>
            <a:ext cx="2194560" cy="41148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20440" y="31089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~120 seconds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3108960"/>
            <a:ext cx="2286000" cy="41148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715000" y="3108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9F0AE"/>
                </a:solidFill>
                <a:latin typeface="Calibri"/>
              </a:rPr>
              <a:t>0 seconds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3108960"/>
            <a:ext cx="2286000" cy="41148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01000" y="3108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9F0AE"/>
                </a:solidFill>
                <a:latin typeface="Calibri"/>
              </a:rPr>
              <a:t>100% 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520440"/>
            <a:ext cx="2926080" cy="41148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20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Peak CPU per Pod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0" y="3520440"/>
            <a:ext cx="2194560" cy="41148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520440" y="35204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141m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0" y="3520440"/>
            <a:ext cx="2286000" cy="41148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715000" y="35204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9F0AE"/>
                </a:solidFill>
                <a:latin typeface="Calibri"/>
              </a:rPr>
              <a:t>65m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80" y="3520440"/>
            <a:ext cx="2286000" cy="41148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01000" y="35204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9F0AE"/>
                </a:solidFill>
                <a:latin typeface="Calibri"/>
              </a:rPr>
              <a:t>54% 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931920"/>
            <a:ext cx="2926080" cy="41148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4360" y="393192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User Impact Duration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0" y="3931920"/>
            <a:ext cx="2194560" cy="41148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520440" y="39319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~2 minutes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0" y="3931920"/>
            <a:ext cx="2286000" cy="41148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715000" y="39319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9F0AE"/>
                </a:solidFill>
                <a:latin typeface="Calibri"/>
              </a:rPr>
              <a:t>0 seconds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80" y="3931920"/>
            <a:ext cx="2286000" cy="41148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01000" y="39319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9F0AE"/>
                </a:solidFill>
                <a:latin typeface="Calibri"/>
              </a:rPr>
              <a:t>Eliminated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343400"/>
            <a:ext cx="2926080" cy="41148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360" y="434340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Cost Savings (10 days)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0" y="4343400"/>
            <a:ext cx="2194560" cy="41148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520440" y="4343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FA8DA"/>
                </a:solidFill>
                <a:latin typeface="Calibri"/>
              </a:rPr>
              <a:t>Baseline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0" y="4343400"/>
            <a:ext cx="2286000" cy="41148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715000" y="43434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9F0AE"/>
                </a:solidFill>
                <a:latin typeface="Calibri"/>
              </a:rPr>
              <a:t>~₹2,450 saved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55280" y="4343400"/>
            <a:ext cx="2286000" cy="41148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001000" y="43434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9F0AE"/>
                </a:solidFill>
                <a:latin typeface="Calibri"/>
              </a:rPr>
              <a:t>Significant ↓</a:t>
            </a:r>
          </a:p>
        </p:txBody>
      </p:sp>
      <p:sp>
        <p:nvSpPr>
          <p:cNvPr id="57" name="Slide Number Placeholder 56">
            <a:extLst>
              <a:ext uri="{FF2B5EF4-FFF2-40B4-BE49-F238E27FC236}">
                <a16:creationId xmlns:a16="http://schemas.microsoft.com/office/drawing/2014/main" id="{DF31E45A-0F0E-2D51-4DB2-7F5258DD7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39" y="264051"/>
            <a:ext cx="110944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00E5FF"/>
                </a:solidFill>
                <a:latin typeface="Calibri"/>
              </a:rPr>
              <a:t>Related Work — 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9688"/>
            <a:ext cx="110944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FA8DA"/>
                </a:solidFill>
                <a:latin typeface="Calibri"/>
              </a:rPr>
              <a:t>10 recent papers (2021–2026) reviewed from IEEE, ACM, Springer, Elsevier, </a:t>
            </a:r>
            <a:r>
              <a:rPr sz="2000" b="0" i="0" dirty="0" err="1">
                <a:solidFill>
                  <a:srgbClr val="9FA8DA"/>
                </a:solidFill>
                <a:latin typeface="Calibri"/>
              </a:rPr>
              <a:t>arXiv</a:t>
            </a:r>
            <a:endParaRPr sz="2000" b="0" i="0" dirty="0">
              <a:solidFill>
                <a:srgbClr val="9FA8D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3108960" cy="3657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301752" y="150876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Paper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508760"/>
            <a:ext cx="640080" cy="3657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3410712" y="150876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508760"/>
            <a:ext cx="1097280" cy="3657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4050792" y="15087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ML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08760"/>
            <a:ext cx="1097280" cy="3657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5148072" y="15087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Multi-Metric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08760"/>
            <a:ext cx="1097280" cy="3657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6245352" y="15087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Drift Detect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508760"/>
            <a:ext cx="1097280" cy="3657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7342632" y="15087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Cost-Aware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1508760"/>
            <a:ext cx="1371600" cy="36576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8439912" y="150876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Confidence Gate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874520"/>
            <a:ext cx="310896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301752" y="187452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Toka et al. (IEEE TNSM)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1874520"/>
            <a:ext cx="6400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TextBox 21"/>
          <p:cNvSpPr txBox="1"/>
          <p:nvPr/>
        </p:nvSpPr>
        <p:spPr>
          <a:xfrm>
            <a:off x="3410712" y="187452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187452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4050792" y="18745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AR/HTM/LSTM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187452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5148072" y="18745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87452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6245352" y="18745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187452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29"/>
          <p:cNvSpPr txBox="1"/>
          <p:nvPr/>
        </p:nvSpPr>
        <p:spPr>
          <a:xfrm>
            <a:off x="7342632" y="18745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D74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0" y="1874520"/>
            <a:ext cx="137160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8439912" y="187452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240280"/>
            <a:ext cx="310896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TextBox 33"/>
          <p:cNvSpPr txBox="1"/>
          <p:nvPr/>
        </p:nvSpPr>
        <p:spPr>
          <a:xfrm>
            <a:off x="301752" y="224028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Dang-Quang &amp; Yoo (MDPI)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3280" y="2240280"/>
            <a:ext cx="6400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3410712" y="224028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0" y="224028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4050792" y="224028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Bi-LSTM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0640" y="224028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TextBox 39"/>
          <p:cNvSpPr txBox="1"/>
          <p:nvPr/>
        </p:nvSpPr>
        <p:spPr>
          <a:xfrm>
            <a:off x="5148072" y="224028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224028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6245352" y="224028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224028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4" name="TextBox 43"/>
          <p:cNvSpPr txBox="1"/>
          <p:nvPr/>
        </p:nvSpPr>
        <p:spPr>
          <a:xfrm>
            <a:off x="7342632" y="224028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2240280"/>
            <a:ext cx="137160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6" name="TextBox 45"/>
          <p:cNvSpPr txBox="1"/>
          <p:nvPr/>
        </p:nvSpPr>
        <p:spPr>
          <a:xfrm>
            <a:off x="8439912" y="224028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2606040"/>
            <a:ext cx="310896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8" name="TextBox 47"/>
          <p:cNvSpPr txBox="1"/>
          <p:nvPr/>
        </p:nvSpPr>
        <p:spPr>
          <a:xfrm>
            <a:off x="301752" y="260604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Xu et al. (ACM KDD)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2606040"/>
            <a:ext cx="6400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0" name="TextBox 49"/>
          <p:cNvSpPr txBox="1"/>
          <p:nvPr/>
        </p:nvSpPr>
        <p:spPr>
          <a:xfrm>
            <a:off x="3410712" y="260604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360" y="260604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TextBox 51"/>
          <p:cNvSpPr txBox="1"/>
          <p:nvPr/>
        </p:nvSpPr>
        <p:spPr>
          <a:xfrm>
            <a:off x="4050792" y="260604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Meta-RL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20640" y="260604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TextBox 53"/>
          <p:cNvSpPr txBox="1"/>
          <p:nvPr/>
        </p:nvSpPr>
        <p:spPr>
          <a:xfrm>
            <a:off x="5148072" y="260604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260604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6" name="TextBox 55"/>
          <p:cNvSpPr txBox="1"/>
          <p:nvPr/>
        </p:nvSpPr>
        <p:spPr>
          <a:xfrm>
            <a:off x="6245352" y="260604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D740"/>
                </a:solidFill>
                <a:latin typeface="Calibri"/>
              </a:rPr>
              <a:t>Partial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00" y="260604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8" name="TextBox 57"/>
          <p:cNvSpPr txBox="1"/>
          <p:nvPr/>
        </p:nvSpPr>
        <p:spPr>
          <a:xfrm>
            <a:off x="7342632" y="260604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12480" y="2606040"/>
            <a:ext cx="137160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TextBox 59"/>
          <p:cNvSpPr txBox="1"/>
          <p:nvPr/>
        </p:nvSpPr>
        <p:spPr>
          <a:xfrm>
            <a:off x="8439912" y="260604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2971800"/>
            <a:ext cx="310896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2" name="TextBox 61"/>
          <p:cNvSpPr txBox="1"/>
          <p:nvPr/>
        </p:nvSpPr>
        <p:spPr>
          <a:xfrm>
            <a:off x="301752" y="297180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Patil &amp; Singh (JTIT)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83280" y="2971800"/>
            <a:ext cx="6400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4" name="TextBox 63"/>
          <p:cNvSpPr txBox="1"/>
          <p:nvPr/>
        </p:nvSpPr>
        <p:spPr>
          <a:xfrm>
            <a:off x="3410712" y="297180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0" y="297180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6" name="TextBox 65"/>
          <p:cNvSpPr txBox="1"/>
          <p:nvPr/>
        </p:nvSpPr>
        <p:spPr>
          <a:xfrm>
            <a:off x="4050792" y="297180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LSTM+ILP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0" y="297180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8" name="TextBox 67"/>
          <p:cNvSpPr txBox="1"/>
          <p:nvPr/>
        </p:nvSpPr>
        <p:spPr>
          <a:xfrm>
            <a:off x="5148072" y="297180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9F0AE"/>
                </a:solidFill>
                <a:latin typeface="Calibri"/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0" y="297180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0" name="TextBox 69"/>
          <p:cNvSpPr txBox="1"/>
          <p:nvPr/>
        </p:nvSpPr>
        <p:spPr>
          <a:xfrm>
            <a:off x="6245352" y="297180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0" y="297180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2" name="TextBox 71"/>
          <p:cNvSpPr txBox="1"/>
          <p:nvPr/>
        </p:nvSpPr>
        <p:spPr>
          <a:xfrm>
            <a:off x="7342632" y="297180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12480" y="2971800"/>
            <a:ext cx="137160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4" name="TextBox 73"/>
          <p:cNvSpPr txBox="1"/>
          <p:nvPr/>
        </p:nvSpPr>
        <p:spPr>
          <a:xfrm>
            <a:off x="8439912" y="297180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3337560"/>
            <a:ext cx="310896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6" name="TextBox 75"/>
          <p:cNvSpPr txBox="1"/>
          <p:nvPr/>
        </p:nvSpPr>
        <p:spPr>
          <a:xfrm>
            <a:off x="301752" y="333756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Santos et al. (JNCA)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383280" y="3337560"/>
            <a:ext cx="6400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8" name="TextBox 77"/>
          <p:cNvSpPr txBox="1"/>
          <p:nvPr/>
        </p:nvSpPr>
        <p:spPr>
          <a:xfrm>
            <a:off x="3410712" y="333756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023360" y="333756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0" name="TextBox 79"/>
          <p:cNvSpPr txBox="1"/>
          <p:nvPr/>
        </p:nvSpPr>
        <p:spPr>
          <a:xfrm>
            <a:off x="4050792" y="33375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RL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0" y="333756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2" name="TextBox 81"/>
          <p:cNvSpPr txBox="1"/>
          <p:nvPr/>
        </p:nvSpPr>
        <p:spPr>
          <a:xfrm>
            <a:off x="5148072" y="33375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D740"/>
                </a:solidFill>
                <a:latin typeface="Calibri"/>
              </a:rPr>
              <a:t>Partial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17920" y="333756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4" name="TextBox 83"/>
          <p:cNvSpPr txBox="1"/>
          <p:nvPr/>
        </p:nvSpPr>
        <p:spPr>
          <a:xfrm>
            <a:off x="6245352" y="33375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315200" y="333756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6" name="TextBox 85"/>
          <p:cNvSpPr txBox="1"/>
          <p:nvPr/>
        </p:nvSpPr>
        <p:spPr>
          <a:xfrm>
            <a:off x="7342632" y="33375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D740"/>
                </a:solidFill>
                <a:latin typeface="Calibri"/>
              </a:rPr>
              <a:t>Partial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3337560"/>
            <a:ext cx="137160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8" name="TextBox 87"/>
          <p:cNvSpPr txBox="1"/>
          <p:nvPr/>
        </p:nvSpPr>
        <p:spPr>
          <a:xfrm>
            <a:off x="8439912" y="333756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3703320"/>
            <a:ext cx="310896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0" name="TextBox 89"/>
          <p:cNvSpPr txBox="1"/>
          <p:nvPr/>
        </p:nvSpPr>
        <p:spPr>
          <a:xfrm>
            <a:off x="301752" y="370332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Agarwal et al. (arXiv)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383280" y="3703320"/>
            <a:ext cx="6400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2" name="TextBox 91"/>
          <p:cNvSpPr txBox="1"/>
          <p:nvPr/>
        </p:nvSpPr>
        <p:spPr>
          <a:xfrm>
            <a:off x="3410712" y="370332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023360" y="370332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4" name="TextBox 93"/>
          <p:cNvSpPr txBox="1"/>
          <p:nvPr/>
        </p:nvSpPr>
        <p:spPr>
          <a:xfrm>
            <a:off x="4050792" y="37033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LSTM+Reactive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120640" y="370332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6" name="TextBox 95"/>
          <p:cNvSpPr txBox="1"/>
          <p:nvPr/>
        </p:nvSpPr>
        <p:spPr>
          <a:xfrm>
            <a:off x="5148072" y="37033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D740"/>
                </a:solidFill>
                <a:latin typeface="Calibri"/>
              </a:rPr>
              <a:t>Partial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17920" y="370332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8" name="TextBox 97"/>
          <p:cNvSpPr txBox="1"/>
          <p:nvPr/>
        </p:nvSpPr>
        <p:spPr>
          <a:xfrm>
            <a:off x="6245352" y="37033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0" y="370332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0" name="TextBox 99"/>
          <p:cNvSpPr txBox="1"/>
          <p:nvPr/>
        </p:nvSpPr>
        <p:spPr>
          <a:xfrm>
            <a:off x="7342632" y="37033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412480" y="3703320"/>
            <a:ext cx="137160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2" name="TextBox 101"/>
          <p:cNvSpPr txBox="1"/>
          <p:nvPr/>
        </p:nvSpPr>
        <p:spPr>
          <a:xfrm>
            <a:off x="8439912" y="370332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D740"/>
                </a:solidFill>
                <a:latin typeface="Calibri"/>
              </a:rPr>
              <a:t>Partial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4069080"/>
            <a:ext cx="310896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4" name="TextBox 103"/>
          <p:cNvSpPr txBox="1"/>
          <p:nvPr/>
        </p:nvSpPr>
        <p:spPr>
          <a:xfrm>
            <a:off x="301752" y="406908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Kholidy et al. (Frontiers)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383280" y="4069080"/>
            <a:ext cx="6400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6" name="TextBox 105"/>
          <p:cNvSpPr txBox="1"/>
          <p:nvPr/>
        </p:nvSpPr>
        <p:spPr>
          <a:xfrm>
            <a:off x="3410712" y="406908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023360" y="406908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8" name="TextBox 107"/>
          <p:cNvSpPr txBox="1"/>
          <p:nvPr/>
        </p:nvSpPr>
        <p:spPr>
          <a:xfrm>
            <a:off x="4050792" y="406908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Prophet+LSTM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120640" y="406908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0" name="TextBox 109"/>
          <p:cNvSpPr txBox="1"/>
          <p:nvPr/>
        </p:nvSpPr>
        <p:spPr>
          <a:xfrm>
            <a:off x="5148072" y="406908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17920" y="406908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2" name="TextBox 111"/>
          <p:cNvSpPr txBox="1"/>
          <p:nvPr/>
        </p:nvSpPr>
        <p:spPr>
          <a:xfrm>
            <a:off x="6245352" y="406908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315200" y="406908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4" name="TextBox 113"/>
          <p:cNvSpPr txBox="1"/>
          <p:nvPr/>
        </p:nvSpPr>
        <p:spPr>
          <a:xfrm>
            <a:off x="7342632" y="406908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12480" y="4069080"/>
            <a:ext cx="137160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6" name="TextBox 115"/>
          <p:cNvSpPr txBox="1"/>
          <p:nvPr/>
        </p:nvSpPr>
        <p:spPr>
          <a:xfrm>
            <a:off x="8439912" y="406908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74320" y="4434840"/>
            <a:ext cx="310896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8" name="TextBox 117"/>
          <p:cNvSpPr txBox="1"/>
          <p:nvPr/>
        </p:nvSpPr>
        <p:spPr>
          <a:xfrm>
            <a:off x="301752" y="443484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DInos (Springer)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383280" y="4434840"/>
            <a:ext cx="6400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0" name="TextBox 119"/>
          <p:cNvSpPr txBox="1"/>
          <p:nvPr/>
        </p:nvSpPr>
        <p:spPr>
          <a:xfrm>
            <a:off x="3410712" y="443484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023360" y="443484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2" name="TextBox 121"/>
          <p:cNvSpPr txBox="1"/>
          <p:nvPr/>
        </p:nvSpPr>
        <p:spPr>
          <a:xfrm>
            <a:off x="4050792" y="443484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Deep RL+LSTM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120640" y="443484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4" name="TextBox 123"/>
          <p:cNvSpPr txBox="1"/>
          <p:nvPr/>
        </p:nvSpPr>
        <p:spPr>
          <a:xfrm>
            <a:off x="5148072" y="443484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D740"/>
                </a:solidFill>
                <a:latin typeface="Calibri"/>
              </a:rPr>
              <a:t>Partial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17920" y="443484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6" name="TextBox 125"/>
          <p:cNvSpPr txBox="1"/>
          <p:nvPr/>
        </p:nvSpPr>
        <p:spPr>
          <a:xfrm>
            <a:off x="6245352" y="443484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D740"/>
                </a:solidFill>
                <a:latin typeface="Calibri"/>
              </a:rPr>
              <a:t>Partial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315200" y="443484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8" name="TextBox 127"/>
          <p:cNvSpPr txBox="1"/>
          <p:nvPr/>
        </p:nvSpPr>
        <p:spPr>
          <a:xfrm>
            <a:off x="7342632" y="443484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412480" y="4434840"/>
            <a:ext cx="137160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0" name="TextBox 129"/>
          <p:cNvSpPr txBox="1"/>
          <p:nvPr/>
        </p:nvSpPr>
        <p:spPr>
          <a:xfrm>
            <a:off x="8439912" y="443484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74320" y="4800600"/>
            <a:ext cx="310896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2" name="TextBox 131"/>
          <p:cNvSpPr txBox="1"/>
          <p:nvPr/>
        </p:nvSpPr>
        <p:spPr>
          <a:xfrm>
            <a:off x="301752" y="480060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Attn-Double-LSTM (arXiv)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383280" y="4800600"/>
            <a:ext cx="6400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4" name="TextBox 133"/>
          <p:cNvSpPr txBox="1"/>
          <p:nvPr/>
        </p:nvSpPr>
        <p:spPr>
          <a:xfrm>
            <a:off x="3410712" y="480060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2026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023360" y="480060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6" name="TextBox 135"/>
          <p:cNvSpPr txBox="1"/>
          <p:nvPr/>
        </p:nvSpPr>
        <p:spPr>
          <a:xfrm>
            <a:off x="4050792" y="480060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Attn-LSTM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120640" y="480060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8" name="TextBox 137"/>
          <p:cNvSpPr txBox="1"/>
          <p:nvPr/>
        </p:nvSpPr>
        <p:spPr>
          <a:xfrm>
            <a:off x="5148072" y="480060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17920" y="480060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0" name="TextBox 139"/>
          <p:cNvSpPr txBox="1"/>
          <p:nvPr/>
        </p:nvSpPr>
        <p:spPr>
          <a:xfrm>
            <a:off x="6245352" y="480060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315200" y="4800600"/>
            <a:ext cx="109728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2" name="TextBox 141"/>
          <p:cNvSpPr txBox="1"/>
          <p:nvPr/>
        </p:nvSpPr>
        <p:spPr>
          <a:xfrm>
            <a:off x="7342632" y="480060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412480" y="4800600"/>
            <a:ext cx="1371600" cy="365760"/>
          </a:xfrm>
          <a:prstGeom prst="rect">
            <a:avLst/>
          </a:prstGeom>
          <a:solidFill>
            <a:srgbClr val="0D1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4" name="TextBox 143"/>
          <p:cNvSpPr txBox="1"/>
          <p:nvPr/>
        </p:nvSpPr>
        <p:spPr>
          <a:xfrm>
            <a:off x="8439912" y="480060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74320" y="5166360"/>
            <a:ext cx="310896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6" name="TextBox 145"/>
          <p:cNvSpPr txBox="1"/>
          <p:nvPr/>
        </p:nvSpPr>
        <p:spPr>
          <a:xfrm>
            <a:off x="301752" y="516636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Rossi et al. (JSS)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383280" y="5166360"/>
            <a:ext cx="6400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8" name="TextBox 147"/>
          <p:cNvSpPr txBox="1"/>
          <p:nvPr/>
        </p:nvSpPr>
        <p:spPr>
          <a:xfrm>
            <a:off x="3410712" y="516636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2025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023360" y="516636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0" name="TextBox 149"/>
          <p:cNvSpPr txBox="1"/>
          <p:nvPr/>
        </p:nvSpPr>
        <p:spPr>
          <a:xfrm>
            <a:off x="4050792" y="51663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FA8DA"/>
                </a:solidFill>
                <a:latin typeface="Calibri"/>
              </a:rPr>
              <a:t>LLM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120640" y="516636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2" name="TextBox 151"/>
          <p:cNvSpPr txBox="1"/>
          <p:nvPr/>
        </p:nvSpPr>
        <p:spPr>
          <a:xfrm>
            <a:off x="5148072" y="51663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9F0AE"/>
                </a:solidFill>
                <a:latin typeface="Calibri"/>
              </a:rPr>
              <a:t>✓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17920" y="516636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4" name="TextBox 153"/>
          <p:cNvSpPr txBox="1"/>
          <p:nvPr/>
        </p:nvSpPr>
        <p:spPr>
          <a:xfrm>
            <a:off x="6245352" y="51663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D740"/>
                </a:solidFill>
                <a:latin typeface="Calibri"/>
              </a:rPr>
              <a:t>Partial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315200" y="5166360"/>
            <a:ext cx="109728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6" name="TextBox 155"/>
          <p:cNvSpPr txBox="1"/>
          <p:nvPr/>
        </p:nvSpPr>
        <p:spPr>
          <a:xfrm>
            <a:off x="7342632" y="516636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412480" y="5166360"/>
            <a:ext cx="1371600" cy="36576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8" name="TextBox 157"/>
          <p:cNvSpPr txBox="1"/>
          <p:nvPr/>
        </p:nvSpPr>
        <p:spPr>
          <a:xfrm>
            <a:off x="8439912" y="516636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5252"/>
                </a:solidFill>
                <a:latin typeface="Calibri"/>
              </a:rPr>
              <a:t>✗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74320" y="5532120"/>
            <a:ext cx="3108960" cy="365760"/>
          </a:xfrm>
          <a:prstGeom prst="rect">
            <a:avLst/>
          </a:prstGeom>
          <a:solidFill>
            <a:srgbClr val="05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0" name="TextBox 159"/>
          <p:cNvSpPr txBox="1"/>
          <p:nvPr/>
        </p:nvSpPr>
        <p:spPr>
          <a:xfrm>
            <a:off x="301752" y="5532120"/>
            <a:ext cx="305409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This Work (Ours)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383280" y="5532120"/>
            <a:ext cx="640080" cy="365760"/>
          </a:xfrm>
          <a:prstGeom prst="rect">
            <a:avLst/>
          </a:prstGeom>
          <a:solidFill>
            <a:srgbClr val="05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2" name="TextBox 161"/>
          <p:cNvSpPr txBox="1"/>
          <p:nvPr/>
        </p:nvSpPr>
        <p:spPr>
          <a:xfrm>
            <a:off x="3410712" y="5532120"/>
            <a:ext cx="5852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2026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23360" y="5532120"/>
            <a:ext cx="1097280" cy="365760"/>
          </a:xfrm>
          <a:prstGeom prst="rect">
            <a:avLst/>
          </a:prstGeom>
          <a:solidFill>
            <a:srgbClr val="05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4" name="TextBox 163"/>
          <p:cNvSpPr txBox="1"/>
          <p:nvPr/>
        </p:nvSpPr>
        <p:spPr>
          <a:xfrm>
            <a:off x="4050792" y="55321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5FF"/>
                </a:solidFill>
                <a:latin typeface="Calibri"/>
              </a:rPr>
              <a:t>LSTM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120640" y="5532120"/>
            <a:ext cx="1097280" cy="365760"/>
          </a:xfrm>
          <a:prstGeom prst="rect">
            <a:avLst/>
          </a:prstGeom>
          <a:solidFill>
            <a:srgbClr val="05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6" name="TextBox 165"/>
          <p:cNvSpPr txBox="1"/>
          <p:nvPr/>
        </p:nvSpPr>
        <p:spPr>
          <a:xfrm>
            <a:off x="5148072" y="55321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9F0AE"/>
                </a:solidFill>
                <a:latin typeface="Calibri"/>
              </a:rPr>
              <a:t>✓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217920" y="5532120"/>
            <a:ext cx="1097280" cy="365760"/>
          </a:xfrm>
          <a:prstGeom prst="rect">
            <a:avLst/>
          </a:prstGeom>
          <a:solidFill>
            <a:srgbClr val="05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8" name="TextBox 167"/>
          <p:cNvSpPr txBox="1"/>
          <p:nvPr/>
        </p:nvSpPr>
        <p:spPr>
          <a:xfrm>
            <a:off x="6245352" y="55321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9F0AE"/>
                </a:solidFill>
                <a:latin typeface="Calibri"/>
              </a:rPr>
              <a:t>✓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315200" y="5532120"/>
            <a:ext cx="1097280" cy="365760"/>
          </a:xfrm>
          <a:prstGeom prst="rect">
            <a:avLst/>
          </a:prstGeom>
          <a:solidFill>
            <a:srgbClr val="05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0" name="TextBox 169"/>
          <p:cNvSpPr txBox="1"/>
          <p:nvPr/>
        </p:nvSpPr>
        <p:spPr>
          <a:xfrm>
            <a:off x="7342632" y="5532120"/>
            <a:ext cx="104241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9F0AE"/>
                </a:solidFill>
                <a:latin typeface="Calibri"/>
              </a:rPr>
              <a:t>✓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412480" y="5532120"/>
            <a:ext cx="1371600" cy="365760"/>
          </a:xfrm>
          <a:prstGeom prst="rect">
            <a:avLst/>
          </a:prstGeom>
          <a:solidFill>
            <a:srgbClr val="05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2" name="TextBox 171"/>
          <p:cNvSpPr txBox="1"/>
          <p:nvPr/>
        </p:nvSpPr>
        <p:spPr>
          <a:xfrm>
            <a:off x="8439912" y="5532120"/>
            <a:ext cx="131673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9F0AE"/>
                </a:solidFill>
                <a:latin typeface="Calibri"/>
              </a:rPr>
              <a:t>✓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74320" y="6035040"/>
            <a:ext cx="11643055" cy="50292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4" name="Rectangle 173"/>
          <p:cNvSpPr/>
          <p:nvPr/>
        </p:nvSpPr>
        <p:spPr>
          <a:xfrm>
            <a:off x="274320" y="6035040"/>
            <a:ext cx="11643055" cy="36576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5" name="TextBox 174"/>
          <p:cNvSpPr txBox="1"/>
          <p:nvPr/>
        </p:nvSpPr>
        <p:spPr>
          <a:xfrm>
            <a:off x="411480" y="6053328"/>
            <a:ext cx="11368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9FA8DA"/>
                </a:solidFill>
                <a:latin typeface="Calibri"/>
              </a:rPr>
              <a:t>Key Finding: No single paper combines all 4 contributions. Our work is the first to integrate all 4 + end-to-end DevOps pipeline.</a:t>
            </a:r>
          </a:p>
        </p:txBody>
      </p:sp>
      <p:sp>
        <p:nvSpPr>
          <p:cNvPr id="176" name="Slide Number Placeholder 175">
            <a:extLst>
              <a:ext uri="{FF2B5EF4-FFF2-40B4-BE49-F238E27FC236}">
                <a16:creationId xmlns:a16="http://schemas.microsoft.com/office/drawing/2014/main" id="{7F7BCD95-8154-A8B9-DA9D-87633848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00E5FF"/>
                </a:solidFill>
                <a:latin typeface="Calibri"/>
              </a:rPr>
              <a:t>What's New in Our Research?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FA8DA"/>
                </a:solidFill>
                <a:latin typeface="Calibri"/>
              </a:rPr>
              <a:t>Why our paper is different from all 10 reviewed papers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54864" cy="1874519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Rectangle 5"/>
          <p:cNvSpPr/>
          <p:nvPr/>
        </p:nvSpPr>
        <p:spPr>
          <a:xfrm>
            <a:off x="603504" y="1627632"/>
            <a:ext cx="5248656" cy="1874519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4983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E5FF"/>
                </a:solidFill>
                <a:latin typeface="Calibri"/>
              </a:rPr>
              <a:t>1. Multi-Metric LSTM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7661"/>
            <a:ext cx="4983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FA8DA"/>
                </a:solidFill>
                <a:latin typeface="Calibri"/>
              </a:rPr>
              <a:t>Others: Most papers use single metric (CPU or HTTP requests)
Patil 2023: Uses multi-metric BUT no drift/cost/confidence
We added: CPU + Memory + Network as 3 correlated features. Network spikes predict CPU spikes 1-2 intervals ahead.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27632"/>
            <a:ext cx="54864" cy="1874519"/>
          </a:xfrm>
          <a:prstGeom prst="rect">
            <a:avLst/>
          </a:prstGeom>
          <a:solidFill>
            <a:srgbClr val="FF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0" name="Rectangle 9"/>
          <p:cNvSpPr/>
          <p:nvPr/>
        </p:nvSpPr>
        <p:spPr>
          <a:xfrm>
            <a:off x="6272784" y="1627632"/>
            <a:ext cx="5248656" cy="1874519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1" name="TextBox 10"/>
          <p:cNvSpPr txBox="1"/>
          <p:nvPr/>
        </p:nvSpPr>
        <p:spPr>
          <a:xfrm>
            <a:off x="6400800" y="1719072"/>
            <a:ext cx="4983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9100"/>
                </a:solidFill>
                <a:latin typeface="Calibri"/>
              </a:rPr>
              <a:t>2. Drift Detection + Auto-Retrain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7661"/>
            <a:ext cx="4983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FA8DA"/>
                </a:solidFill>
                <a:latin typeface="Calibri"/>
              </a:rPr>
              <a:t>Others: No paper uses MAPE sliding window for drift
</a:t>
            </a:r>
            <a:r>
              <a:rPr sz="1400" b="0" i="0" dirty="0" err="1">
                <a:solidFill>
                  <a:srgbClr val="9FA8DA"/>
                </a:solidFill>
                <a:latin typeface="Calibri"/>
              </a:rPr>
              <a:t>DInos</a:t>
            </a:r>
            <a:r>
              <a:rPr sz="1400" b="0" i="0" dirty="0">
                <a:solidFill>
                  <a:srgbClr val="9FA8DA"/>
                </a:solidFill>
                <a:latin typeface="Calibri"/>
              </a:rPr>
              <a:t> 2025: Transfer learning (different approach)
We added: Sliding window of 20 errors, MAPE threshold &gt; 50% triggers emergency retrain. Real-time accuracy monitoring.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85031"/>
            <a:ext cx="54864" cy="1874519"/>
          </a:xfrm>
          <a:prstGeom prst="rect">
            <a:avLst/>
          </a:prstGeom>
          <a:solidFill>
            <a:srgbClr val="F06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4" name="Rectangle 13"/>
          <p:cNvSpPr/>
          <p:nvPr/>
        </p:nvSpPr>
        <p:spPr>
          <a:xfrm>
            <a:off x="603504" y="3685031"/>
            <a:ext cx="5248656" cy="1874519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731520" y="3776471"/>
            <a:ext cx="4983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6292"/>
                </a:solidFill>
                <a:latin typeface="Calibri"/>
              </a:rPr>
              <a:t>3. Cost-Aware Scaling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5060"/>
            <a:ext cx="4983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FA8DA"/>
                </a:solidFill>
                <a:latin typeface="Calibri"/>
              </a:rPr>
              <a:t>Others: No paper tracks $ per scaling decision
Gwydion 2024: Cost-aware rewards but no per-event $ tracking
We added: Every scale-up/down logged with exact $/</a:t>
            </a:r>
            <a:r>
              <a:rPr sz="1400" b="0" i="0" dirty="0" err="1">
                <a:solidFill>
                  <a:srgbClr val="9FA8DA"/>
                </a:solidFill>
                <a:latin typeface="Calibri"/>
              </a:rPr>
              <a:t>hr</a:t>
            </a:r>
            <a:r>
              <a:rPr sz="1400" b="0" i="0" dirty="0">
                <a:solidFill>
                  <a:srgbClr val="9FA8DA"/>
                </a:solidFill>
                <a:latin typeface="Calibri"/>
              </a:rPr>
              <a:t> impact. Enables ROI analysis: ML predictions vs reactive HPA.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685031"/>
            <a:ext cx="54864" cy="1874519"/>
          </a:xfrm>
          <a:prstGeom prst="rect">
            <a:avLst/>
          </a:prstGeom>
          <a:solidFill>
            <a:srgbClr val="B3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Rectangle 17"/>
          <p:cNvSpPr/>
          <p:nvPr/>
        </p:nvSpPr>
        <p:spPr>
          <a:xfrm>
            <a:off x="6272784" y="3685031"/>
            <a:ext cx="5248656" cy="1874519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TextBox 18"/>
          <p:cNvSpPr txBox="1"/>
          <p:nvPr/>
        </p:nvSpPr>
        <p:spPr>
          <a:xfrm>
            <a:off x="6400800" y="3776471"/>
            <a:ext cx="4983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388FF"/>
                </a:solidFill>
                <a:latin typeface="Calibri"/>
              </a:rPr>
              <a:t>4. Confidence-Gated HPA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45060"/>
            <a:ext cx="4983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FA8DA"/>
                </a:solidFill>
                <a:latin typeface="Calibri"/>
              </a:rPr>
              <a:t>Others: No paper falls back to HPA based on confidence
Agarwal 2025: Hybrid but threshold-based, not confidence-based
We added: If model confidence &lt; 70%, system falls back to Kubernetes HPA. Safety net prevents bad predictions.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solidFill>
            <a:srgbClr val="0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2" name="TextBox 21"/>
          <p:cNvSpPr txBox="1"/>
          <p:nvPr/>
        </p:nvSpPr>
        <p:spPr>
          <a:xfrm>
            <a:off x="685800" y="6099048"/>
            <a:ext cx="108200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00E5FF"/>
                </a:solidFill>
                <a:latin typeface="Calibri"/>
              </a:rPr>
              <a:t>Plus: Complete DevOps pipeline (Jenkins 9-stage CI/CD + </a:t>
            </a:r>
            <a:r>
              <a:rPr sz="1400" b="0" i="0" dirty="0" err="1">
                <a:solidFill>
                  <a:srgbClr val="00E5FF"/>
                </a:solidFill>
                <a:latin typeface="Calibri"/>
              </a:rPr>
              <a:t>ArgoCD</a:t>
            </a:r>
            <a:r>
              <a:rPr sz="1400" b="0" i="0" dirty="0">
                <a:solidFill>
                  <a:srgbClr val="00E5F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0E5FF"/>
                </a:solidFill>
                <a:latin typeface="Calibri"/>
              </a:rPr>
              <a:t>GitOps</a:t>
            </a:r>
            <a:r>
              <a:rPr sz="1400" b="0" i="0" dirty="0">
                <a:solidFill>
                  <a:srgbClr val="00E5FF"/>
                </a:solidFill>
                <a:latin typeface="Calibri"/>
              </a:rPr>
              <a:t> + 3-node K8s cluster) — no research paper includes this.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B08F860F-9CE3-178E-E149-39C6F925E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 dirty="0">
                <a:solidFill>
                  <a:srgbClr val="00E5FF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92400"/>
            <a:ext cx="110944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dirty="0">
                <a:solidFill>
                  <a:srgbClr val="9FA8DA"/>
                </a:solidFill>
                <a:latin typeface="Calibri"/>
              </a:rPr>
              <a:t>10 recent papers reviewed (2021–2026)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37960"/>
            <a:ext cx="1182593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51760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9FA8DA"/>
                </a:solidFill>
                <a:latin typeface="Calibri"/>
              </a:rPr>
              <a:t>[1] Toka, L. et al. Machine Learning-Based Scaling Management for Kubernetes Edge Clusters. IEEE TNSM, Vol. 18, pp. 958-972, 2021.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651760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8" name="TextBox 7"/>
          <p:cNvSpPr txBox="1"/>
          <p:nvPr/>
        </p:nvSpPr>
        <p:spPr>
          <a:xfrm>
            <a:off x="6309360" y="2697480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A8DA"/>
                </a:solidFill>
                <a:latin typeface="Calibri"/>
              </a:rPr>
              <a:t>[2] Dang-Quang, N.-M. &amp; Yoo, M. Deep Learning-Based Autoscaling Using Bi-LSTM for Kubernetes. MDPI Applied Sciences, Vol. 11(9), 2021.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310128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0" name="TextBox 9"/>
          <p:cNvSpPr txBox="1"/>
          <p:nvPr/>
        </p:nvSpPr>
        <p:spPr>
          <a:xfrm>
            <a:off x="640080" y="3355848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9FA8DA"/>
                </a:solidFill>
                <a:latin typeface="Calibri"/>
              </a:rPr>
              <a:t>[3] Xu, Y. et al. A Meta Reinforcement Learning Approach for Predictive Autoscaling in the Cloud. ACM KDD, 2022.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310128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2" name="TextBox 11"/>
          <p:cNvSpPr txBox="1"/>
          <p:nvPr/>
        </p:nvSpPr>
        <p:spPr>
          <a:xfrm>
            <a:off x="6309360" y="3355848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A8DA"/>
                </a:solidFill>
                <a:latin typeface="Calibri"/>
              </a:rPr>
              <a:t>[4] Patil, S. &amp; Singh, D.G. ILP Optimized LSTM-based Autoscaling and Scheduling in Edge-Cloud. JTIT, 2023.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68496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4" name="TextBox 13"/>
          <p:cNvSpPr txBox="1"/>
          <p:nvPr/>
        </p:nvSpPr>
        <p:spPr>
          <a:xfrm>
            <a:off x="640080" y="4014216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9FA8DA"/>
                </a:solidFill>
                <a:latin typeface="Calibri"/>
              </a:rPr>
              <a:t>[5] Santos, J. et al. Gwydion: Efficient Auto-Scaling for Containerized Applications via RL. Elsevier JNCA, Vol. 234, 2024.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968496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6" name="TextBox 15"/>
          <p:cNvSpPr txBox="1"/>
          <p:nvPr/>
        </p:nvSpPr>
        <p:spPr>
          <a:xfrm>
            <a:off x="6309360" y="4014216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A8DA"/>
                </a:solidFill>
                <a:latin typeface="Calibri"/>
              </a:rPr>
              <a:t>[6] Agarwal et al. A Hybrid Reactive-Proactive Auto-scaling for SLA-Constrained Edge Computing. arXiv:2512.14290, 2025.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26864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8" name="TextBox 17"/>
          <p:cNvSpPr txBox="1"/>
          <p:nvPr/>
        </p:nvSpPr>
        <p:spPr>
          <a:xfrm>
            <a:off x="640080" y="4672584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A8DA"/>
                </a:solidFill>
                <a:latin typeface="Calibri"/>
              </a:rPr>
              <a:t>[7] Kholidy et al. Time Series Forecasting-Based K8s Autoscaling Using Prophet and LSTM. Frontiers in Computer Science, 2025.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626864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0" name="TextBox 19"/>
          <p:cNvSpPr txBox="1"/>
          <p:nvPr/>
        </p:nvSpPr>
        <p:spPr>
          <a:xfrm>
            <a:off x="6309360" y="4672584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9FA8DA"/>
                </a:solidFill>
                <a:latin typeface="Calibri"/>
              </a:rPr>
              <a:t>[8] </a:t>
            </a:r>
            <a:r>
              <a:rPr sz="1200" b="0" i="0" dirty="0" err="1">
                <a:solidFill>
                  <a:srgbClr val="9FA8DA"/>
                </a:solidFill>
                <a:latin typeface="Calibri"/>
              </a:rPr>
              <a:t>DInos</a:t>
            </a:r>
            <a:r>
              <a:rPr sz="1200" b="0" i="0" dirty="0">
                <a:solidFill>
                  <a:srgbClr val="9FA8DA"/>
                </a:solidFill>
                <a:latin typeface="Calibri"/>
              </a:rPr>
              <a:t>: Deep RL Approach to Generalizable Autoscaling in Stateless Cloud Apps. Springer, 2025.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85232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2" name="TextBox 21"/>
          <p:cNvSpPr txBox="1"/>
          <p:nvPr/>
        </p:nvSpPr>
        <p:spPr>
          <a:xfrm>
            <a:off x="640080" y="5330952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A8DA"/>
                </a:solidFill>
                <a:latin typeface="Calibri"/>
              </a:rPr>
              <a:t>[9] Mitigating Temporal Blindness in K8s Autoscaling: Attention-Double-LSTM Framework. arXiv:2603.28790,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5285232"/>
            <a:ext cx="5303520" cy="566928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4" name="TextBox 23"/>
          <p:cNvSpPr txBox="1"/>
          <p:nvPr/>
        </p:nvSpPr>
        <p:spPr>
          <a:xfrm>
            <a:off x="6309360" y="5330952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A8DA"/>
                </a:solidFill>
                <a:latin typeface="Calibri"/>
              </a:rPr>
              <a:t>[10] Rossi et al. From Reactive to Predictive: Pattern-Aware Framework with LLM Integration. Elsevier JSS, 2025.</a:t>
            </a:r>
          </a:p>
        </p:txBody>
      </p:sp>
      <p:sp>
        <p:nvSpPr>
          <p:cNvPr id="130" name="Slide Number Placeholder 129">
            <a:extLst>
              <a:ext uri="{FF2B5EF4-FFF2-40B4-BE49-F238E27FC236}">
                <a16:creationId xmlns:a16="http://schemas.microsoft.com/office/drawing/2014/main" id="{6E532C4A-8BFD-61A2-3C5A-3C1A8D9ED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00E5FF"/>
                </a:solidFill>
                <a:latin typeface="Calibri"/>
              </a:rPr>
              <a:t>Live Demo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6537960"/>
            <a:ext cx="118259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72768"/>
            <a:ext cx="347472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474720" cy="4572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685800" y="1682496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9F0AE"/>
                </a:solidFill>
                <a:latin typeface="Calibri"/>
              </a:rPr>
              <a:t>Jenkins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All 9 stages completed successfully with green status indicators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572768"/>
            <a:ext cx="347472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Rectangle 8"/>
          <p:cNvSpPr/>
          <p:nvPr/>
        </p:nvSpPr>
        <p:spPr>
          <a:xfrm>
            <a:off x="4251960" y="1572768"/>
            <a:ext cx="3474720" cy="457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0" name="TextBox 9"/>
          <p:cNvSpPr txBox="1"/>
          <p:nvPr/>
        </p:nvSpPr>
        <p:spPr>
          <a:xfrm>
            <a:off x="4389120" y="1682496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E5FF"/>
                </a:solidFill>
                <a:latin typeface="Calibri"/>
              </a:rPr>
              <a:t>Unit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8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21 pytest tests passing, verifying all components work correctly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1572768"/>
            <a:ext cx="347472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Rectangle 12"/>
          <p:cNvSpPr/>
          <p:nvPr/>
        </p:nvSpPr>
        <p:spPr>
          <a:xfrm>
            <a:off x="7955280" y="1572768"/>
            <a:ext cx="3474720" cy="45720"/>
          </a:xfrm>
          <a:prstGeom prst="rect">
            <a:avLst/>
          </a:prstGeom>
          <a:solidFill>
            <a:srgbClr val="FF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4" name="TextBox 13"/>
          <p:cNvSpPr txBox="1"/>
          <p:nvPr/>
        </p:nvSpPr>
        <p:spPr>
          <a:xfrm>
            <a:off x="8092440" y="1682496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9100"/>
                </a:solidFill>
                <a:latin typeface="Calibri"/>
              </a:rPr>
              <a:t>Code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01168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flake8 analysis: 0 errors, full PEP 8 compliance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81528"/>
            <a:ext cx="347472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Rectangle 16"/>
          <p:cNvSpPr/>
          <p:nvPr/>
        </p:nvSpPr>
        <p:spPr>
          <a:xfrm>
            <a:off x="548640" y="3081528"/>
            <a:ext cx="3474720" cy="45720"/>
          </a:xfrm>
          <a:prstGeom prst="rect">
            <a:avLst/>
          </a:prstGeom>
          <a:solidFill>
            <a:srgbClr val="B3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TextBox 17"/>
          <p:cNvSpPr txBox="1"/>
          <p:nvPr/>
        </p:nvSpPr>
        <p:spPr>
          <a:xfrm>
            <a:off x="685800" y="3191256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388FF"/>
                </a:solidFill>
                <a:latin typeface="Calibri"/>
              </a:rPr>
              <a:t>Web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2044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Running with student information, health checks passing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3081528"/>
            <a:ext cx="347472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1" name="Rectangle 20"/>
          <p:cNvSpPr/>
          <p:nvPr/>
        </p:nvSpPr>
        <p:spPr>
          <a:xfrm>
            <a:off x="4251960" y="3081528"/>
            <a:ext cx="3474720" cy="45720"/>
          </a:xfrm>
          <a:prstGeom prst="rect">
            <a:avLst/>
          </a:prstGeom>
          <a:solidFill>
            <a:srgbClr val="F06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2" name="TextBox 21"/>
          <p:cNvSpPr txBox="1"/>
          <p:nvPr/>
        </p:nvSpPr>
        <p:spPr>
          <a:xfrm>
            <a:off x="4389120" y="3191256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6292"/>
                </a:solidFill>
                <a:latin typeface="Calibri"/>
              </a:rPr>
              <a:t>ArgoCD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52044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Auto-sync from GitHub triggered, cluster state reconciled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80" y="3081528"/>
            <a:ext cx="3474720" cy="132588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5" name="Rectangle 24"/>
          <p:cNvSpPr/>
          <p:nvPr/>
        </p:nvSpPr>
        <p:spPr>
          <a:xfrm>
            <a:off x="7955280" y="3081528"/>
            <a:ext cx="3474720" cy="4572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6" name="TextBox 25"/>
          <p:cNvSpPr txBox="1"/>
          <p:nvPr/>
        </p:nvSpPr>
        <p:spPr>
          <a:xfrm>
            <a:off x="8092440" y="3191256"/>
            <a:ext cx="3200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9F0AE"/>
                </a:solidFill>
                <a:latin typeface="Calibri"/>
              </a:rPr>
              <a:t>K8s Pods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52044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FA8DA"/>
                </a:solidFill>
                <a:latin typeface="Calibri"/>
              </a:rPr>
              <a:t>All pods running across 3-node cluster, services healthy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792" y="5543865"/>
            <a:ext cx="11094415" cy="50292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TextBox 28"/>
          <p:cNvSpPr txBox="1"/>
          <p:nvPr/>
        </p:nvSpPr>
        <p:spPr>
          <a:xfrm>
            <a:off x="548792" y="5543865"/>
            <a:ext cx="11094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 err="1">
                <a:solidFill>
                  <a:srgbClr val="00E5FF"/>
                </a:solidFill>
                <a:latin typeface="Courier New"/>
              </a:rPr>
              <a:t>kubectl</a:t>
            </a:r>
            <a:r>
              <a:rPr sz="1600" b="0" i="0" dirty="0">
                <a:solidFill>
                  <a:srgbClr val="00E5FF"/>
                </a:solidFill>
                <a:latin typeface="Courier New"/>
              </a:rPr>
              <a:t> get pods → web-app ✓   |   ml-predictor ✓   |   predictive-scaler ✓</a:t>
            </a: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3BA627EC-8E98-8F92-244F-64B7271EB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944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00E5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6537960"/>
            <a:ext cx="1182593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69F0AE"/>
                </a:solidFill>
                <a:latin typeface="Calibri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56232"/>
            <a:ext cx="5303520" cy="3200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548640" y="1856232"/>
            <a:ext cx="54864" cy="32004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292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FA8DA"/>
                </a:solidFill>
                <a:latin typeface="Calibri"/>
              </a:rPr>
              <a:t>✓ Successfully implemented predictive auto-scaling with LSTM neural networks
✓ 4 unique contributions not found together in any single prior work
✓ Complete end-to-end DevOps pipeline with CI/CD + GitOps (Jenkins + ArgoCD)
✓ 100% elimination of scaling delay, 54% CPU reduction per pod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9100"/>
                </a:solidFill>
                <a:latin typeface="Calibri"/>
              </a:rPr>
              <a:t>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856232"/>
            <a:ext cx="5303520" cy="3200400"/>
          </a:xfrm>
          <a:prstGeom prst="rect">
            <a:avLst/>
          </a:prstGeom>
          <a:solidFill>
            <a:srgbClr val="161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ectangle 9"/>
          <p:cNvSpPr/>
          <p:nvPr/>
        </p:nvSpPr>
        <p:spPr>
          <a:xfrm>
            <a:off x="6492240" y="1856232"/>
            <a:ext cx="54864" cy="3200400"/>
          </a:xfrm>
          <a:prstGeom prst="rect">
            <a:avLst/>
          </a:prstGeom>
          <a:solidFill>
            <a:srgbClr val="FF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6675120" y="1947672"/>
            <a:ext cx="50292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FA8DA"/>
                </a:solidFill>
                <a:latin typeface="Calibri"/>
              </a:rPr>
              <a:t>▶ Transformer-based models for longer forecasting horizons (hours ahead)
▶ Multi-cluster federation for cross-region scaling decisions
▶ Real-time A/B testing of scaling strategies (ML vs HPA vs hybrid)
▶ Integration with cloud cost APIs (AWS Cost Explorer, GCP Billing)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44576B8-1139-D319-3185-585D8F650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537960"/>
            <a:ext cx="118259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FA8DA"/>
                </a:solidFill>
                <a:latin typeface="Calibri"/>
              </a:rPr>
              <a:t>Intelligent Auto-Scaling in Kubernetes: A Machine Learning Based Predictive Approach  |  Prerna Tank (2410512)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0E5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8EAF6"/>
                </a:solidFill>
                <a:latin typeface="Calibri"/>
              </a:rPr>
              <a:t>Prerna Tank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112772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FA8DA"/>
                </a:solidFill>
                <a:latin typeface="Calibri"/>
              </a:rPr>
              <a:t>M.Tech (Computer Science)  |  Roll No: 2410512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772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FA8DA"/>
                </a:solidFill>
                <a:latin typeface="Calibri"/>
              </a:rPr>
              <a:t>Devi Ahilya Vishwavidyalaya, Indore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37560"/>
            <a:ext cx="112772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FA8DA"/>
                </a:solidFill>
                <a:latin typeface="Calibri"/>
              </a:rPr>
              <a:t>Advisor: Dr. Shraddha Masih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4960" y="3749039"/>
            <a:ext cx="1371600" cy="457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TextBox 8"/>
          <p:cNvSpPr txBox="1"/>
          <p:nvPr/>
        </p:nvSpPr>
        <p:spPr>
          <a:xfrm>
            <a:off x="457200" y="3971089"/>
            <a:ext cx="112772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>
                <a:solidFill>
                  <a:srgbClr val="00E5FF"/>
                </a:solidFill>
                <a:latin typeface="Courier New"/>
              </a:rPr>
              <a:t>github.com/prerna3640/HA-K8S1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112" y="4468952"/>
            <a:ext cx="112772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FA8D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FACAE5B-AA5F-9CA3-CA93-31278816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2722</Words>
  <Application>Microsoft Office PowerPoint</Application>
  <PresentationFormat>Widescreen</PresentationFormat>
  <Paragraphs>370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Bhavishya Tank</cp:lastModifiedBy>
  <cp:revision>3</cp:revision>
  <dcterms:created xsi:type="dcterms:W3CDTF">2013-01-27T09:14:16Z</dcterms:created>
  <dcterms:modified xsi:type="dcterms:W3CDTF">2026-04-10T20:35:34Z</dcterms:modified>
  <cp:category/>
</cp:coreProperties>
</file>