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a87ff6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ea87ff6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a87ff66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a87ff66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35e2d0ed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35e2d0ed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a87ff66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ea87ff66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a87ff66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ea87ff66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a87ff66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ea87ff66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35e2d0ed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35e2d0ed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35e2d0ed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35e2d0ed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35e2d0ed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35e2d0ed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35e2d0ed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335e2d0ed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ea87ff667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ea87ff66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ea87ff667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ea87ff66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26175" y="500425"/>
            <a:ext cx="8895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80">
                <a:solidFill>
                  <a:srgbClr val="637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Information Technology (DAVV)</a:t>
            </a:r>
            <a:endParaRPr b="1" sz="2280">
              <a:solidFill>
                <a:srgbClr val="6370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8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8600" y="3656800"/>
            <a:ext cx="2536500" cy="1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6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  <a:endParaRPr b="1" sz="2569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6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Shraddha masih</a:t>
            </a:r>
            <a:endParaRPr b="1" sz="2569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19050" y="1620550"/>
            <a:ext cx="81615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KUBERNETES: A Machine Learning Based Predictive Approach </a:t>
            </a:r>
            <a:endParaRPr b="1" sz="2200">
              <a:solidFill>
                <a:srgbClr val="6370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662550" y="3562850"/>
            <a:ext cx="2912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2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by : Prerna Tank</a:t>
            </a:r>
            <a:br>
              <a:rPr b="1" lang="en-GB" sz="252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52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M.Tech(CS)</a:t>
            </a:r>
            <a:br>
              <a:rPr b="1" lang="en-GB" sz="252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52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2410512  </a:t>
            </a:r>
            <a:endParaRPr b="1" sz="2529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D0D0D"/>
              </a:solidFill>
            </a:endParaRPr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727950" y="535650"/>
            <a:ext cx="76881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80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2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729625" y="1425625"/>
            <a:ext cx="7688100" cy="3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1. Introduction &amp; Motivation </a:t>
            </a:r>
            <a:b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2. Current Implementation Status</a:t>
            </a:r>
            <a:b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3. Problem Statement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4. Proposed Solution Architecture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b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6.</a:t>
            </a:r>
            <a:r>
              <a:rPr lang="en-GB"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553300" y="462675"/>
            <a:ext cx="55086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8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>
            <p:ph idx="1" type="subTitle"/>
          </p:nvPr>
        </p:nvSpPr>
        <p:spPr>
          <a:xfrm>
            <a:off x="553300" y="1143775"/>
            <a:ext cx="8291400" cy="4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WHAT IS KUBERNETES AUTO-SCALING?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Automatically adjusts application replicas based on load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Ensures high availability during traffic spikes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 Optimizes resource utilization and cost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CURRENT LIMITATIONS: 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REACTIVE Scaling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→ Waits for metrics to cross threshold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→ Scaling happens AFTER load increases 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Performance Degradation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→ Users experience latency during scale-up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Resource Wastage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→ Over-provisioning to compensate for lag 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→ 20-30% cost inefficiency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803450" y="2794875"/>
            <a:ext cx="3141000" cy="1908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OUR GOAL: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PROACTIVE Scaling using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Predict load BEFORE it happens Scale up in advance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729450" y="6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CURRENT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656800" y="1244700"/>
            <a:ext cx="7688700" cy="38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KUBERNETES CLUSTER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1 Controller + 2 Workers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Containerd Runtime 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Flannel Networking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HIGH AVAILABILITY WEB APP   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2 Replicas (Load Balanced)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Traefik Ingress Controller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Round-robin distribution 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MONITORING STACK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Prometheus (Metrics)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Grafana (Dashboards)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Alertmanager (Telegram)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Node Exporter (3 nodes)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623775" y="555350"/>
            <a:ext cx="76887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40">
                <a:latin typeface="Times New Roman"/>
                <a:ea typeface="Times New Roman"/>
                <a:cs typeface="Times New Roman"/>
                <a:sym typeface="Times New Roman"/>
              </a:rPr>
              <a:t>CURRENT IMPLEMENTATION STATUS</a:t>
            </a:r>
            <a:br>
              <a:rPr lang="en-GB" sz="21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40">
                <a:latin typeface="Times New Roman"/>
                <a:ea typeface="Times New Roman"/>
                <a:cs typeface="Times New Roman"/>
                <a:sym typeface="Times New Roman"/>
              </a:rPr>
              <a:t>Phase 1: Infrastructure</a:t>
            </a:r>
            <a:endParaRPr sz="21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623775" y="1620875"/>
            <a:ext cx="8549100" cy="3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400"/>
            </a:br>
            <a:r>
              <a:rPr b="1" lang="en-GB" sz="1400"/>
              <a:t>KUBERNETES CLUSTER SETUP</a:t>
            </a:r>
            <a:br>
              <a:rPr b="1" lang="en-GB" sz="1400"/>
            </a:br>
            <a:br>
              <a:rPr lang="en-GB" sz="1400"/>
            </a:b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 Node: controller-kub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Plane Components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Server, Scheduler, Controller Manager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etcd (cluster state) </a:t>
            </a:r>
            <a:b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 Nodes: 2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worker-2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workernew </a:t>
            </a:r>
            <a:b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Runtime: Containerd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Plugin: Flannel CNI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 Network: 10.244.0.0/16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Network: 10.96.0.0/12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400"/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727650" y="520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389"/>
              <a:buFont typeface="Arial"/>
              <a:buNone/>
            </a:pPr>
            <a:r>
              <a:rPr lang="en-GB" sz="2451">
                <a:latin typeface="Times New Roman"/>
                <a:ea typeface="Times New Roman"/>
                <a:cs typeface="Times New Roman"/>
                <a:sym typeface="Times New Roman"/>
              </a:rPr>
              <a:t>CURRENT IMPLEMENTATION STATUS</a:t>
            </a:r>
            <a:br>
              <a:rPr lang="en-GB" sz="225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5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6261"/>
              <a:buFont typeface="Arial"/>
              <a:buNone/>
            </a:pPr>
            <a:r>
              <a:rPr lang="en-GB" sz="2140">
                <a:latin typeface="Times New Roman"/>
                <a:ea typeface="Times New Roman"/>
                <a:cs typeface="Times New Roman"/>
                <a:sym typeface="Times New Roman"/>
              </a:rPr>
              <a:t>Phase 2: HA Application &amp; Ingress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727650" y="1472600"/>
            <a:ext cx="76887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GB" sz="1407">
                <a:latin typeface="Times New Roman"/>
                <a:ea typeface="Times New Roman"/>
                <a:cs typeface="Times New Roman"/>
                <a:sym typeface="Times New Roman"/>
              </a:rPr>
              <a:t>HIGH AVAILABILITY WEB APPLICATION    :  </a:t>
            </a: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Deployment: web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Replicas: 2 (for HA)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Image: nginx-based custom app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Resource Limits: CPU/Memory configured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 Service: web-service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Type: ClusterIP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Load Balancing: Round Robin   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Port: 80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Ingress Controller: Traefik v2.x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Entry Points: 8000 (HTTP), 8443 (HTTPS)   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NodePort: 30080, 30443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Font typeface="Times New Roman"/>
              <a:buChar char="●"/>
            </a:pPr>
            <a:r>
              <a:rPr lang="en-GB" sz="1407">
                <a:latin typeface="Times New Roman"/>
                <a:ea typeface="Times New Roman"/>
                <a:cs typeface="Times New Roman"/>
                <a:sym typeface="Times New Roman"/>
              </a:rPr>
              <a:t>Host: web.mycompany.local </a:t>
            </a:r>
            <a:endParaRPr sz="140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600250" y="520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CURRENT IMPLEMENTATION STATUS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66">
                <a:latin typeface="Times New Roman"/>
                <a:ea typeface="Times New Roman"/>
                <a:cs typeface="Times New Roman"/>
                <a:sym typeface="Times New Roman"/>
              </a:rPr>
              <a:t>Phase 3: Monitoring Stack</a:t>
            </a:r>
            <a:endParaRPr sz="22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600250" y="1637000"/>
            <a:ext cx="8544000" cy="3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PROMETHEUS MONITORING SETUP   :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DONE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Components Deployed: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Prometheus Server (metric collection)     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Node Exporter (node-level metrics)       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Kube State Metrics (K8s objects)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Alertmanager (alert routing)       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Metrics Collected: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CPU utilization (per pod, per node), Memory usage, Network I/O, Disk usage, Pod count &amp; status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GRAFANA DASHBOARDS : 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Cluster CPU Usage (real-time) ,Memory utilization across nodes , Pod-level resource consumption ,Network traffic patterns.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657100" y="631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8">
                <a:latin typeface="Times New Roman"/>
                <a:ea typeface="Times New Roman"/>
                <a:cs typeface="Times New Roman"/>
                <a:sym typeface="Times New Roman"/>
              </a:rPr>
              <a:t>HORIZONTAL POD AUTOSCALER </a:t>
            </a:r>
            <a:endParaRPr sz="248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44">
                <a:latin typeface="Times New Roman"/>
                <a:ea typeface="Times New Roman"/>
                <a:cs typeface="Times New Roman"/>
                <a:sym typeface="Times New Roman"/>
              </a:rPr>
              <a:t>Phase 4: Basic Auto-Scaling (HPA)</a:t>
            </a:r>
            <a:endParaRPr sz="204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7650" y="1662300"/>
            <a:ext cx="7688700" cy="3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Configuration: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Target: CPU 50%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Min Pods: 2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Max Pods: 5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Load Test Results: 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Baseline: 2 pods, 12ms response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Load spike: CPU → 75%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Action: Scaled to 5 pods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Time taken: ~2 minutes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PROBLEM IDENTIFIED: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Scaling happens AFTER load increases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2-minute delay causes performance drop  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REACTIVE, not PROACTIVE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789725" y="619350"/>
            <a:ext cx="7688700" cy="538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705350" y="1460150"/>
            <a:ext cx="8204700" cy="3608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  <a:t>Current HPA is REACTIVE ❌</a:t>
            </a:r>
            <a:b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  <a:t>Traffic Spike                        Metrics Cross Threshold                                          HPA Evaluates (~30s)</a:t>
            </a:r>
            <a:endParaRPr sz="218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8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	             Total Delay: ~2 minutes                                       New Pods Created (~90s) </a:t>
            </a:r>
            <a:endParaRPr sz="218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8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86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2666">
                <a:latin typeface="Times New Roman"/>
                <a:ea typeface="Times New Roman"/>
                <a:cs typeface="Times New Roman"/>
                <a:sym typeface="Times New Roman"/>
              </a:rPr>
              <a:t>Impact: </a:t>
            </a:r>
            <a:endParaRPr sz="26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66">
                <a:latin typeface="Times New Roman"/>
                <a:ea typeface="Times New Roman"/>
                <a:cs typeface="Times New Roman"/>
                <a:sym typeface="Times New Roman"/>
              </a:rPr>
              <a:t>• Poor user experience </a:t>
            </a:r>
            <a:endParaRPr sz="26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66">
                <a:latin typeface="Times New Roman"/>
                <a:ea typeface="Times New Roman"/>
                <a:cs typeface="Times New Roman"/>
                <a:sym typeface="Times New Roman"/>
              </a:rPr>
              <a:t>• Revenue loss during peaks </a:t>
            </a:r>
            <a:endParaRPr sz="26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66">
                <a:latin typeface="Times New Roman"/>
                <a:ea typeface="Times New Roman"/>
                <a:cs typeface="Times New Roman"/>
                <a:sym typeface="Times New Roman"/>
              </a:rPr>
              <a:t> • Resource wastage (over-provisioning)</a:t>
            </a:r>
            <a:br>
              <a:rPr lang="en-GB" sz="2666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/>
              <a:t>                                                                                  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1895375" y="2068975"/>
            <a:ext cx="723300" cy="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4901050" y="2068975"/>
            <a:ext cx="723300" cy="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8192950" y="2068975"/>
            <a:ext cx="96600" cy="33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1"/>
          <p:cNvSpPr/>
          <p:nvPr/>
        </p:nvSpPr>
        <p:spPr>
          <a:xfrm rot="10800000">
            <a:off x="5468275" y="2707100"/>
            <a:ext cx="723300" cy="60300"/>
          </a:xfrm>
          <a:prstGeom prst="rightArrow">
            <a:avLst>
              <a:gd fmla="val 50000" name="adj1"/>
              <a:gd fmla="val 23432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729450" y="643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ML-BASED PREDICTIVE AUTO-SCALING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729450" y="1343150"/>
            <a:ext cx="7688700" cy="3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Concept: Predict load BEFORE it happens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How it works: 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Historical Metrics (Prometheus) 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ML Model (Time Series Forecasting)  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Predict Next 30 Minutes Custom Controller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Scale BEFORE Traffic Spike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>
            <a:off x="1569825" y="2876088"/>
            <a:ext cx="0" cy="2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2"/>
          <p:cNvCxnSpPr/>
          <p:nvPr/>
        </p:nvCxnSpPr>
        <p:spPr>
          <a:xfrm>
            <a:off x="1569825" y="3444475"/>
            <a:ext cx="0" cy="2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2"/>
          <p:cNvCxnSpPr/>
          <p:nvPr/>
        </p:nvCxnSpPr>
        <p:spPr>
          <a:xfrm>
            <a:off x="1569825" y="4115325"/>
            <a:ext cx="0" cy="2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2"/>
          <p:cNvSpPr txBox="1"/>
          <p:nvPr/>
        </p:nvSpPr>
        <p:spPr>
          <a:xfrm>
            <a:off x="6052600" y="36944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Key Innovation: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Anticipatory (not reactive)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Pattern recognition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Cost optimization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645050" y="631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40"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729450" y="1319025"/>
            <a:ext cx="8026200" cy="3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400"/>
            </a:br>
            <a:r>
              <a:rPr b="1" lang="en-GB" sz="1400"/>
              <a:t>Immediate (Next Phase): 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GitOps Integration (ArgoCD)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CI/CD Pipeline Automation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Advanced Load Balancing (IPVS)</a:t>
            </a:r>
            <a:br>
              <a:rPr lang="en-GB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Real-world Applications:</a:t>
            </a:r>
            <a:r>
              <a:rPr lang="en-GB" sz="1400"/>
              <a:t> 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E-commerce platforms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SaaS applications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Media streaming services</a:t>
            </a:r>
            <a:endParaRPr sz="1400"/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670750" y="650550"/>
            <a:ext cx="7688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729450" y="1319925"/>
            <a:ext cx="4158000" cy="36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/>
              <a:t>INFRASTRUCTURE: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Kubernetes v1.28+ (Container Orchestration)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Containerd (Container Runtime)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Flannel (Networking CNI)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Traefik v2.x (Ingress Controller)</a:t>
            </a:r>
            <a:br>
              <a:rPr lang="en-GB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MONITORING &amp; OBSERVABILITY: 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Prometheus (Metrics Collection)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Grafana (Visualization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Alertmanager (Alert Routing)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 Loki (Log Aggregation) - In Progress</a:t>
            </a:r>
            <a:br>
              <a:rPr lang="en-GB" sz="1400"/>
            </a:br>
            <a:endParaRPr sz="1400"/>
          </a:p>
        </p:txBody>
      </p:sp>
      <p:sp>
        <p:nvSpPr>
          <p:cNvPr id="186" name="Google Shape;186;p24"/>
          <p:cNvSpPr txBox="1"/>
          <p:nvPr/>
        </p:nvSpPr>
        <p:spPr>
          <a:xfrm>
            <a:off x="4767450" y="1319925"/>
            <a:ext cx="3666600" cy="3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MACHINE LEARNING: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Python 3.9+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TensorFlow / PyTorch (Deep Learning)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Scikit-learn (ML algorithms)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Prophet (Time Series Forecasting)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Pandas, NumPy (Data Processing)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AUTOMATION &amp; CICD: 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ArgoCD (GitOps)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GitHub Actions / Jenkins (CI/CD)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Docker (Containerization)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Helm (Package Management)</a:t>
            </a:r>
            <a:b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727650" y="602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40">
                <a:latin typeface="Times New Roman"/>
                <a:ea typeface="Times New Roman"/>
                <a:cs typeface="Times New Roman"/>
                <a:sym typeface="Times New Roman"/>
              </a:rPr>
              <a:t> References</a:t>
            </a:r>
            <a:endParaRPr sz="34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729450" y="1237725"/>
            <a:ext cx="7688700" cy="33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b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Papers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Dang-Quang, N.-M., &amp; Yoo, M. (2021)</a:t>
            </a:r>
            <a:b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LSTM-Based Approach for Predicting CPU Usage in Cloud Data Centers</a:t>
            </a:r>
            <a:b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b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https://doi.org/10.1109/ACCESS.2021.3052064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Mao, M., Li, J., &amp; Humphrey, M. (2016)</a:t>
            </a:r>
            <a:b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Auto-Scaling with Deep Reinforcement Learning</a:t>
            </a:r>
            <a:b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International Conference on Cloud Computing</a:t>
            </a:r>
            <a:b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https://doi.org/10.1109/CLOUD.2016.56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0" y="0"/>
            <a:ext cx="826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AUTO-SCALING IN KUBERNETES</a:t>
            </a:r>
            <a:r>
              <a:rPr b="1" lang="en-GB" sz="1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Machine Learning Based Predictive Approach</a:t>
            </a:r>
            <a:r>
              <a:rPr b="1" lang="en-GB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